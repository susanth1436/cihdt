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13232"/>
            <a:ext cx="11183112" cy="274320"/>
          </a:xfrm>
          <a:prstGeom prst="rect">
            <a:avLst/>
          </a:prstGeom>
          <a:noFill/>
        </p:spPr>
        <p:txBody>
          <a:bodyPr wrap="square" lIns="0" rIns="0" tIns="0" bIns="0" anchor="t">
            <a:spAutoFit/>
          </a:bodyPr>
          <a:lstStyle/>
          <a:p>
            <a:pPr algn="l">
              <a:spcAft>
                <a:spcPts val="0"/>
              </a:spcAft>
            </a:pPr>
            <a:r>
              <a:rPr sz="1650" b="1" i="0">
                <a:solidFill>
                  <a:srgbClr val="55617A"/>
                </a:solidFill>
                <a:latin typeface="Times New Roman"/>
              </a:rPr>
              <a:t>B.TECH  ·  BCSE497J — PROJECT-I  ·  FALL SEMESTER 2026</a:t>
            </a:r>
          </a:p>
        </p:txBody>
      </p:sp>
      <p:sp>
        <p:nvSpPr>
          <p:cNvPr id="4" name="TextBox 3"/>
          <p:cNvSpPr txBox="1"/>
          <p:nvPr/>
        </p:nvSpPr>
        <p:spPr>
          <a:xfrm>
            <a:off x="502920" y="1014984"/>
            <a:ext cx="11183112" cy="274320"/>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MAJOR PROJECT REVIEW-2</a:t>
            </a:r>
          </a:p>
        </p:txBody>
      </p:sp>
      <p:sp>
        <p:nvSpPr>
          <p:cNvPr id="5" name="TextBox 4"/>
          <p:cNvSpPr txBox="1"/>
          <p:nvPr/>
        </p:nvSpPr>
        <p:spPr>
          <a:xfrm>
            <a:off x="1005840" y="1417320"/>
            <a:ext cx="10177272" cy="1499616"/>
          </a:xfrm>
          <a:prstGeom prst="rect">
            <a:avLst/>
          </a:prstGeom>
          <a:noFill/>
        </p:spPr>
        <p:txBody>
          <a:bodyPr wrap="square" lIns="0" rIns="0" tIns="0" bIns="0" anchor="t">
            <a:spAutoFit/>
          </a:bodyPr>
          <a:lstStyle/>
          <a:p>
            <a:pPr algn="l">
              <a:lnSpc>
                <a:spcPct val="112000"/>
              </a:lnSpc>
              <a:spcAft>
                <a:spcPts val="0"/>
              </a:spcAft>
            </a:pPr>
            <a:r>
              <a:rPr sz="2950" b="1" i="0">
                <a:solidFill>
                  <a:srgbClr val="0E1729"/>
                </a:solidFill>
                <a:latin typeface="Times New Roman"/>
              </a:rPr>
              <a:t>Counterfactual Immunization of Holographic Digital Twins</a:t>
            </a:r>
          </a:p>
          <a:p>
            <a:pPr>
              <a:lnSpc>
                <a:spcPct val="112000"/>
              </a:lnSpc>
              <a:spcAft>
                <a:spcPts val="0"/>
              </a:spcAft>
            </a:pPr>
            <a:r>
              <a:rPr sz="2950" b="1" i="0">
                <a:solidFill>
                  <a:srgbClr val="0E1729"/>
                </a:solidFill>
                <a:latin typeface="Times New Roman"/>
              </a:rPr>
              <a:t>Predictive Edge-AI Retraining for Real-Time Threat Detection in Consumer IoT Networks</a:t>
            </a:r>
          </a:p>
        </p:txBody>
      </p:sp>
      <p:sp>
        <p:nvSpPr>
          <p:cNvPr id="6" name="TextBox 5"/>
          <p:cNvSpPr txBox="1"/>
          <p:nvPr/>
        </p:nvSpPr>
        <p:spPr>
          <a:xfrm>
            <a:off x="1005840" y="2962656"/>
            <a:ext cx="10177272" cy="365760"/>
          </a:xfrm>
          <a:prstGeom prst="rect">
            <a:avLst/>
          </a:prstGeom>
          <a:noFill/>
        </p:spPr>
        <p:txBody>
          <a:bodyPr wrap="square" lIns="0" rIns="0" tIns="0" bIns="0" anchor="t">
            <a:spAutoFit/>
          </a:bodyPr>
          <a:lstStyle/>
          <a:p>
            <a:pPr algn="l">
              <a:spcAft>
                <a:spcPts val="0"/>
              </a:spcAft>
            </a:pPr>
            <a:r>
              <a:rPr sz="2000" b="0" i="0">
                <a:solidFill>
                  <a:srgbClr val="55617A"/>
                </a:solidFill>
                <a:latin typeface="Times New Roman"/>
              </a:rPr>
              <a:t>A Proactive, Self-Healing Defence Against Model Poisoning at the Edge</a:t>
            </a:r>
          </a:p>
        </p:txBody>
      </p:sp>
      <p:sp>
        <p:nvSpPr>
          <p:cNvPr id="7" name="Rectangle 6"/>
          <p:cNvSpPr/>
          <p:nvPr/>
        </p:nvSpPr>
        <p:spPr>
          <a:xfrm>
            <a:off x="630936"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HOLOGRAPHIC TWINS</a:t>
            </a:r>
          </a:p>
        </p:txBody>
      </p:sp>
      <p:sp>
        <p:nvSpPr>
          <p:cNvPr id="9" name="Rectangle 8"/>
          <p:cNvSpPr/>
          <p:nvPr/>
        </p:nvSpPr>
        <p:spPr>
          <a:xfrm>
            <a:off x="2843784"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3784"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COUNTERFACTUAL FUTURES</a:t>
            </a:r>
          </a:p>
        </p:txBody>
      </p:sp>
      <p:sp>
        <p:nvSpPr>
          <p:cNvPr id="11" name="Rectangle 10"/>
          <p:cNvSpPr/>
          <p:nvPr/>
        </p:nvSpPr>
        <p:spPr>
          <a:xfrm>
            <a:off x="5056631"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56631"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CCS VALIDATION GATE</a:t>
            </a:r>
          </a:p>
        </p:txBody>
      </p:sp>
      <p:sp>
        <p:nvSpPr>
          <p:cNvPr id="13" name="Rectangle 12"/>
          <p:cNvSpPr/>
          <p:nvPr/>
        </p:nvSpPr>
        <p:spPr>
          <a:xfrm>
            <a:off x="7269479"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79"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PREDICTIVE IMMUNIZATION</a:t>
            </a:r>
          </a:p>
        </p:txBody>
      </p:sp>
      <p:sp>
        <p:nvSpPr>
          <p:cNvPr id="15" name="Rectangle 14"/>
          <p:cNvSpPr/>
          <p:nvPr/>
        </p:nvSpPr>
        <p:spPr>
          <a:xfrm>
            <a:off x="9482328" y="3419856"/>
            <a:ext cx="2084831" cy="2286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82328" y="3511296"/>
            <a:ext cx="2084831"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SELF-HEALING ROLLBACK</a:t>
            </a:r>
          </a:p>
        </p:txBody>
      </p:sp>
      <p:sp>
        <p:nvSpPr>
          <p:cNvPr id="17" name="TextBox 16"/>
          <p:cNvSpPr txBox="1"/>
          <p:nvPr/>
        </p:nvSpPr>
        <p:spPr>
          <a:xfrm>
            <a:off x="2011680" y="4078224"/>
            <a:ext cx="3474720" cy="201168"/>
          </a:xfrm>
          <a:prstGeom prst="rect">
            <a:avLst/>
          </a:prstGeom>
          <a:noFill/>
        </p:spPr>
        <p:txBody>
          <a:bodyPr wrap="square" lIns="0" rIns="0" tIns="0" bIns="0" anchor="t">
            <a:spAutoFit/>
          </a:bodyPr>
          <a:lstStyle/>
          <a:p>
            <a:pPr algn="l">
              <a:spcAft>
                <a:spcPts val="0"/>
              </a:spcAft>
            </a:pPr>
            <a:r>
              <a:rPr sz="1400" b="1" i="0">
                <a:solidFill>
                  <a:srgbClr val="0E8C79"/>
                </a:solidFill>
                <a:latin typeface="Times New Roman"/>
              </a:rPr>
              <a:t>TEAM MEMBERS</a:t>
            </a:r>
          </a:p>
        </p:txBody>
      </p:sp>
      <p:sp>
        <p:nvSpPr>
          <p:cNvPr id="18" name="TextBox 17"/>
          <p:cNvSpPr txBox="1"/>
          <p:nvPr/>
        </p:nvSpPr>
        <p:spPr>
          <a:xfrm>
            <a:off x="2011680" y="4352544"/>
            <a:ext cx="384048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ATRIK</a:t>
            </a:r>
            <a:r>
              <a:rPr sz="1600" b="0" i="0">
                <a:solidFill>
                  <a:srgbClr val="55617A"/>
                </a:solidFill>
                <a:latin typeface="Times New Roman"/>
              </a:rPr>
              <a:t>     23BAI0136</a:t>
            </a:r>
          </a:p>
        </p:txBody>
      </p:sp>
      <p:sp>
        <p:nvSpPr>
          <p:cNvPr id="19" name="TextBox 18"/>
          <p:cNvSpPr txBox="1"/>
          <p:nvPr/>
        </p:nvSpPr>
        <p:spPr>
          <a:xfrm>
            <a:off x="2011680" y="4626864"/>
            <a:ext cx="384048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T V SAI SUSANTH</a:t>
            </a:r>
            <a:r>
              <a:rPr sz="1600" b="0" i="0">
                <a:solidFill>
                  <a:srgbClr val="55617A"/>
                </a:solidFill>
                <a:latin typeface="Times New Roman"/>
              </a:rPr>
              <a:t>     23BCI0231</a:t>
            </a:r>
          </a:p>
        </p:txBody>
      </p:sp>
      <p:sp>
        <p:nvSpPr>
          <p:cNvPr id="20" name="TextBox 19"/>
          <p:cNvSpPr txBox="1"/>
          <p:nvPr/>
        </p:nvSpPr>
        <p:spPr>
          <a:xfrm>
            <a:off x="2011680" y="4901183"/>
            <a:ext cx="384048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PUSHPAK</a:t>
            </a:r>
            <a:r>
              <a:rPr sz="1600" b="0" i="0">
                <a:solidFill>
                  <a:srgbClr val="55617A"/>
                </a:solidFill>
                <a:latin typeface="Times New Roman"/>
              </a:rPr>
              <a:t>     23BCT0129</a:t>
            </a:r>
          </a:p>
        </p:txBody>
      </p:sp>
      <p:sp>
        <p:nvSpPr>
          <p:cNvPr id="21" name="TextBox 20"/>
          <p:cNvSpPr txBox="1"/>
          <p:nvPr/>
        </p:nvSpPr>
        <p:spPr>
          <a:xfrm>
            <a:off x="6949440" y="4078224"/>
            <a:ext cx="3474720" cy="201168"/>
          </a:xfrm>
          <a:prstGeom prst="rect">
            <a:avLst/>
          </a:prstGeom>
          <a:noFill/>
        </p:spPr>
        <p:txBody>
          <a:bodyPr wrap="square" lIns="0" rIns="0" tIns="0" bIns="0" anchor="t">
            <a:spAutoFit/>
          </a:bodyPr>
          <a:lstStyle/>
          <a:p>
            <a:pPr algn="l">
              <a:spcAft>
                <a:spcPts val="0"/>
              </a:spcAft>
            </a:pPr>
            <a:r>
              <a:rPr sz="1400" b="1" i="0">
                <a:solidFill>
                  <a:srgbClr val="0E8C79"/>
                </a:solidFill>
                <a:latin typeface="Times New Roman"/>
              </a:rPr>
              <a:t>FACULTY GUIDE</a:t>
            </a:r>
          </a:p>
        </p:txBody>
      </p:sp>
      <p:sp>
        <p:nvSpPr>
          <p:cNvPr id="22" name="TextBox 21"/>
          <p:cNvSpPr txBox="1"/>
          <p:nvPr/>
        </p:nvSpPr>
        <p:spPr>
          <a:xfrm>
            <a:off x="6949440" y="4352544"/>
            <a:ext cx="3840480" cy="256032"/>
          </a:xfrm>
          <a:prstGeom prst="rect">
            <a:avLst/>
          </a:prstGeom>
          <a:noFill/>
        </p:spPr>
        <p:txBody>
          <a:bodyPr wrap="square" lIns="0" rIns="0" tIns="0" bIns="0" anchor="t">
            <a:spAutoFit/>
          </a:bodyPr>
          <a:lstStyle/>
          <a:p>
            <a:pPr algn="l">
              <a:spcAft>
                <a:spcPts val="0"/>
              </a:spcAft>
            </a:pPr>
            <a:r>
              <a:rPr sz="1700" b="1" i="0">
                <a:solidFill>
                  <a:srgbClr val="1F2A44"/>
                </a:solidFill>
                <a:latin typeface="Times New Roman"/>
              </a:rPr>
              <a:t>Mr. Jim Solomon Raja</a:t>
            </a:r>
          </a:p>
        </p:txBody>
      </p:sp>
      <p:sp>
        <p:nvSpPr>
          <p:cNvPr id="23" name="TextBox 22"/>
          <p:cNvSpPr txBox="1"/>
          <p:nvPr/>
        </p:nvSpPr>
        <p:spPr>
          <a:xfrm>
            <a:off x="6949440" y="4645152"/>
            <a:ext cx="4206240" cy="256032"/>
          </a:xfrm>
          <a:prstGeom prst="rect">
            <a:avLst/>
          </a:prstGeom>
          <a:noFill/>
        </p:spPr>
        <p:txBody>
          <a:bodyPr wrap="square" lIns="0" rIns="0" tIns="0" bIns="0" anchor="t">
            <a:spAutoFit/>
          </a:bodyPr>
          <a:lstStyle/>
          <a:p>
            <a:pPr algn="l">
              <a:spcAft>
                <a:spcPts val="0"/>
              </a:spcAft>
            </a:pPr>
            <a:r>
              <a:rPr sz="1450" b="0" i="0">
                <a:solidFill>
                  <a:srgbClr val="55617A"/>
                </a:solidFill>
                <a:latin typeface="Times New Roman"/>
              </a:rPr>
              <a:t>Employee ID 22533  ·  SCOPE</a:t>
            </a:r>
          </a:p>
        </p:txBody>
      </p:sp>
      <p:sp>
        <p:nvSpPr>
          <p:cNvPr id="24" name="Rectangle 23"/>
          <p:cNvSpPr/>
          <p:nvPr/>
        </p:nvSpPr>
        <p:spPr>
          <a:xfrm>
            <a:off x="502920" y="5212080"/>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340096"/>
            <a:ext cx="11183112"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School of Computer Science and Engineering (SCOPE)  ·  Vellore Institute of Technology</a:t>
            </a:r>
          </a:p>
        </p:txBody>
      </p:sp>
      <p:sp>
        <p:nvSpPr>
          <p:cNvPr id="26" name="Rounded Rectangle 25"/>
          <p:cNvSpPr/>
          <p:nvPr/>
        </p:nvSpPr>
        <p:spPr>
          <a:xfrm>
            <a:off x="1188720" y="5705856"/>
            <a:ext cx="9811512" cy="493776"/>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188720" y="5705856"/>
            <a:ext cx="45720" cy="4937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89888" y="5815584"/>
            <a:ext cx="9464040" cy="365760"/>
          </a:xfrm>
          <a:prstGeom prst="rect">
            <a:avLst/>
          </a:prstGeom>
          <a:noFill/>
        </p:spPr>
        <p:txBody>
          <a:bodyPr wrap="square" lIns="0" rIns="0" tIns="0" bIns="0" anchor="t">
            <a:spAutoFit/>
          </a:bodyPr>
          <a:lstStyle/>
          <a:p>
            <a:pPr algn="l">
              <a:lnSpc>
                <a:spcPct val="102000"/>
              </a:lnSpc>
              <a:spcAft>
                <a:spcPts val="0"/>
              </a:spcAft>
            </a:pPr>
            <a:r>
              <a:rPr sz="1500" b="1" i="0">
                <a:solidFill>
                  <a:srgbClr val="0E8C79"/>
                </a:solidFill>
                <a:latin typeface="Times New Roman"/>
              </a:rPr>
              <a:t>Review-2 scope:  </a:t>
            </a:r>
            <a:r>
              <a:rPr sz="1500" b="0" i="0">
                <a:solidFill>
                  <a:srgbClr val="1F2A44"/>
                </a:solidFill>
                <a:latin typeface="Times New Roman"/>
              </a:rPr>
              <a:t>all twelve pipeline stages are implemented and measured on a simulated eight-device fleet; comparative baselines and the poisoning-rate sweep remain outstanding.</a:t>
            </a:r>
          </a:p>
        </p:txBody>
      </p:sp>
      <p:sp>
        <p:nvSpPr>
          <p:cNvPr id="29" name="TextBox 28"/>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30" name="TextBox 29"/>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31" name="TextBox 30"/>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01</a:t>
            </a:r>
            <a:r>
              <a:rPr sz="1550" b="0" i="0">
                <a:solidFill>
                  <a:srgbClr val="D7DEE9"/>
                </a:solidFill>
                <a:latin typeface="Times New Roman"/>
              </a:rPr>
              <a:t>   ·   </a:t>
            </a:r>
            <a:r>
              <a:rPr sz="1550" b="1" i="0">
                <a:solidFill>
                  <a:srgbClr val="55617A"/>
                </a:solidFill>
                <a:latin typeface="Times New Roman"/>
              </a:rPr>
              <a:t>COMPLIANCE</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Approval Mail From Guide</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Guide sign-off on the five Review-2 checkpoints, obtained by e-mail</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2 / 16</a:t>
            </a:r>
          </a:p>
        </p:txBody>
      </p:sp>
      <p:sp>
        <p:nvSpPr>
          <p:cNvPr id="10" name="Rounded Rectangle 9"/>
          <p:cNvSpPr/>
          <p:nvPr/>
        </p:nvSpPr>
        <p:spPr>
          <a:xfrm>
            <a:off x="630936" y="1536192"/>
            <a:ext cx="5120640" cy="409651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1682496"/>
            <a:ext cx="4754880" cy="219456"/>
          </a:xfrm>
          <a:prstGeom prst="rect">
            <a:avLst/>
          </a:prstGeom>
          <a:noFill/>
        </p:spPr>
        <p:txBody>
          <a:bodyPr wrap="square" lIns="0" rIns="0" tIns="0" bIns="0" anchor="t">
            <a:spAutoFit/>
          </a:bodyPr>
          <a:lstStyle/>
          <a:p>
            <a:pPr algn="l">
              <a:spcAft>
                <a:spcPts val="0"/>
              </a:spcAft>
            </a:pPr>
            <a:r>
              <a:rPr sz="1450" b="1" i="0">
                <a:solidFill>
                  <a:srgbClr val="0E8C79"/>
                </a:solidFill>
                <a:latin typeface="Times New Roman"/>
              </a:rPr>
              <a:t>APPROVAL CHECKPOINTS</a:t>
            </a:r>
          </a:p>
        </p:txBody>
      </p:sp>
      <p:sp>
        <p:nvSpPr>
          <p:cNvPr id="12" name="Rounded Rectangle 11"/>
          <p:cNvSpPr/>
          <p:nvPr/>
        </p:nvSpPr>
        <p:spPr>
          <a:xfrm>
            <a:off x="822960" y="2048256"/>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22960" y="2048256"/>
            <a:ext cx="41148" cy="53035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194560"/>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1.  Meeting with guide frequently</a:t>
            </a:r>
          </a:p>
        </p:txBody>
      </p:sp>
      <p:sp>
        <p:nvSpPr>
          <p:cNvPr id="15" name="Rounded Rectangle 14"/>
          <p:cNvSpPr/>
          <p:nvPr/>
        </p:nvSpPr>
        <p:spPr>
          <a:xfrm>
            <a:off x="4078224" y="2203704"/>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078224" y="2221992"/>
            <a:ext cx="1335024" cy="219456"/>
          </a:xfrm>
          <a:prstGeom prst="rect">
            <a:avLst/>
          </a:prstGeom>
          <a:noFill/>
        </p:spPr>
        <p:txBody>
          <a:bodyPr wrap="square" lIns="0" rIns="0" tIns="0" bIns="0" anchor="t">
            <a:spAutoFit/>
          </a:bodyPr>
          <a:lstStyle/>
          <a:p>
            <a:pPr algn="ctr">
              <a:spcAft>
                <a:spcPts val="0"/>
              </a:spcAft>
            </a:pPr>
            <a:r>
              <a:rPr sz="1200" b="1" i="0">
                <a:solidFill>
                  <a:srgbClr val="0E8C79"/>
                </a:solidFill>
                <a:latin typeface="Times New Roman"/>
              </a:rPr>
              <a:t>SATISFIED</a:t>
            </a:r>
          </a:p>
        </p:txBody>
      </p:sp>
      <p:sp>
        <p:nvSpPr>
          <p:cNvPr id="17" name="Rounded Rectangle 16"/>
          <p:cNvSpPr/>
          <p:nvPr/>
        </p:nvSpPr>
        <p:spPr>
          <a:xfrm>
            <a:off x="822960" y="2724912"/>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22960" y="2724912"/>
            <a:ext cx="41148" cy="53035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2871216"/>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2.  PowerPoint presentation</a:t>
            </a:r>
          </a:p>
        </p:txBody>
      </p:sp>
      <p:sp>
        <p:nvSpPr>
          <p:cNvPr id="20" name="Rounded Rectangle 19"/>
          <p:cNvSpPr/>
          <p:nvPr/>
        </p:nvSpPr>
        <p:spPr>
          <a:xfrm>
            <a:off x="4078224" y="2880360"/>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078224" y="2898648"/>
            <a:ext cx="1335024" cy="219456"/>
          </a:xfrm>
          <a:prstGeom prst="rect">
            <a:avLst/>
          </a:prstGeom>
          <a:noFill/>
        </p:spPr>
        <p:txBody>
          <a:bodyPr wrap="square" lIns="0" rIns="0" tIns="0" bIns="0" anchor="t">
            <a:spAutoFit/>
          </a:bodyPr>
          <a:lstStyle/>
          <a:p>
            <a:pPr algn="ctr">
              <a:spcAft>
                <a:spcPts val="0"/>
              </a:spcAft>
            </a:pPr>
            <a:r>
              <a:rPr sz="1200" b="1" i="0">
                <a:solidFill>
                  <a:srgbClr val="0E8C79"/>
                </a:solidFill>
                <a:latin typeface="Times New Roman"/>
              </a:rPr>
              <a:t>APPROVED</a:t>
            </a:r>
          </a:p>
        </p:txBody>
      </p:sp>
      <p:sp>
        <p:nvSpPr>
          <p:cNvPr id="22" name="Rounded Rectangle 21"/>
          <p:cNvSpPr/>
          <p:nvPr/>
        </p:nvSpPr>
        <p:spPr>
          <a:xfrm>
            <a:off x="822960" y="3401568"/>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22960" y="3401568"/>
            <a:ext cx="41148" cy="53035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3547872"/>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3.  Project demonstration</a:t>
            </a:r>
          </a:p>
        </p:txBody>
      </p:sp>
      <p:sp>
        <p:nvSpPr>
          <p:cNvPr id="25" name="Rounded Rectangle 24"/>
          <p:cNvSpPr/>
          <p:nvPr/>
        </p:nvSpPr>
        <p:spPr>
          <a:xfrm>
            <a:off x="4078224" y="3557016"/>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078224" y="3575304"/>
            <a:ext cx="1335024" cy="219456"/>
          </a:xfrm>
          <a:prstGeom prst="rect">
            <a:avLst/>
          </a:prstGeom>
          <a:noFill/>
        </p:spPr>
        <p:txBody>
          <a:bodyPr wrap="square" lIns="0" rIns="0" tIns="0" bIns="0" anchor="t">
            <a:spAutoFit/>
          </a:bodyPr>
          <a:lstStyle/>
          <a:p>
            <a:pPr algn="ctr">
              <a:spcAft>
                <a:spcPts val="0"/>
              </a:spcAft>
            </a:pPr>
            <a:r>
              <a:rPr sz="1200" b="1" i="0">
                <a:solidFill>
                  <a:srgbClr val="0E8C79"/>
                </a:solidFill>
                <a:latin typeface="Times New Roman"/>
              </a:rPr>
              <a:t>APPROVED</a:t>
            </a:r>
          </a:p>
        </p:txBody>
      </p:sp>
      <p:sp>
        <p:nvSpPr>
          <p:cNvPr id="27" name="Rounded Rectangle 26"/>
          <p:cNvSpPr/>
          <p:nvPr/>
        </p:nvSpPr>
        <p:spPr>
          <a:xfrm>
            <a:off x="822960" y="4078224"/>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22960" y="4078224"/>
            <a:ext cx="41148" cy="53035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224528"/>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4.  Project report draft</a:t>
            </a:r>
          </a:p>
        </p:txBody>
      </p:sp>
      <p:sp>
        <p:nvSpPr>
          <p:cNvPr id="30" name="Rounded Rectangle 29"/>
          <p:cNvSpPr/>
          <p:nvPr/>
        </p:nvSpPr>
        <p:spPr>
          <a:xfrm>
            <a:off x="4078224" y="4233672"/>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078224" y="4251959"/>
            <a:ext cx="1335024" cy="219456"/>
          </a:xfrm>
          <a:prstGeom prst="rect">
            <a:avLst/>
          </a:prstGeom>
          <a:noFill/>
        </p:spPr>
        <p:txBody>
          <a:bodyPr wrap="square" lIns="0" rIns="0" tIns="0" bIns="0" anchor="t">
            <a:spAutoFit/>
          </a:bodyPr>
          <a:lstStyle/>
          <a:p>
            <a:pPr algn="ctr">
              <a:spcAft>
                <a:spcPts val="0"/>
              </a:spcAft>
            </a:pPr>
            <a:r>
              <a:rPr sz="1200" b="1" i="0">
                <a:solidFill>
                  <a:srgbClr val="0E8C79"/>
                </a:solidFill>
                <a:latin typeface="Times New Roman"/>
              </a:rPr>
              <a:t>SATISFIED</a:t>
            </a:r>
          </a:p>
        </p:txBody>
      </p:sp>
      <p:sp>
        <p:nvSpPr>
          <p:cNvPr id="32" name="Rounded Rectangle 31"/>
          <p:cNvSpPr/>
          <p:nvPr/>
        </p:nvSpPr>
        <p:spPr>
          <a:xfrm>
            <a:off x="822960" y="4754880"/>
            <a:ext cx="4736592" cy="53035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22960" y="4754880"/>
            <a:ext cx="41148" cy="530352"/>
          </a:xfrm>
          <a:prstGeom prst="rect">
            <a:avLst/>
          </a:prstGeom>
          <a:solidFill>
            <a:srgbClr val="B87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4128" y="4901184"/>
            <a:ext cx="301752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5.  Project outcome</a:t>
            </a:r>
          </a:p>
        </p:txBody>
      </p:sp>
      <p:sp>
        <p:nvSpPr>
          <p:cNvPr id="35" name="Rounded Rectangle 34"/>
          <p:cNvSpPr/>
          <p:nvPr/>
        </p:nvSpPr>
        <p:spPr>
          <a:xfrm>
            <a:off x="4078224" y="4910328"/>
            <a:ext cx="1335024" cy="2194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078224" y="4928616"/>
            <a:ext cx="1335024" cy="219456"/>
          </a:xfrm>
          <a:prstGeom prst="rect">
            <a:avLst/>
          </a:prstGeom>
          <a:noFill/>
        </p:spPr>
        <p:txBody>
          <a:bodyPr wrap="square" lIns="0" rIns="0" tIns="0" bIns="0" anchor="t">
            <a:spAutoFit/>
          </a:bodyPr>
          <a:lstStyle/>
          <a:p>
            <a:pPr algn="ctr">
              <a:spcAft>
                <a:spcPts val="0"/>
              </a:spcAft>
            </a:pPr>
            <a:r>
              <a:rPr sz="1200" b="1" i="0">
                <a:solidFill>
                  <a:srgbClr val="B8720A"/>
                </a:solidFill>
                <a:latin typeface="Times New Roman"/>
              </a:rPr>
              <a:t>ONGOING</a:t>
            </a:r>
          </a:p>
        </p:txBody>
      </p:sp>
      <p:sp>
        <p:nvSpPr>
          <p:cNvPr id="37" name="Rounded Rectangle 36"/>
          <p:cNvSpPr/>
          <p:nvPr/>
        </p:nvSpPr>
        <p:spPr>
          <a:xfrm>
            <a:off x="6126480" y="1536192"/>
            <a:ext cx="5431536" cy="409651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355080" y="1719072"/>
            <a:ext cx="5029200" cy="274320"/>
          </a:xfrm>
          <a:prstGeom prst="rect">
            <a:avLst/>
          </a:prstGeom>
          <a:noFill/>
        </p:spPr>
        <p:txBody>
          <a:bodyPr wrap="square" lIns="0" rIns="0" tIns="0" bIns="0" anchor="t">
            <a:spAutoFit/>
          </a:bodyPr>
          <a:lstStyle/>
          <a:p>
            <a:pPr algn="l">
              <a:spcAft>
                <a:spcPts val="0"/>
              </a:spcAft>
            </a:pPr>
            <a:r>
              <a:rPr sz="1500" b="0" i="0">
                <a:solidFill>
                  <a:srgbClr val="55617A"/>
                </a:solidFill>
                <a:latin typeface="Times New Roman"/>
              </a:rPr>
              <a:t>Template deadline for guide approval:  </a:t>
            </a:r>
            <a:r>
              <a:rPr sz="1500" b="1" i="0">
                <a:solidFill>
                  <a:srgbClr val="1F2A44"/>
                </a:solidFill>
                <a:latin typeface="Times New Roman"/>
              </a:rPr>
              <a:t>01-09-2026</a:t>
            </a:r>
          </a:p>
        </p:txBody>
      </p:sp>
      <p:sp>
        <p:nvSpPr>
          <p:cNvPr id="39" name="Rounded Rectangle 38"/>
          <p:cNvSpPr/>
          <p:nvPr/>
        </p:nvSpPr>
        <p:spPr>
          <a:xfrm>
            <a:off x="6355080" y="2121408"/>
            <a:ext cx="4974336" cy="1773936"/>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37960" y="2761488"/>
            <a:ext cx="4608576" cy="603504"/>
          </a:xfrm>
          <a:prstGeom prst="rect">
            <a:avLst/>
          </a:prstGeom>
          <a:noFill/>
        </p:spPr>
        <p:txBody>
          <a:bodyPr wrap="square" lIns="0" rIns="0" tIns="0" bIns="0" anchor="t">
            <a:spAutoFit/>
          </a:bodyPr>
          <a:lstStyle/>
          <a:p>
            <a:pPr algn="ctr">
              <a:spcAft>
                <a:spcPts val="0"/>
              </a:spcAft>
            </a:pPr>
            <a:r>
              <a:rPr sz="1700" b="1" i="0">
                <a:solidFill>
                  <a:srgbClr val="55617A"/>
                </a:solidFill>
                <a:latin typeface="Times New Roman"/>
              </a:rPr>
              <a:t>PASTE THE GUIDE'S APPROVAL</a:t>
            </a:r>
          </a:p>
          <a:p>
            <a:pPr>
              <a:spcAft>
                <a:spcPts val="0"/>
              </a:spcAft>
            </a:pPr>
            <a:r>
              <a:rPr sz="1700" b="1" i="0">
                <a:solidFill>
                  <a:srgbClr val="55617A"/>
                </a:solidFill>
                <a:latin typeface="Times New Roman"/>
              </a:rPr>
              <a:t>E-MAIL SCREENSHOT HERE</a:t>
            </a:r>
          </a:p>
        </p:txBody>
      </p:sp>
      <p:sp>
        <p:nvSpPr>
          <p:cNvPr id="41" name="TextBox 40"/>
          <p:cNvSpPr txBox="1"/>
          <p:nvPr/>
        </p:nvSpPr>
        <p:spPr>
          <a:xfrm>
            <a:off x="6355080" y="4041648"/>
            <a:ext cx="4974336" cy="1005840"/>
          </a:xfrm>
          <a:prstGeom prst="rect">
            <a:avLst/>
          </a:prstGeom>
          <a:noFill/>
        </p:spPr>
        <p:txBody>
          <a:bodyPr wrap="square" lIns="0" rIns="0" tIns="0" bIns="0" anchor="t">
            <a:spAutoFit/>
          </a:bodyPr>
          <a:lstStyle/>
          <a:p>
            <a:pPr algn="l">
              <a:lnSpc>
                <a:spcPct val="115000"/>
              </a:lnSpc>
              <a:spcAft>
                <a:spcPts val="0"/>
              </a:spcAft>
            </a:pPr>
            <a:r>
              <a:rPr sz="1500" b="0" i="0">
                <a:solidFill>
                  <a:srgbClr val="55617A"/>
                </a:solidFill>
                <a:latin typeface="Times New Roman"/>
              </a:rPr>
              <a:t>The mail must state that the Fall Semester Project Review-2 for this project ID has been approved, followed by the five checkpoints listed opposite.</a:t>
            </a:r>
          </a:p>
        </p:txBody>
      </p:sp>
      <p:sp>
        <p:nvSpPr>
          <p:cNvPr id="42" name="Rounded Rectangle 41"/>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Status:  </a:t>
            </a:r>
            <a:r>
              <a:rPr sz="1600" b="0" i="0">
                <a:solidFill>
                  <a:srgbClr val="1F2A44"/>
                </a:solidFill>
                <a:latin typeface="Times New Roman"/>
              </a:rPr>
              <a:t>Approval has been obtained; the mail is supplied alongside the deck. Paste the screenshot opposite so the panel can see it in-slide.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02</a:t>
            </a:r>
            <a:r>
              <a:rPr sz="1550" b="0" i="0">
                <a:solidFill>
                  <a:srgbClr val="D7DEE9"/>
                </a:solidFill>
                <a:latin typeface="Times New Roman"/>
              </a:rPr>
              <a:t>   ·   </a:t>
            </a:r>
            <a:r>
              <a:rPr sz="1550" b="1" i="0">
                <a:solidFill>
                  <a:srgbClr val="55617A"/>
                </a:solidFill>
                <a:latin typeface="Times New Roman"/>
              </a:rPr>
              <a:t>OVERVIEW</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Aim</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Carried forward from Review-1, with the decision mechanism stated precisely</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3 / 16</a:t>
            </a:r>
          </a:p>
        </p:txBody>
      </p:sp>
      <p:sp>
        <p:nvSpPr>
          <p:cNvPr id="10" name="TextBox 9"/>
          <p:cNvSpPr txBox="1"/>
          <p:nvPr/>
        </p:nvSpPr>
        <p:spPr>
          <a:xfrm>
            <a:off x="685800" y="1481328"/>
            <a:ext cx="3657600" cy="201168"/>
          </a:xfrm>
          <a:prstGeom prst="rect">
            <a:avLst/>
          </a:prstGeom>
          <a:noFill/>
        </p:spPr>
        <p:txBody>
          <a:bodyPr wrap="square" lIns="0" rIns="0" tIns="0" bIns="0" anchor="t">
            <a:spAutoFit/>
          </a:bodyPr>
          <a:lstStyle/>
          <a:p>
            <a:pPr algn="l">
              <a:spcAft>
                <a:spcPts val="0"/>
              </a:spcAft>
            </a:pPr>
            <a:r>
              <a:rPr sz="1400" b="1" i="0">
                <a:solidFill>
                  <a:srgbClr val="0E8C79"/>
                </a:solidFill>
                <a:latin typeface="Times New Roman"/>
              </a:rPr>
              <a:t>PRIMARY RESEARCH AIM</a:t>
            </a:r>
          </a:p>
        </p:txBody>
      </p:sp>
      <p:sp>
        <p:nvSpPr>
          <p:cNvPr id="11" name="Rounded Rectangle 10"/>
          <p:cNvSpPr/>
          <p:nvPr/>
        </p:nvSpPr>
        <p:spPr>
          <a:xfrm>
            <a:off x="667512" y="1682496"/>
            <a:ext cx="10853928" cy="117043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67512" y="1682496"/>
            <a:ext cx="45720" cy="117043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792224"/>
            <a:ext cx="10497312" cy="1024128"/>
          </a:xfrm>
          <a:prstGeom prst="rect">
            <a:avLst/>
          </a:prstGeom>
          <a:noFill/>
        </p:spPr>
        <p:txBody>
          <a:bodyPr wrap="square" lIns="0" rIns="0" tIns="0" bIns="0" anchor="t">
            <a:spAutoFit/>
          </a:bodyPr>
          <a:lstStyle/>
          <a:p>
            <a:pPr algn="l">
              <a:lnSpc>
                <a:spcPct val="113000"/>
              </a:lnSpc>
              <a:spcAft>
                <a:spcPts val="0"/>
              </a:spcAft>
            </a:pPr>
            <a:r>
              <a:rPr sz="1600" b="0" i="0">
                <a:solidFill>
                  <a:srgbClr val="1F2A44"/>
                </a:solidFill>
                <a:latin typeface="Times New Roman"/>
              </a:rPr>
              <a:t>“To design and empirically validate a proactive, self-immunizing defence for edge-AI threat detection in consumer IoT networks, in which a holographic digital twin of every device commits to counterfactual future states in advance, every retraining update is validated against those committed futures before it is accepted, and the detection model is immunized against generated poisoning strategies before real attacks occur.”</a:t>
            </a:r>
          </a:p>
        </p:txBody>
      </p:sp>
      <p:sp>
        <p:nvSpPr>
          <p:cNvPr id="14" name="Rounded Rectangle 13"/>
          <p:cNvSpPr/>
          <p:nvPr/>
        </p:nvSpPr>
        <p:spPr>
          <a:xfrm>
            <a:off x="667512" y="2944368"/>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813816" y="3081528"/>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3816" y="3099816"/>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01</a:t>
            </a:r>
          </a:p>
        </p:txBody>
      </p:sp>
      <p:sp>
        <p:nvSpPr>
          <p:cNvPr id="17" name="TextBox 16"/>
          <p:cNvSpPr txBox="1"/>
          <p:nvPr/>
        </p:nvSpPr>
        <p:spPr>
          <a:xfrm>
            <a:off x="1289304" y="3063240"/>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Holographic Twinning</a:t>
            </a:r>
          </a:p>
        </p:txBody>
      </p:sp>
      <p:sp>
        <p:nvSpPr>
          <p:cNvPr id="18" name="TextBox 17"/>
          <p:cNvSpPr txBox="1"/>
          <p:nvPr/>
        </p:nvSpPr>
        <p:spPr>
          <a:xfrm>
            <a:off x="813816" y="3383280"/>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Model each device as five partial projections — resource, network, access, topology, actuation — so a single-plane attack cannot be averaged into invisibility.</a:t>
            </a:r>
          </a:p>
        </p:txBody>
      </p:sp>
      <p:sp>
        <p:nvSpPr>
          <p:cNvPr id="19" name="Rounded Rectangle 18"/>
          <p:cNvSpPr/>
          <p:nvPr/>
        </p:nvSpPr>
        <p:spPr>
          <a:xfrm>
            <a:off x="4453127" y="2944368"/>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599431" y="3081528"/>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99431" y="3099816"/>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02</a:t>
            </a:r>
          </a:p>
        </p:txBody>
      </p:sp>
      <p:sp>
        <p:nvSpPr>
          <p:cNvPr id="22" name="TextBox 21"/>
          <p:cNvSpPr txBox="1"/>
          <p:nvPr/>
        </p:nvSpPr>
        <p:spPr>
          <a:xfrm>
            <a:off x="5074919" y="3063240"/>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Counterfactual Futures</a:t>
            </a:r>
          </a:p>
        </p:txBody>
      </p:sp>
      <p:sp>
        <p:nvSpPr>
          <p:cNvPr id="23" name="TextBox 22"/>
          <p:cNvSpPr txBox="1"/>
          <p:nvPr/>
        </p:nvSpPr>
        <p:spPr>
          <a:xfrm>
            <a:off x="4599431" y="3383280"/>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Commit 20 predicted trajectories per device, five ticks ahead, before the observation they will judge exists.</a:t>
            </a:r>
          </a:p>
        </p:txBody>
      </p:sp>
      <p:sp>
        <p:nvSpPr>
          <p:cNvPr id="24" name="Rounded Rectangle 23"/>
          <p:cNvSpPr/>
          <p:nvPr/>
        </p:nvSpPr>
        <p:spPr>
          <a:xfrm>
            <a:off x="8238744" y="2944368"/>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385048" y="3081528"/>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85048" y="3099816"/>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03</a:t>
            </a:r>
          </a:p>
        </p:txBody>
      </p:sp>
      <p:sp>
        <p:nvSpPr>
          <p:cNvPr id="27" name="TextBox 26"/>
          <p:cNvSpPr txBox="1"/>
          <p:nvPr/>
        </p:nvSpPr>
        <p:spPr>
          <a:xfrm>
            <a:off x="8860536" y="3063240"/>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Pre-Acceptance Validation</a:t>
            </a:r>
          </a:p>
        </p:txBody>
      </p:sp>
      <p:sp>
        <p:nvSpPr>
          <p:cNvPr id="28" name="TextBox 27"/>
          <p:cNvSpPr txBox="1"/>
          <p:nvPr/>
        </p:nvSpPr>
        <p:spPr>
          <a:xfrm>
            <a:off x="8385048" y="3383280"/>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Score every retraining update on a six-component Counterfactual Consistency Score and quarantine it before it touches the model.</a:t>
            </a:r>
          </a:p>
        </p:txBody>
      </p:sp>
      <p:sp>
        <p:nvSpPr>
          <p:cNvPr id="29" name="Rounded Rectangle 28"/>
          <p:cNvSpPr/>
          <p:nvPr/>
        </p:nvSpPr>
        <p:spPr>
          <a:xfrm>
            <a:off x="667512" y="4370832"/>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813816" y="4507992"/>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13816" y="4526280"/>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04</a:t>
            </a:r>
          </a:p>
        </p:txBody>
      </p:sp>
      <p:sp>
        <p:nvSpPr>
          <p:cNvPr id="32" name="TextBox 31"/>
          <p:cNvSpPr txBox="1"/>
          <p:nvPr/>
        </p:nvSpPr>
        <p:spPr>
          <a:xfrm>
            <a:off x="1289304" y="4489704"/>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Predictive Immunization</a:t>
            </a:r>
          </a:p>
        </p:txBody>
      </p:sp>
      <p:sp>
        <p:nvSpPr>
          <p:cNvPr id="33" name="TextBox 32"/>
          <p:cNvSpPr txBox="1"/>
          <p:nvPr/>
        </p:nvSpPr>
        <p:spPr>
          <a:xfrm>
            <a:off x="813816" y="4809744"/>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Synthesise vaccine rows from the twins' own committed futures and fold them into retraining ahead of any real attack.</a:t>
            </a:r>
          </a:p>
        </p:txBody>
      </p:sp>
      <p:sp>
        <p:nvSpPr>
          <p:cNvPr id="34" name="Rounded Rectangle 33"/>
          <p:cNvSpPr/>
          <p:nvPr/>
        </p:nvSpPr>
        <p:spPr>
          <a:xfrm>
            <a:off x="4453127" y="4370832"/>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4599431" y="4507992"/>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99431" y="4526280"/>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05</a:t>
            </a:r>
          </a:p>
        </p:txBody>
      </p:sp>
      <p:sp>
        <p:nvSpPr>
          <p:cNvPr id="37" name="TextBox 36"/>
          <p:cNvSpPr txBox="1"/>
          <p:nvPr/>
        </p:nvSpPr>
        <p:spPr>
          <a:xfrm>
            <a:off x="5074919" y="4489704"/>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Guarded Promotion</a:t>
            </a:r>
          </a:p>
        </p:txBody>
      </p:sp>
      <p:sp>
        <p:nvSpPr>
          <p:cNvPr id="38" name="TextBox 37"/>
          <p:cNvSpPr txBox="1"/>
          <p:nvPr/>
        </p:nvSpPr>
        <p:spPr>
          <a:xfrm>
            <a:off x="4599431" y="4809744"/>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Install a retrained model only if accuracy, poison resistance, false-positive rate and pool size all clear their gates.</a:t>
            </a:r>
          </a:p>
        </p:txBody>
      </p:sp>
      <p:sp>
        <p:nvSpPr>
          <p:cNvPr id="39" name="Rounded Rectangle 38"/>
          <p:cNvSpPr/>
          <p:nvPr/>
        </p:nvSpPr>
        <p:spPr>
          <a:xfrm>
            <a:off x="8238744" y="4370832"/>
            <a:ext cx="3529584" cy="131673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8385048" y="4507992"/>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385048" y="4526280"/>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06</a:t>
            </a:r>
          </a:p>
        </p:txBody>
      </p:sp>
      <p:sp>
        <p:nvSpPr>
          <p:cNvPr id="42" name="TextBox 41"/>
          <p:cNvSpPr txBox="1"/>
          <p:nvPr/>
        </p:nvSpPr>
        <p:spPr>
          <a:xfrm>
            <a:off x="8860536" y="4489704"/>
            <a:ext cx="2779776" cy="274320"/>
          </a:xfrm>
          <a:prstGeom prst="rect">
            <a:avLst/>
          </a:prstGeom>
          <a:noFill/>
        </p:spPr>
        <p:txBody>
          <a:bodyPr wrap="square" lIns="0" rIns="0" tIns="0" bIns="0" anchor="t">
            <a:spAutoFit/>
          </a:bodyPr>
          <a:lstStyle/>
          <a:p>
            <a:pPr algn="l">
              <a:spcAft>
                <a:spcPts val="0"/>
              </a:spcAft>
            </a:pPr>
            <a:r>
              <a:rPr sz="1650" b="1" i="0">
                <a:solidFill>
                  <a:srgbClr val="1F2A44"/>
                </a:solidFill>
                <a:latin typeface="Times New Roman"/>
              </a:rPr>
              <a:t>Self-Healing Rollback</a:t>
            </a:r>
          </a:p>
        </p:txBody>
      </p:sp>
      <p:sp>
        <p:nvSpPr>
          <p:cNvPr id="43" name="TextBox 42"/>
          <p:cNvSpPr txBox="1"/>
          <p:nvPr/>
        </p:nvSpPr>
        <p:spPr>
          <a:xfrm>
            <a:off x="8385048" y="4809744"/>
            <a:ext cx="3255264" cy="822960"/>
          </a:xfrm>
          <a:prstGeom prst="rect">
            <a:avLst/>
          </a:prstGeom>
          <a:noFill/>
        </p:spPr>
        <p:txBody>
          <a:bodyPr wrap="square" lIns="0" rIns="0" tIns="0" bIns="0" anchor="t">
            <a:spAutoFit/>
          </a:bodyPr>
          <a:lstStyle/>
          <a:p>
            <a:pPr algn="l">
              <a:lnSpc>
                <a:spcPct val="106000"/>
              </a:lnSpc>
              <a:spcAft>
                <a:spcPts val="0"/>
              </a:spcAft>
            </a:pPr>
            <a:r>
              <a:rPr sz="1400" b="0" i="0">
                <a:solidFill>
                  <a:srgbClr val="55617A"/>
                </a:solidFill>
                <a:latin typeface="Times New Roman"/>
              </a:rPr>
              <a:t>On sustained degradation, revert to the last trusted model and purge the hostile contributor's rows by provenance.</a:t>
            </a:r>
          </a:p>
        </p:txBody>
      </p:sp>
      <p:sp>
        <p:nvSpPr>
          <p:cNvPr id="44" name="Rounded Rectangle 43"/>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Definition note:  </a:t>
            </a:r>
            <a:r>
              <a:rPr sz="1600" b="0" i="0">
                <a:solidFill>
                  <a:srgbClr val="1F2A44"/>
                </a:solidFill>
                <a:latin typeface="Times New Roman"/>
              </a:rPr>
              <a:t>“Committed in advance” is load-bearing — the futures are frozen before the update or observation exists, which makes the comparison a prediction test rather than a retrospective fit.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03</a:t>
            </a:r>
            <a:r>
              <a:rPr sz="1550" b="0" i="0">
                <a:solidFill>
                  <a:srgbClr val="D7DEE9"/>
                </a:solidFill>
                <a:latin typeface="Times New Roman"/>
              </a:rPr>
              <a:t>   ·   </a:t>
            </a:r>
            <a:r>
              <a:rPr sz="1550" b="1" i="0">
                <a:solidFill>
                  <a:srgbClr val="55617A"/>
                </a:solidFill>
                <a:latin typeface="Times New Roman"/>
              </a:rPr>
              <a:t>ABSTRACT</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Abstract</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Structured per IEEE convention  ·  status updated to reflect the implemented system</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4 / 16</a:t>
            </a:r>
          </a:p>
        </p:txBody>
      </p:sp>
      <p:sp>
        <p:nvSpPr>
          <p:cNvPr id="10" name="Rounded Rectangle 9"/>
          <p:cNvSpPr/>
          <p:nvPr/>
        </p:nvSpPr>
        <p:spPr>
          <a:xfrm>
            <a:off x="667512" y="1426464"/>
            <a:ext cx="10853928" cy="731520"/>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841248" y="1563624"/>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41248" y="1581912"/>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1</a:t>
            </a:r>
          </a:p>
        </p:txBody>
      </p:sp>
      <p:sp>
        <p:nvSpPr>
          <p:cNvPr id="13" name="TextBox 12"/>
          <p:cNvSpPr txBox="1"/>
          <p:nvPr/>
        </p:nvSpPr>
        <p:spPr>
          <a:xfrm>
            <a:off x="1335024" y="1545336"/>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Background</a:t>
            </a:r>
          </a:p>
        </p:txBody>
      </p:sp>
      <p:sp>
        <p:nvSpPr>
          <p:cNvPr id="14" name="TextBox 13"/>
          <p:cNvSpPr txBox="1"/>
          <p:nvPr/>
        </p:nvSpPr>
        <p:spPr>
          <a:xfrm>
            <a:off x="2889504" y="1545336"/>
            <a:ext cx="8485632" cy="530352"/>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Consumer IoT networks — cameras, locks, plugs, bulbs, sensors, speakers — are increasingly defended by edge-AI models that retrain continuously on locally collected telemetry.</a:t>
            </a:r>
          </a:p>
        </p:txBody>
      </p:sp>
      <p:sp>
        <p:nvSpPr>
          <p:cNvPr id="15" name="Rounded Rectangle 14"/>
          <p:cNvSpPr/>
          <p:nvPr/>
        </p:nvSpPr>
        <p:spPr>
          <a:xfrm>
            <a:off x="667512" y="2221992"/>
            <a:ext cx="10853928" cy="731520"/>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841248" y="2359152"/>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1248" y="2377440"/>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2</a:t>
            </a:r>
          </a:p>
        </p:txBody>
      </p:sp>
      <p:sp>
        <p:nvSpPr>
          <p:cNvPr id="18" name="TextBox 17"/>
          <p:cNvSpPr txBox="1"/>
          <p:nvPr/>
        </p:nvSpPr>
        <p:spPr>
          <a:xfrm>
            <a:off x="1335024" y="2340864"/>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Problem</a:t>
            </a:r>
          </a:p>
        </p:txBody>
      </p:sp>
      <p:sp>
        <p:nvSpPr>
          <p:cNvPr id="19" name="TextBox 18"/>
          <p:cNvSpPr txBox="1"/>
          <p:nvPr/>
        </p:nvSpPr>
        <p:spPr>
          <a:xfrm>
            <a:off x="2889504" y="2340864"/>
            <a:ext cx="8485632" cy="530352"/>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Continuous edge retraining is an open ingestion path. Falsified or mislabelled contributions can silently blind the detector, and the damage is discovered only after an attack has already been missed.</a:t>
            </a:r>
          </a:p>
        </p:txBody>
      </p:sp>
      <p:sp>
        <p:nvSpPr>
          <p:cNvPr id="20" name="Rounded Rectangle 19"/>
          <p:cNvSpPr/>
          <p:nvPr/>
        </p:nvSpPr>
        <p:spPr>
          <a:xfrm>
            <a:off x="667512" y="3017520"/>
            <a:ext cx="10853928" cy="93268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41248" y="3154680"/>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41248" y="3172968"/>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3</a:t>
            </a:r>
          </a:p>
        </p:txBody>
      </p:sp>
      <p:sp>
        <p:nvSpPr>
          <p:cNvPr id="23" name="TextBox 22"/>
          <p:cNvSpPr txBox="1"/>
          <p:nvPr/>
        </p:nvSpPr>
        <p:spPr>
          <a:xfrm>
            <a:off x="1335024" y="3136392"/>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Limitation</a:t>
            </a:r>
          </a:p>
        </p:txBody>
      </p:sp>
      <p:sp>
        <p:nvSpPr>
          <p:cNvPr id="24" name="TextBox 23"/>
          <p:cNvSpPr txBox="1"/>
          <p:nvPr/>
        </p:nvSpPr>
        <p:spPr>
          <a:xfrm>
            <a:off x="2889504" y="3136392"/>
            <a:ext cx="8485632" cy="731520"/>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Existing defences — anomaly filtering, trust and reputation scoring, robust aggregation — judge an update after submission and only against present or past observations. Clean-label poisoning, whose labels are entirely honest, passes all of them.</a:t>
            </a:r>
          </a:p>
        </p:txBody>
      </p:sp>
      <p:sp>
        <p:nvSpPr>
          <p:cNvPr id="25" name="Rounded Rectangle 24"/>
          <p:cNvSpPr/>
          <p:nvPr/>
        </p:nvSpPr>
        <p:spPr>
          <a:xfrm>
            <a:off x="667512" y="4014216"/>
            <a:ext cx="10853928" cy="93268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841248" y="4151376"/>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41248" y="4169664"/>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4</a:t>
            </a:r>
          </a:p>
        </p:txBody>
      </p:sp>
      <p:sp>
        <p:nvSpPr>
          <p:cNvPr id="28" name="TextBox 27"/>
          <p:cNvSpPr txBox="1"/>
          <p:nvPr/>
        </p:nvSpPr>
        <p:spPr>
          <a:xfrm>
            <a:off x="1335024" y="4133088"/>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Approach</a:t>
            </a:r>
          </a:p>
        </p:txBody>
      </p:sp>
      <p:sp>
        <p:nvSpPr>
          <p:cNvPr id="29" name="TextBox 28"/>
          <p:cNvSpPr txBox="1"/>
          <p:nvPr/>
        </p:nvSpPr>
        <p:spPr>
          <a:xfrm>
            <a:off x="2889504" y="4133088"/>
            <a:ext cx="8485632" cy="731520"/>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Each device is mirrored by a holographic twin committing to 20 counterfactual futures — half benign, half deformed by each attack class — forming an audit bank. An update is grafted onto a trusted core, a shadow model trained, and its behaviour on that bank yields the Counterfactual Consistency Score.</a:t>
            </a:r>
          </a:p>
        </p:txBody>
      </p:sp>
      <p:sp>
        <p:nvSpPr>
          <p:cNvPr id="30" name="Rounded Rectangle 29"/>
          <p:cNvSpPr/>
          <p:nvPr/>
        </p:nvSpPr>
        <p:spPr>
          <a:xfrm>
            <a:off x="667512" y="5010912"/>
            <a:ext cx="10853928" cy="731520"/>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841248" y="5148072"/>
            <a:ext cx="365760" cy="23774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41248" y="5166360"/>
            <a:ext cx="365760" cy="237744"/>
          </a:xfrm>
          <a:prstGeom prst="rect">
            <a:avLst/>
          </a:prstGeom>
          <a:noFill/>
        </p:spPr>
        <p:txBody>
          <a:bodyPr wrap="square" lIns="0" rIns="0" tIns="0" bIns="0" anchor="t">
            <a:spAutoFit/>
          </a:bodyPr>
          <a:lstStyle/>
          <a:p>
            <a:pPr algn="ctr">
              <a:spcAft>
                <a:spcPts val="0"/>
              </a:spcAft>
            </a:pPr>
            <a:r>
              <a:rPr sz="1300" b="1" i="0">
                <a:solidFill>
                  <a:srgbClr val="FFFFFF"/>
                </a:solidFill>
                <a:latin typeface="Times New Roman"/>
              </a:rPr>
              <a:t>5</a:t>
            </a:r>
          </a:p>
        </p:txBody>
      </p:sp>
      <p:sp>
        <p:nvSpPr>
          <p:cNvPr id="33" name="TextBox 32"/>
          <p:cNvSpPr txBox="1"/>
          <p:nvPr/>
        </p:nvSpPr>
        <p:spPr>
          <a:xfrm>
            <a:off x="1335024" y="5129784"/>
            <a:ext cx="1554480" cy="329184"/>
          </a:xfrm>
          <a:prstGeom prst="rect">
            <a:avLst/>
          </a:prstGeom>
          <a:noFill/>
        </p:spPr>
        <p:txBody>
          <a:bodyPr wrap="square" lIns="0" rIns="0" tIns="0" bIns="0" anchor="t">
            <a:spAutoFit/>
          </a:bodyPr>
          <a:lstStyle/>
          <a:p>
            <a:pPr algn="l">
              <a:spcAft>
                <a:spcPts val="0"/>
              </a:spcAft>
            </a:pPr>
            <a:r>
              <a:rPr sz="1650" b="1" i="0">
                <a:solidFill>
                  <a:srgbClr val="0E8C79"/>
                </a:solidFill>
                <a:latin typeface="Times New Roman"/>
              </a:rPr>
              <a:t>Status</a:t>
            </a:r>
          </a:p>
        </p:txBody>
      </p:sp>
      <p:sp>
        <p:nvSpPr>
          <p:cNvPr id="34" name="TextBox 33"/>
          <p:cNvSpPr txBox="1"/>
          <p:nvPr/>
        </p:nvSpPr>
        <p:spPr>
          <a:xfrm>
            <a:off x="2889504" y="5129784"/>
            <a:ext cx="8485632" cy="530352"/>
          </a:xfrm>
          <a:prstGeom prst="rect">
            <a:avLst/>
          </a:prstGeom>
          <a:noFill/>
        </p:spPr>
        <p:txBody>
          <a:bodyPr wrap="square" lIns="0" rIns="0" tIns="0" bIns="0" anchor="t">
            <a:spAutoFit/>
          </a:bodyPr>
          <a:lstStyle/>
          <a:p>
            <a:pPr algn="l">
              <a:lnSpc>
                <a:spcPct val="110000"/>
              </a:lnSpc>
              <a:spcAft>
                <a:spcPts val="0"/>
              </a:spcAft>
            </a:pPr>
            <a:r>
              <a:rPr sz="1450" b="0" i="0">
                <a:solidFill>
                  <a:srgbClr val="1F2A44"/>
                </a:solidFill>
                <a:latin typeface="Times New Roman"/>
              </a:rPr>
              <a:t>All twelve stages are implemented and tested. The detector reaches 95.7% accuracy; the calibrated gate sits at 0.857; honest updates score 0.91–0.94 against 0.58–0.79 for all five poisoning strategies — 13 of 13 correct decisions.</a:t>
            </a:r>
          </a:p>
        </p:txBody>
      </p:sp>
      <p:sp>
        <p:nvSpPr>
          <p:cNvPr id="35" name="Rounded Rectangle 34"/>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Change since Review-1:  </a:t>
            </a:r>
            <a:r>
              <a:rPr sz="1600" b="0" i="0">
                <a:solidFill>
                  <a:srgbClr val="1F2A44"/>
                </a:solidFill>
                <a:latin typeface="Times New Roman"/>
              </a:rPr>
              <a:t>Immunization and self-healing are no longer “planned” — both are implemented and measured, and the forward model is a ridge vector autoregression rather than an LSTM.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04</a:t>
            </a:r>
            <a:r>
              <a:rPr sz="1550" b="0" i="0">
                <a:solidFill>
                  <a:srgbClr val="D7DEE9"/>
                </a:solidFill>
                <a:latin typeface="Times New Roman"/>
              </a:rPr>
              <a:t>   ·   </a:t>
            </a:r>
            <a:r>
              <a:rPr sz="1550" b="1" i="0">
                <a:solidFill>
                  <a:srgbClr val="55617A"/>
                </a:solidFill>
                <a:latin typeface="Times New Roman"/>
              </a:rPr>
              <a:t>LITERATURE REVIEW</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Literature Review  (1 of 2)</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Paper  ·  Objective  ·  Methodology  ·  Pros &amp; Cons  ·  Findings and the gap left open</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5 / 16</a:t>
            </a:r>
          </a:p>
        </p:txBody>
      </p:sp>
      <p:sp>
        <p:nvSpPr>
          <p:cNvPr id="10" name="Rounded Rectangle 9"/>
          <p:cNvSpPr/>
          <p:nvPr/>
        </p:nvSpPr>
        <p:spPr>
          <a:xfrm>
            <a:off x="630936" y="1517904"/>
            <a:ext cx="10927080" cy="32918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1" y="1581912"/>
            <a:ext cx="1577665"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Paper</a:t>
            </a:r>
          </a:p>
        </p:txBody>
      </p:sp>
      <p:sp>
        <p:nvSpPr>
          <p:cNvPr id="12" name="TextBox 11"/>
          <p:cNvSpPr txBox="1"/>
          <p:nvPr/>
        </p:nvSpPr>
        <p:spPr>
          <a:xfrm>
            <a:off x="2455489" y="1581912"/>
            <a:ext cx="1756358"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Objective</a:t>
            </a:r>
          </a:p>
        </p:txBody>
      </p:sp>
      <p:sp>
        <p:nvSpPr>
          <p:cNvPr id="13" name="TextBox 12"/>
          <p:cNvSpPr txBox="1"/>
          <p:nvPr/>
        </p:nvSpPr>
        <p:spPr>
          <a:xfrm>
            <a:off x="4376439" y="1581912"/>
            <a:ext cx="1935051"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Methodology</a:t>
            </a:r>
          </a:p>
        </p:txBody>
      </p:sp>
      <p:sp>
        <p:nvSpPr>
          <p:cNvPr id="14" name="TextBox 13"/>
          <p:cNvSpPr txBox="1"/>
          <p:nvPr/>
        </p:nvSpPr>
        <p:spPr>
          <a:xfrm>
            <a:off x="6476082" y="1581912"/>
            <a:ext cx="2471130"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Pros / Cons</a:t>
            </a:r>
          </a:p>
        </p:txBody>
      </p:sp>
      <p:sp>
        <p:nvSpPr>
          <p:cNvPr id="15" name="TextBox 14"/>
          <p:cNvSpPr txBox="1"/>
          <p:nvPr/>
        </p:nvSpPr>
        <p:spPr>
          <a:xfrm>
            <a:off x="9111805" y="1581912"/>
            <a:ext cx="2363914"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Findings &amp; Gap Left</a:t>
            </a:r>
          </a:p>
        </p:txBody>
      </p:sp>
      <p:sp>
        <p:nvSpPr>
          <p:cNvPr id="16" name="Rectangle 15"/>
          <p:cNvSpPr/>
          <p:nvPr/>
        </p:nvSpPr>
        <p:spPr>
          <a:xfrm>
            <a:off x="630936" y="1847088"/>
            <a:ext cx="10927080" cy="96926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1" y="1892807"/>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[1] Alcaraz &amp; Lopez
IEEE COMST, 2022</a:t>
            </a:r>
          </a:p>
        </p:txBody>
      </p:sp>
      <p:sp>
        <p:nvSpPr>
          <p:cNvPr id="18" name="TextBox 17"/>
          <p:cNvSpPr txBox="1"/>
          <p:nvPr/>
        </p:nvSpPr>
        <p:spPr>
          <a:xfrm>
            <a:off x="2455489" y="1892807"/>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Map the security threats of digital twins across their life cycle.</a:t>
            </a:r>
          </a:p>
        </p:txBody>
      </p:sp>
      <p:sp>
        <p:nvSpPr>
          <p:cNvPr id="19" name="TextBox 18"/>
          <p:cNvSpPr txBox="1"/>
          <p:nvPr/>
        </p:nvSpPr>
        <p:spPr>
          <a:xfrm>
            <a:off x="4376439" y="1892807"/>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Systematic survey of DT architectures, synchronisation and attack surface.</a:t>
            </a:r>
          </a:p>
        </p:txBody>
      </p:sp>
      <p:sp>
        <p:nvSpPr>
          <p:cNvPr id="20" name="TextBox 19"/>
          <p:cNvSpPr txBox="1"/>
          <p:nvPr/>
        </p:nvSpPr>
        <p:spPr>
          <a:xfrm>
            <a:off x="6476082" y="1892807"/>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Complete threat taxonomy.
− No runtime defence mechanism proposed.</a:t>
            </a:r>
          </a:p>
        </p:txBody>
      </p:sp>
      <p:sp>
        <p:nvSpPr>
          <p:cNvPr id="21" name="TextBox 20"/>
          <p:cNvSpPr txBox="1"/>
          <p:nvPr/>
        </p:nvSpPr>
        <p:spPr>
          <a:xfrm>
            <a:off x="9111805" y="1892807"/>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The twin is itself a poisoning and spoofing target; trusted state synchronisation is essential but unaddressed.</a:t>
            </a:r>
          </a:p>
        </p:txBody>
      </p:sp>
      <p:sp>
        <p:nvSpPr>
          <p:cNvPr id="22" name="Rectangle 21"/>
          <p:cNvSpPr/>
          <p:nvPr/>
        </p:nvSpPr>
        <p:spPr>
          <a:xfrm>
            <a:off x="630936" y="2816352"/>
            <a:ext cx="10927080" cy="96926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3231" y="2862072"/>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[2] Tian et al.
ACM CSUR, 2022</a:t>
            </a:r>
          </a:p>
        </p:txBody>
      </p:sp>
      <p:sp>
        <p:nvSpPr>
          <p:cNvPr id="24" name="TextBox 23"/>
          <p:cNvSpPr txBox="1"/>
          <p:nvPr/>
        </p:nvSpPr>
        <p:spPr>
          <a:xfrm>
            <a:off x="2455489" y="2862072"/>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Survey poisoning attacks and countermeasures across ML pipelines.</a:t>
            </a:r>
          </a:p>
        </p:txBody>
      </p:sp>
      <p:sp>
        <p:nvSpPr>
          <p:cNvPr id="25" name="TextBox 24"/>
          <p:cNvSpPr txBox="1"/>
          <p:nvPr/>
        </p:nvSpPr>
        <p:spPr>
          <a:xfrm>
            <a:off x="4376439" y="2862072"/>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Taxonomy of attack surfaces and defence families.</a:t>
            </a:r>
          </a:p>
        </p:txBody>
      </p:sp>
      <p:sp>
        <p:nvSpPr>
          <p:cNvPr id="26" name="TextBox 25"/>
          <p:cNvSpPr txBox="1"/>
          <p:nvPr/>
        </p:nvSpPr>
        <p:spPr>
          <a:xfrm>
            <a:off x="6476082" y="2862072"/>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Comprehensive coverage.
− Every defence surveyed is post-hoc and detection-based.</a:t>
            </a:r>
          </a:p>
        </p:txBody>
      </p:sp>
      <p:sp>
        <p:nvSpPr>
          <p:cNvPr id="27" name="TextBox 26"/>
          <p:cNvSpPr txBox="1"/>
          <p:nvPr/>
        </p:nvSpPr>
        <p:spPr>
          <a:xfrm>
            <a:off x="9111805" y="2862072"/>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Robust aggregation and anomaly filtering dominate; proactive immunization is named as an open gap.</a:t>
            </a:r>
          </a:p>
        </p:txBody>
      </p:sp>
      <p:sp>
        <p:nvSpPr>
          <p:cNvPr id="28" name="Rectangle 27"/>
          <p:cNvSpPr/>
          <p:nvPr/>
        </p:nvSpPr>
        <p:spPr>
          <a:xfrm>
            <a:off x="630936" y="3785616"/>
            <a:ext cx="10927080" cy="96926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13231" y="3831336"/>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[3] Yang et al.
Computers &amp; Security, 2023</a:t>
            </a:r>
          </a:p>
        </p:txBody>
      </p:sp>
      <p:sp>
        <p:nvSpPr>
          <p:cNvPr id="30" name="TextBox 29"/>
          <p:cNvSpPr txBox="1"/>
          <p:nvPr/>
        </p:nvSpPr>
        <p:spPr>
          <a:xfrm>
            <a:off x="2455489" y="3831336"/>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Keep federated IoT intrusion detection dependable under poisoning.</a:t>
            </a:r>
          </a:p>
        </p:txBody>
      </p:sp>
      <p:sp>
        <p:nvSpPr>
          <p:cNvPr id="31" name="TextBox 30"/>
          <p:cNvSpPr txBox="1"/>
          <p:nvPr/>
        </p:nvSpPr>
        <p:spPr>
          <a:xfrm>
            <a:off x="4376439" y="3831336"/>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Lightweight detection and filtering of malicious client updates.</a:t>
            </a:r>
          </a:p>
        </p:txBody>
      </p:sp>
      <p:sp>
        <p:nvSpPr>
          <p:cNvPr id="32" name="TextBox 31"/>
          <p:cNvSpPr txBox="1"/>
          <p:nvPr/>
        </p:nvSpPr>
        <p:spPr>
          <a:xfrm>
            <a:off x="6476082" y="3831336"/>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Low edge overhead.
− Reactive: acts only after the update is submitted.</a:t>
            </a:r>
          </a:p>
        </p:txBody>
      </p:sp>
      <p:sp>
        <p:nvSpPr>
          <p:cNvPr id="33" name="TextBox 32"/>
          <p:cNvSpPr txBox="1"/>
          <p:nvPr/>
        </p:nvSpPr>
        <p:spPr>
          <a:xfrm>
            <a:off x="9111805" y="3831336"/>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Restores accuracy under label-flipping and backdoor clients, but only once damage is measurable.</a:t>
            </a:r>
          </a:p>
        </p:txBody>
      </p:sp>
      <p:sp>
        <p:nvSpPr>
          <p:cNvPr id="34" name="Rectangle 33"/>
          <p:cNvSpPr/>
          <p:nvPr/>
        </p:nvSpPr>
        <p:spPr>
          <a:xfrm>
            <a:off x="630936" y="4754880"/>
            <a:ext cx="10927080" cy="96926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13231" y="4800600"/>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[4] Nguyen et al.
IEEE ICDCS, 2019</a:t>
            </a:r>
          </a:p>
        </p:txBody>
      </p:sp>
      <p:sp>
        <p:nvSpPr>
          <p:cNvPr id="36" name="TextBox 35"/>
          <p:cNvSpPr txBox="1"/>
          <p:nvPr/>
        </p:nvSpPr>
        <p:spPr>
          <a:xfrm>
            <a:off x="2455489" y="4800600"/>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Detect compromised consumer IoT devices without labelled attack data.</a:t>
            </a:r>
          </a:p>
        </p:txBody>
      </p:sp>
      <p:sp>
        <p:nvSpPr>
          <p:cNvPr id="37" name="TextBox 36"/>
          <p:cNvSpPr txBox="1"/>
          <p:nvPr/>
        </p:nvSpPr>
        <p:spPr>
          <a:xfrm>
            <a:off x="4376439" y="4800600"/>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Federated self-learning GRU models of device-type traffic on the gateway.</a:t>
            </a:r>
          </a:p>
        </p:txBody>
      </p:sp>
      <p:sp>
        <p:nvSpPr>
          <p:cNvPr id="38" name="TextBox 37"/>
          <p:cNvSpPr txBox="1"/>
          <p:nvPr/>
        </p:nvSpPr>
        <p:spPr>
          <a:xfrm>
            <a:off x="6476082" y="4800600"/>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Label-free and privacy-preserving.
− Assumes every participating client is honest.</a:t>
            </a:r>
          </a:p>
        </p:txBody>
      </p:sp>
      <p:sp>
        <p:nvSpPr>
          <p:cNvPr id="39" name="TextBox 38"/>
          <p:cNvSpPr txBox="1"/>
          <p:nvPr/>
        </p:nvSpPr>
        <p:spPr>
          <a:xfrm>
            <a:off x="9111805" y="4800600"/>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95.6% detection of Mirai-infected devices in 257 ms — but the honest-client assumption is exactly what poisoning breaks.</a:t>
            </a:r>
          </a:p>
        </p:txBody>
      </p:sp>
      <p:sp>
        <p:nvSpPr>
          <p:cNvPr id="40" name="Rounded Rectangle 39"/>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Reading across these four:  </a:t>
            </a:r>
            <a:r>
              <a:rPr sz="1600" b="0" i="0">
                <a:solidFill>
                  <a:srgbClr val="1F2A44"/>
                </a:solidFill>
                <a:latin typeface="Times New Roman"/>
              </a:rPr>
              <a:t>The threat is well mapped and detection is well solved — but every defence acts after submission, and each assumes the twin itself is trustworthy.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04</a:t>
            </a:r>
            <a:r>
              <a:rPr sz="1550" b="0" i="0">
                <a:solidFill>
                  <a:srgbClr val="D7DEE9"/>
                </a:solidFill>
                <a:latin typeface="Times New Roman"/>
              </a:rPr>
              <a:t>   ·   </a:t>
            </a:r>
            <a:r>
              <a:rPr sz="1550" b="1" i="0">
                <a:solidFill>
                  <a:srgbClr val="55617A"/>
                </a:solidFill>
                <a:latin typeface="Times New Roman"/>
              </a:rPr>
              <a:t>LITERATURE REVIEW</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Literature Review  (2 of 2)</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Continued  ·  the three works that bound our own mechanism most directly</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6 / 16</a:t>
            </a:r>
          </a:p>
        </p:txBody>
      </p:sp>
      <p:sp>
        <p:nvSpPr>
          <p:cNvPr id="10" name="Rounded Rectangle 9"/>
          <p:cNvSpPr/>
          <p:nvPr/>
        </p:nvSpPr>
        <p:spPr>
          <a:xfrm>
            <a:off x="630936" y="1517904"/>
            <a:ext cx="10927080" cy="32918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1" y="1581912"/>
            <a:ext cx="1577665"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Paper</a:t>
            </a:r>
          </a:p>
        </p:txBody>
      </p:sp>
      <p:sp>
        <p:nvSpPr>
          <p:cNvPr id="12" name="TextBox 11"/>
          <p:cNvSpPr txBox="1"/>
          <p:nvPr/>
        </p:nvSpPr>
        <p:spPr>
          <a:xfrm>
            <a:off x="2455489" y="1581912"/>
            <a:ext cx="1756358"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Objective</a:t>
            </a:r>
          </a:p>
        </p:txBody>
      </p:sp>
      <p:sp>
        <p:nvSpPr>
          <p:cNvPr id="13" name="TextBox 12"/>
          <p:cNvSpPr txBox="1"/>
          <p:nvPr/>
        </p:nvSpPr>
        <p:spPr>
          <a:xfrm>
            <a:off x="4376439" y="1581912"/>
            <a:ext cx="1935051"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Methodology</a:t>
            </a:r>
          </a:p>
        </p:txBody>
      </p:sp>
      <p:sp>
        <p:nvSpPr>
          <p:cNvPr id="14" name="TextBox 13"/>
          <p:cNvSpPr txBox="1"/>
          <p:nvPr/>
        </p:nvSpPr>
        <p:spPr>
          <a:xfrm>
            <a:off x="6476082" y="1581912"/>
            <a:ext cx="2471130"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Pros / Cons</a:t>
            </a:r>
          </a:p>
        </p:txBody>
      </p:sp>
      <p:sp>
        <p:nvSpPr>
          <p:cNvPr id="15" name="TextBox 14"/>
          <p:cNvSpPr txBox="1"/>
          <p:nvPr/>
        </p:nvSpPr>
        <p:spPr>
          <a:xfrm>
            <a:off x="9111805" y="1581912"/>
            <a:ext cx="2363914" cy="237744"/>
          </a:xfrm>
          <a:prstGeom prst="rect">
            <a:avLst/>
          </a:prstGeom>
          <a:noFill/>
        </p:spPr>
        <p:txBody>
          <a:bodyPr wrap="square" lIns="0" rIns="0" tIns="0" bIns="0" anchor="t">
            <a:spAutoFit/>
          </a:bodyPr>
          <a:lstStyle/>
          <a:p>
            <a:pPr algn="l">
              <a:spcAft>
                <a:spcPts val="0"/>
              </a:spcAft>
            </a:pPr>
            <a:r>
              <a:rPr sz="1300" b="1" i="0">
                <a:solidFill>
                  <a:srgbClr val="FFFFFF"/>
                </a:solidFill>
                <a:latin typeface="Times New Roman"/>
              </a:rPr>
              <a:t>Findings &amp; Gap Left</a:t>
            </a:r>
          </a:p>
        </p:txBody>
      </p:sp>
      <p:sp>
        <p:nvSpPr>
          <p:cNvPr id="16" name="Rectangle 15"/>
          <p:cNvSpPr/>
          <p:nvPr/>
        </p:nvSpPr>
        <p:spPr>
          <a:xfrm>
            <a:off x="630936" y="1847088"/>
            <a:ext cx="10927080" cy="96926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1" y="1892807"/>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[5] Sulem et al.
arXiv:2203.11103, 2022</a:t>
            </a:r>
          </a:p>
        </p:txBody>
      </p:sp>
      <p:sp>
        <p:nvSpPr>
          <p:cNvPr id="18" name="TextBox 17"/>
          <p:cNvSpPr txBox="1"/>
          <p:nvPr/>
        </p:nvSpPr>
        <p:spPr>
          <a:xfrm>
            <a:off x="2455489" y="1892807"/>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Explain anomalies in time-series models using counterfactuals.</a:t>
            </a:r>
          </a:p>
        </p:txBody>
      </p:sp>
      <p:sp>
        <p:nvSpPr>
          <p:cNvPr id="19" name="TextBox 18"/>
          <p:cNvSpPr txBox="1"/>
          <p:nvPr/>
        </p:nvSpPr>
        <p:spPr>
          <a:xfrm>
            <a:off x="4376439" y="1892807"/>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Model-agnostic generation of diverse counterfactual ensembles.</a:t>
            </a:r>
          </a:p>
        </p:txBody>
      </p:sp>
      <p:sp>
        <p:nvSpPr>
          <p:cNvPr id="20" name="TextBox 19"/>
          <p:cNvSpPr txBox="1"/>
          <p:nvPr/>
        </p:nvSpPr>
        <p:spPr>
          <a:xfrm>
            <a:off x="6476082" y="1892807"/>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Interpretable and model-agnostic.
− Used for explanation only, never as a security decision.</a:t>
            </a:r>
          </a:p>
        </p:txBody>
      </p:sp>
      <p:sp>
        <p:nvSpPr>
          <p:cNvPr id="21" name="TextBox 20"/>
          <p:cNvSpPr txBox="1"/>
          <p:nvPr/>
        </p:nvSpPr>
        <p:spPr>
          <a:xfrm>
            <a:off x="9111805" y="1892807"/>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Counterfactual alternatives separate genuine anomalies from benign variation — but are never used to gate a model update.</a:t>
            </a:r>
          </a:p>
        </p:txBody>
      </p:sp>
      <p:sp>
        <p:nvSpPr>
          <p:cNvPr id="22" name="Rectangle 21"/>
          <p:cNvSpPr/>
          <p:nvPr/>
        </p:nvSpPr>
        <p:spPr>
          <a:xfrm>
            <a:off x="630936" y="2816352"/>
            <a:ext cx="10927080" cy="96926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3231" y="2862072"/>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[6] Madry et al.
ICLR, 2018</a:t>
            </a:r>
          </a:p>
        </p:txBody>
      </p:sp>
      <p:sp>
        <p:nvSpPr>
          <p:cNvPr id="24" name="TextBox 23"/>
          <p:cNvSpPr txBox="1"/>
          <p:nvPr/>
        </p:nvSpPr>
        <p:spPr>
          <a:xfrm>
            <a:off x="2455489" y="2862072"/>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Build models that resist adversarially crafted inputs.</a:t>
            </a:r>
          </a:p>
        </p:txBody>
      </p:sp>
      <p:sp>
        <p:nvSpPr>
          <p:cNvPr id="25" name="TextBox 24"/>
          <p:cNvSpPr txBox="1"/>
          <p:nvPr/>
        </p:nvSpPr>
        <p:spPr>
          <a:xfrm>
            <a:off x="4376439" y="2862072"/>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Min-max adversarial training on generated worst-case perturbations.</a:t>
            </a:r>
          </a:p>
        </p:txBody>
      </p:sp>
      <p:sp>
        <p:nvSpPr>
          <p:cNvPr id="26" name="TextBox 25"/>
          <p:cNvSpPr txBox="1"/>
          <p:nvPr/>
        </p:nvSpPr>
        <p:spPr>
          <a:xfrm>
            <a:off x="6476082" y="2862072"/>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Measurable, durable robustness gain.
− Targets test-time evasion, not training-data poisoning.</a:t>
            </a:r>
          </a:p>
        </p:txBody>
      </p:sp>
      <p:sp>
        <p:nvSpPr>
          <p:cNvPr id="27" name="TextBox 26"/>
          <p:cNvSpPr txBox="1"/>
          <p:nvPr/>
        </p:nvSpPr>
        <p:spPr>
          <a:xfrm>
            <a:off x="9111805" y="2862072"/>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Training on generated attacks yields real resistance — the principle predictive immunization transfers to poisoning.</a:t>
            </a:r>
          </a:p>
        </p:txBody>
      </p:sp>
      <p:sp>
        <p:nvSpPr>
          <p:cNvPr id="28" name="Rectangle 27"/>
          <p:cNvSpPr/>
          <p:nvPr/>
        </p:nvSpPr>
        <p:spPr>
          <a:xfrm>
            <a:off x="630936" y="3785616"/>
            <a:ext cx="10927080" cy="96926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13231" y="3831336"/>
            <a:ext cx="1577665" cy="896112"/>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[7] Shafahi et al.
NeurIPS, 2018</a:t>
            </a:r>
          </a:p>
        </p:txBody>
      </p:sp>
      <p:sp>
        <p:nvSpPr>
          <p:cNvPr id="30" name="TextBox 29"/>
          <p:cNvSpPr txBox="1"/>
          <p:nvPr/>
        </p:nvSpPr>
        <p:spPr>
          <a:xfrm>
            <a:off x="2455489" y="3831336"/>
            <a:ext cx="1756358"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Poison a model without altering any label.</a:t>
            </a:r>
          </a:p>
        </p:txBody>
      </p:sp>
      <p:sp>
        <p:nvSpPr>
          <p:cNvPr id="31" name="TextBox 30"/>
          <p:cNvSpPr txBox="1"/>
          <p:nvPr/>
        </p:nvSpPr>
        <p:spPr>
          <a:xfrm>
            <a:off x="4376439" y="3831336"/>
            <a:ext cx="1935051"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Feature-collision optimisation producing clean-label poison.</a:t>
            </a:r>
          </a:p>
        </p:txBody>
      </p:sp>
      <p:sp>
        <p:nvSpPr>
          <p:cNvPr id="32" name="TextBox 31"/>
          <p:cNvSpPr txBox="1"/>
          <p:nvPr/>
        </p:nvSpPr>
        <p:spPr>
          <a:xfrm>
            <a:off x="6476082" y="3831336"/>
            <a:ext cx="2471130"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 Defeats label-inspection defences entirely.
− Demonstrated on vision, not on IoT telemetry.</a:t>
            </a:r>
          </a:p>
        </p:txBody>
      </p:sp>
      <p:sp>
        <p:nvSpPr>
          <p:cNvPr id="33" name="TextBox 32"/>
          <p:cNvSpPr txBox="1"/>
          <p:nvPr/>
        </p:nvSpPr>
        <p:spPr>
          <a:xfrm>
            <a:off x="9111805" y="3831336"/>
            <a:ext cx="2363914" cy="896112"/>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Honest-label poisoning is practical, which invalidates the label-distribution checks most IoT defences rely on.</a:t>
            </a:r>
          </a:p>
        </p:txBody>
      </p:sp>
      <p:sp>
        <p:nvSpPr>
          <p:cNvPr id="34" name="TextBox 33"/>
          <p:cNvSpPr txBox="1"/>
          <p:nvPr/>
        </p:nvSpPr>
        <p:spPr>
          <a:xfrm>
            <a:off x="667512" y="4700016"/>
            <a:ext cx="5486400" cy="201168"/>
          </a:xfrm>
          <a:prstGeom prst="rect">
            <a:avLst/>
          </a:prstGeom>
          <a:noFill/>
        </p:spPr>
        <p:txBody>
          <a:bodyPr wrap="square" lIns="0" rIns="0" tIns="0" bIns="0" anchor="t">
            <a:spAutoFit/>
          </a:bodyPr>
          <a:lstStyle/>
          <a:p>
            <a:pPr algn="l">
              <a:spcAft>
                <a:spcPts val="0"/>
              </a:spcAft>
            </a:pPr>
            <a:r>
              <a:rPr sz="1400" b="1" i="0">
                <a:solidFill>
                  <a:srgbClr val="0E8C79"/>
                </a:solidFill>
                <a:latin typeface="Times New Roman"/>
              </a:rPr>
              <a:t>RESEARCH EVOLUTION IN IOT POISONING DEFENCE</a:t>
            </a:r>
          </a:p>
        </p:txBody>
      </p:sp>
      <p:sp>
        <p:nvSpPr>
          <p:cNvPr id="35" name="Rounded Rectangle 34"/>
          <p:cNvSpPr/>
          <p:nvPr/>
        </p:nvSpPr>
        <p:spPr>
          <a:xfrm>
            <a:off x="667512" y="4937760"/>
            <a:ext cx="2029968" cy="78638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77240" y="5029200"/>
            <a:ext cx="1810512"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Signature IDS</a:t>
            </a:r>
          </a:p>
        </p:txBody>
      </p:sp>
      <p:sp>
        <p:nvSpPr>
          <p:cNvPr id="37" name="TextBox 36"/>
          <p:cNvSpPr txBox="1"/>
          <p:nvPr/>
        </p:nvSpPr>
        <p:spPr>
          <a:xfrm>
            <a:off x="777240"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Known patterns only; blind to novel vectors.</a:t>
            </a:r>
          </a:p>
        </p:txBody>
      </p:sp>
      <p:sp>
        <p:nvSpPr>
          <p:cNvPr id="38" name="TextBox 37"/>
          <p:cNvSpPr txBox="1"/>
          <p:nvPr/>
        </p:nvSpPr>
        <p:spPr>
          <a:xfrm>
            <a:off x="2715768" y="5230368"/>
            <a:ext cx="182880" cy="219456"/>
          </a:xfrm>
          <a:prstGeom prst="rect">
            <a:avLst/>
          </a:prstGeom>
          <a:noFill/>
        </p:spPr>
        <p:txBody>
          <a:bodyPr wrap="square" lIns="0" rIns="0" tIns="0" bIns="0" anchor="t">
            <a:spAutoFit/>
          </a:bodyPr>
          <a:lstStyle/>
          <a:p>
            <a:pPr algn="l">
              <a:spcAft>
                <a:spcPts val="0"/>
              </a:spcAft>
            </a:pPr>
            <a:r>
              <a:rPr sz="1300" b="0" i="0">
                <a:solidFill>
                  <a:srgbClr val="D7DEE9"/>
                </a:solidFill>
                <a:latin typeface="Times New Roman"/>
              </a:rPr>
              <a:t>▶</a:t>
            </a:r>
          </a:p>
        </p:txBody>
      </p:sp>
      <p:sp>
        <p:nvSpPr>
          <p:cNvPr id="39" name="Rounded Rectangle 38"/>
          <p:cNvSpPr/>
          <p:nvPr/>
        </p:nvSpPr>
        <p:spPr>
          <a:xfrm>
            <a:off x="2898648" y="4937760"/>
            <a:ext cx="2029968" cy="78638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008376" y="5029200"/>
            <a:ext cx="1810512"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Anomaly Filtering</a:t>
            </a:r>
          </a:p>
        </p:txBody>
      </p:sp>
      <p:sp>
        <p:nvSpPr>
          <p:cNvPr id="41" name="TextBox 40"/>
          <p:cNvSpPr txBox="1"/>
          <p:nvPr/>
        </p:nvSpPr>
        <p:spPr>
          <a:xfrm>
            <a:off x="3008376"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Statistical outlier rejection on updates.</a:t>
            </a:r>
          </a:p>
        </p:txBody>
      </p:sp>
      <p:sp>
        <p:nvSpPr>
          <p:cNvPr id="42" name="TextBox 41"/>
          <p:cNvSpPr txBox="1"/>
          <p:nvPr/>
        </p:nvSpPr>
        <p:spPr>
          <a:xfrm>
            <a:off x="4946904" y="5230368"/>
            <a:ext cx="182880" cy="219456"/>
          </a:xfrm>
          <a:prstGeom prst="rect">
            <a:avLst/>
          </a:prstGeom>
          <a:noFill/>
        </p:spPr>
        <p:txBody>
          <a:bodyPr wrap="square" lIns="0" rIns="0" tIns="0" bIns="0" anchor="t">
            <a:spAutoFit/>
          </a:bodyPr>
          <a:lstStyle/>
          <a:p>
            <a:pPr algn="l">
              <a:spcAft>
                <a:spcPts val="0"/>
              </a:spcAft>
            </a:pPr>
            <a:r>
              <a:rPr sz="1300" b="0" i="0">
                <a:solidFill>
                  <a:srgbClr val="D7DEE9"/>
                </a:solidFill>
                <a:latin typeface="Times New Roman"/>
              </a:rPr>
              <a:t>▶</a:t>
            </a:r>
          </a:p>
        </p:txBody>
      </p:sp>
      <p:sp>
        <p:nvSpPr>
          <p:cNvPr id="43" name="Rounded Rectangle 42"/>
          <p:cNvSpPr/>
          <p:nvPr/>
        </p:nvSpPr>
        <p:spPr>
          <a:xfrm>
            <a:off x="5129783" y="4937760"/>
            <a:ext cx="2029968" cy="78638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239512" y="5029200"/>
            <a:ext cx="1810512"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Robust Aggregation</a:t>
            </a:r>
          </a:p>
        </p:txBody>
      </p:sp>
      <p:sp>
        <p:nvSpPr>
          <p:cNvPr id="45" name="TextBox 44"/>
          <p:cNvSpPr txBox="1"/>
          <p:nvPr/>
        </p:nvSpPr>
        <p:spPr>
          <a:xfrm>
            <a:off x="5239512"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Krum, trimmed mean; bounds influence.</a:t>
            </a:r>
          </a:p>
        </p:txBody>
      </p:sp>
      <p:sp>
        <p:nvSpPr>
          <p:cNvPr id="46" name="TextBox 45"/>
          <p:cNvSpPr txBox="1"/>
          <p:nvPr/>
        </p:nvSpPr>
        <p:spPr>
          <a:xfrm>
            <a:off x="7178040" y="5230368"/>
            <a:ext cx="182880" cy="219456"/>
          </a:xfrm>
          <a:prstGeom prst="rect">
            <a:avLst/>
          </a:prstGeom>
          <a:noFill/>
        </p:spPr>
        <p:txBody>
          <a:bodyPr wrap="square" lIns="0" rIns="0" tIns="0" bIns="0" anchor="t">
            <a:spAutoFit/>
          </a:bodyPr>
          <a:lstStyle/>
          <a:p>
            <a:pPr algn="l">
              <a:spcAft>
                <a:spcPts val="0"/>
              </a:spcAft>
            </a:pPr>
            <a:r>
              <a:rPr sz="1300" b="0" i="0">
                <a:solidFill>
                  <a:srgbClr val="D7DEE9"/>
                </a:solidFill>
                <a:latin typeface="Times New Roman"/>
              </a:rPr>
              <a:t>▶</a:t>
            </a:r>
          </a:p>
        </p:txBody>
      </p:sp>
      <p:sp>
        <p:nvSpPr>
          <p:cNvPr id="47" name="Rounded Rectangle 46"/>
          <p:cNvSpPr/>
          <p:nvPr/>
        </p:nvSpPr>
        <p:spPr>
          <a:xfrm>
            <a:off x="7360920" y="4937760"/>
            <a:ext cx="2029968" cy="78638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470648" y="5029200"/>
            <a:ext cx="1810512"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Trust / Reputation</a:t>
            </a:r>
          </a:p>
        </p:txBody>
      </p:sp>
      <p:sp>
        <p:nvSpPr>
          <p:cNvPr id="49" name="TextBox 48"/>
          <p:cNvSpPr txBox="1"/>
          <p:nvPr/>
        </p:nvSpPr>
        <p:spPr>
          <a:xfrm>
            <a:off x="7470648"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Scores a source from its own history.</a:t>
            </a:r>
          </a:p>
        </p:txBody>
      </p:sp>
      <p:sp>
        <p:nvSpPr>
          <p:cNvPr id="50" name="TextBox 49"/>
          <p:cNvSpPr txBox="1"/>
          <p:nvPr/>
        </p:nvSpPr>
        <p:spPr>
          <a:xfrm>
            <a:off x="9409176" y="5230368"/>
            <a:ext cx="182880" cy="219456"/>
          </a:xfrm>
          <a:prstGeom prst="rect">
            <a:avLst/>
          </a:prstGeom>
          <a:noFill/>
        </p:spPr>
        <p:txBody>
          <a:bodyPr wrap="square" lIns="0" rIns="0" tIns="0" bIns="0" anchor="t">
            <a:spAutoFit/>
          </a:bodyPr>
          <a:lstStyle/>
          <a:p>
            <a:pPr algn="l">
              <a:spcAft>
                <a:spcPts val="0"/>
              </a:spcAft>
            </a:pPr>
            <a:r>
              <a:rPr sz="1300" b="0" i="0">
                <a:solidFill>
                  <a:srgbClr val="D7DEE9"/>
                </a:solidFill>
                <a:latin typeface="Times New Roman"/>
              </a:rPr>
              <a:t>▶</a:t>
            </a:r>
          </a:p>
        </p:txBody>
      </p:sp>
      <p:sp>
        <p:nvSpPr>
          <p:cNvPr id="51" name="Rounded Rectangle 50"/>
          <p:cNvSpPr/>
          <p:nvPr/>
        </p:nvSpPr>
        <p:spPr>
          <a:xfrm>
            <a:off x="9592056" y="4937760"/>
            <a:ext cx="2029968" cy="786384"/>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9592056" y="4937760"/>
            <a:ext cx="2029968"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01784" y="5029200"/>
            <a:ext cx="1810512" cy="219456"/>
          </a:xfrm>
          <a:prstGeom prst="rect">
            <a:avLst/>
          </a:prstGeom>
          <a:noFill/>
        </p:spPr>
        <p:txBody>
          <a:bodyPr wrap="square" lIns="0" rIns="0" tIns="0" bIns="0" anchor="t">
            <a:spAutoFit/>
          </a:bodyPr>
          <a:lstStyle/>
          <a:p>
            <a:pPr algn="l">
              <a:spcAft>
                <a:spcPts val="0"/>
              </a:spcAft>
            </a:pPr>
            <a:r>
              <a:rPr sz="1450" b="1" i="0">
                <a:solidFill>
                  <a:srgbClr val="0E8C79"/>
                </a:solidFill>
                <a:latin typeface="Times New Roman"/>
              </a:rPr>
              <a:t>This Work</a:t>
            </a:r>
          </a:p>
        </p:txBody>
      </p:sp>
      <p:sp>
        <p:nvSpPr>
          <p:cNvPr id="54" name="TextBox 53"/>
          <p:cNvSpPr txBox="1"/>
          <p:nvPr/>
        </p:nvSpPr>
        <p:spPr>
          <a:xfrm>
            <a:off x="9701784" y="5248656"/>
            <a:ext cx="1810512"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Validates against committed futures; immunizes first.</a:t>
            </a:r>
          </a:p>
        </p:txBody>
      </p:sp>
      <p:sp>
        <p:nvSpPr>
          <p:cNvPr id="55" name="Rounded Rectangle 54"/>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Collective conclusion:  </a:t>
            </a:r>
            <a:r>
              <a:rPr sz="1600" b="0" i="0">
                <a:solidFill>
                  <a:srgbClr val="1F2A44"/>
                </a:solidFill>
                <a:latin typeface="Times New Roman"/>
              </a:rPr>
              <a:t>Counterfactual reasoning exists for explanation and adversarial training exists for evasion — neither has been turned into a pre-acceptance gate on edge retraining.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05</a:t>
            </a:r>
            <a:r>
              <a:rPr sz="1550" b="0" i="0">
                <a:solidFill>
                  <a:srgbClr val="D7DEE9"/>
                </a:solidFill>
                <a:latin typeface="Times New Roman"/>
              </a:rPr>
              <a:t>   ·   </a:t>
            </a:r>
            <a:r>
              <a:rPr sz="1550" b="1" i="0">
                <a:solidFill>
                  <a:srgbClr val="55617A"/>
                </a:solidFill>
                <a:latin typeface="Times New Roman"/>
              </a:rPr>
              <a:t>GAP ANALYSIS</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Research Gap</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Eight gaps drawn from the survey  ·  each bound to the mechanism in this framework that answers it</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7 / 16</a:t>
            </a:r>
          </a:p>
        </p:txBody>
      </p:sp>
      <p:sp>
        <p:nvSpPr>
          <p:cNvPr id="10" name="Rounded Rectangle 9"/>
          <p:cNvSpPr/>
          <p:nvPr/>
        </p:nvSpPr>
        <p:spPr>
          <a:xfrm>
            <a:off x="630936" y="149961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30936" y="149961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8952" y="1627631"/>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58952" y="164591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G1</a:t>
            </a:r>
          </a:p>
        </p:txBody>
      </p:sp>
      <p:sp>
        <p:nvSpPr>
          <p:cNvPr id="14" name="TextBox 13"/>
          <p:cNvSpPr txBox="1"/>
          <p:nvPr/>
        </p:nvSpPr>
        <p:spPr>
          <a:xfrm>
            <a:off x="1344168" y="160934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Twins Monitor, They Do Not Immunize</a:t>
            </a:r>
          </a:p>
        </p:txBody>
      </p:sp>
      <p:sp>
        <p:nvSpPr>
          <p:cNvPr id="15" name="TextBox 14"/>
          <p:cNvSpPr txBox="1"/>
          <p:nvPr/>
        </p:nvSpPr>
        <p:spPr>
          <a:xfrm>
            <a:off x="758952" y="2048255"/>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Twin research targets monitoring, visualisation and fault prediction. Few use the twin as an active security environment.</a:t>
            </a:r>
          </a:p>
        </p:txBody>
      </p:sp>
      <p:sp>
        <p:nvSpPr>
          <p:cNvPr id="16" name="Rounded Rectangle 15"/>
          <p:cNvSpPr/>
          <p:nvPr/>
        </p:nvSpPr>
        <p:spPr>
          <a:xfrm>
            <a:off x="758952" y="298094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68680" y="305409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Futures drive the security decision</a:t>
            </a:r>
          </a:p>
        </p:txBody>
      </p:sp>
      <p:sp>
        <p:nvSpPr>
          <p:cNvPr id="18" name="Rounded Rectangle 17"/>
          <p:cNvSpPr/>
          <p:nvPr/>
        </p:nvSpPr>
        <p:spPr>
          <a:xfrm>
            <a:off x="3407694" y="149961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407694" y="149961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35710" y="1627631"/>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35710" y="164591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G2</a:t>
            </a:r>
          </a:p>
        </p:txBody>
      </p:sp>
      <p:sp>
        <p:nvSpPr>
          <p:cNvPr id="22" name="TextBox 21"/>
          <p:cNvSpPr txBox="1"/>
          <p:nvPr/>
        </p:nvSpPr>
        <p:spPr>
          <a:xfrm>
            <a:off x="4120926" y="160934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Threat Detection Is Reactive</a:t>
            </a:r>
          </a:p>
        </p:txBody>
      </p:sp>
      <p:sp>
        <p:nvSpPr>
          <p:cNvPr id="23" name="TextBox 22"/>
          <p:cNvSpPr txBox="1"/>
          <p:nvPr/>
        </p:nvSpPr>
        <p:spPr>
          <a:xfrm>
            <a:off x="3535710" y="2048255"/>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Detection runs attack, collect, detect, alert. It is rarely joined to proactive adaptation of the model at the edge.</a:t>
            </a:r>
          </a:p>
        </p:txBody>
      </p:sp>
      <p:sp>
        <p:nvSpPr>
          <p:cNvPr id="24" name="Rounded Rectangle 23"/>
          <p:cNvSpPr/>
          <p:nvPr/>
        </p:nvSpPr>
        <p:spPr>
          <a:xfrm>
            <a:off x="3535710" y="298094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45438" y="305409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Prepare the model before the attack</a:t>
            </a:r>
          </a:p>
        </p:txBody>
      </p:sp>
      <p:sp>
        <p:nvSpPr>
          <p:cNvPr id="26" name="Rounded Rectangle 25"/>
          <p:cNvSpPr/>
          <p:nvPr/>
        </p:nvSpPr>
        <p:spPr>
          <a:xfrm>
            <a:off x="6184452" y="149961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184452" y="149961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12468" y="1627631"/>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12468" y="164591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G3</a:t>
            </a:r>
          </a:p>
        </p:txBody>
      </p:sp>
      <p:sp>
        <p:nvSpPr>
          <p:cNvPr id="30" name="TextBox 29"/>
          <p:cNvSpPr txBox="1"/>
          <p:nvPr/>
        </p:nvSpPr>
        <p:spPr>
          <a:xfrm>
            <a:off x="6897684" y="160934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Poisoning Unaddressed In Real Time</a:t>
            </a:r>
          </a:p>
        </p:txBody>
      </p:sp>
      <p:sp>
        <p:nvSpPr>
          <p:cNvPr id="31" name="TextBox 30"/>
          <p:cNvSpPr txBox="1"/>
          <p:nvPr/>
        </p:nvSpPr>
        <p:spPr>
          <a:xfrm>
            <a:off x="6312468" y="2048255"/>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Defences identify abnormal samples, aggregate robustly or validate statistically — always after the update is submitted.</a:t>
            </a:r>
          </a:p>
        </p:txBody>
      </p:sp>
      <p:sp>
        <p:nvSpPr>
          <p:cNvPr id="32" name="Rounded Rectangle 31"/>
          <p:cNvSpPr/>
          <p:nvPr/>
        </p:nvSpPr>
        <p:spPr>
          <a:xfrm>
            <a:off x="6312468" y="298094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22196" y="305409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Test the update against future behaviour</a:t>
            </a:r>
          </a:p>
        </p:txBody>
      </p:sp>
      <p:sp>
        <p:nvSpPr>
          <p:cNvPr id="34" name="Rounded Rectangle 33"/>
          <p:cNvSpPr/>
          <p:nvPr/>
        </p:nvSpPr>
        <p:spPr>
          <a:xfrm>
            <a:off x="8961211" y="149961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961211" y="149961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089227" y="1627631"/>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089227" y="164591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G4</a:t>
            </a:r>
          </a:p>
        </p:txBody>
      </p:sp>
      <p:sp>
        <p:nvSpPr>
          <p:cNvPr id="38" name="TextBox 37"/>
          <p:cNvSpPr txBox="1"/>
          <p:nvPr/>
        </p:nvSpPr>
        <p:spPr>
          <a:xfrm>
            <a:off x="9674443" y="160934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Counterfactuals And Twins Stay Separate</a:t>
            </a:r>
          </a:p>
        </p:txBody>
      </p:sp>
      <p:sp>
        <p:nvSpPr>
          <p:cNvPr id="39" name="TextBox 38"/>
          <p:cNvSpPr txBox="1"/>
          <p:nvPr/>
        </p:nvSpPr>
        <p:spPr>
          <a:xfrm>
            <a:off x="9089227" y="2048255"/>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Counterfactual reasoning and twin modelling have been explored independently, never joined into a security decision.</a:t>
            </a:r>
          </a:p>
        </p:txBody>
      </p:sp>
      <p:sp>
        <p:nvSpPr>
          <p:cNvPr id="40" name="Rounded Rectangle 39"/>
          <p:cNvSpPr/>
          <p:nvPr/>
        </p:nvSpPr>
        <p:spPr>
          <a:xfrm>
            <a:off x="9089227" y="298094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198955" y="305409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Counterfactuals + twins + IoT security</a:t>
            </a:r>
          </a:p>
        </p:txBody>
      </p:sp>
      <p:sp>
        <p:nvSpPr>
          <p:cNvPr id="42" name="Rounded Rectangle 41"/>
          <p:cNvSpPr/>
          <p:nvPr/>
        </p:nvSpPr>
        <p:spPr>
          <a:xfrm>
            <a:off x="630936" y="360273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30936" y="360273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58952" y="3730752"/>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58952" y="374903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G5</a:t>
            </a:r>
          </a:p>
        </p:txBody>
      </p:sp>
      <p:sp>
        <p:nvSpPr>
          <p:cNvPr id="46" name="TextBox 45"/>
          <p:cNvSpPr txBox="1"/>
          <p:nvPr/>
        </p:nvSpPr>
        <p:spPr>
          <a:xfrm>
            <a:off x="1344168" y="371246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Validation Against Current State Only</a:t>
            </a:r>
          </a:p>
        </p:txBody>
      </p:sp>
      <p:sp>
        <p:nvSpPr>
          <p:cNvPr id="47" name="TextBox 46"/>
          <p:cNvSpPr txBox="1"/>
          <p:nvPr/>
        </p:nvSpPr>
        <p:spPr>
          <a:xfrm>
            <a:off x="758952" y="4151376"/>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Anomaly detection compares behaviour with current or historical normal. Multi-future consistency is barely considered.</a:t>
            </a:r>
          </a:p>
        </p:txBody>
      </p:sp>
      <p:sp>
        <p:nvSpPr>
          <p:cNvPr id="48" name="Rounded Rectangle 47"/>
          <p:cNvSpPr/>
          <p:nvPr/>
        </p:nvSpPr>
        <p:spPr>
          <a:xfrm>
            <a:off x="758952" y="508406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68680" y="515721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Compare against 20 committed futures</a:t>
            </a:r>
          </a:p>
        </p:txBody>
      </p:sp>
      <p:sp>
        <p:nvSpPr>
          <p:cNvPr id="50" name="Rounded Rectangle 49"/>
          <p:cNvSpPr/>
          <p:nvPr/>
        </p:nvSpPr>
        <p:spPr>
          <a:xfrm>
            <a:off x="3407694" y="360273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407694" y="360273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3535710" y="3730752"/>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3535710" y="374903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G6</a:t>
            </a:r>
          </a:p>
        </p:txBody>
      </p:sp>
      <p:sp>
        <p:nvSpPr>
          <p:cNvPr id="54" name="TextBox 53"/>
          <p:cNvSpPr txBox="1"/>
          <p:nvPr/>
        </p:nvSpPr>
        <p:spPr>
          <a:xfrm>
            <a:off x="4120926" y="371246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Security–Adaptability Trade-Off</a:t>
            </a:r>
          </a:p>
        </p:txBody>
      </p:sp>
      <p:sp>
        <p:nvSpPr>
          <p:cNvPr id="55" name="TextBox 54"/>
          <p:cNvSpPr txBox="1"/>
          <p:nvPr/>
        </p:nvSpPr>
        <p:spPr>
          <a:xfrm>
            <a:off x="3535710" y="4151376"/>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Frequent retraining adapts fast but widens exposure; infrequent retraining is safer but stale. Frequency resolves neither.</a:t>
            </a:r>
          </a:p>
        </p:txBody>
      </p:sp>
      <p:sp>
        <p:nvSpPr>
          <p:cNvPr id="56" name="Rounded Rectangle 55"/>
          <p:cNvSpPr/>
          <p:nvPr/>
        </p:nvSpPr>
        <p:spPr>
          <a:xfrm>
            <a:off x="3535710" y="508406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3645438" y="515721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Gate on content, not on frequency</a:t>
            </a:r>
          </a:p>
        </p:txBody>
      </p:sp>
      <p:sp>
        <p:nvSpPr>
          <p:cNvPr id="58" name="Rounded Rectangle 57"/>
          <p:cNvSpPr/>
          <p:nvPr/>
        </p:nvSpPr>
        <p:spPr>
          <a:xfrm>
            <a:off x="6184452" y="360273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184452" y="360273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312468" y="3730752"/>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312468" y="374903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G7</a:t>
            </a:r>
          </a:p>
        </p:txBody>
      </p:sp>
      <p:sp>
        <p:nvSpPr>
          <p:cNvPr id="62" name="TextBox 61"/>
          <p:cNvSpPr txBox="1"/>
          <p:nvPr/>
        </p:nvSpPr>
        <p:spPr>
          <a:xfrm>
            <a:off x="6897684" y="371246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Simulation Stops At Measurement</a:t>
            </a:r>
          </a:p>
        </p:txBody>
      </p:sp>
      <p:sp>
        <p:nvSpPr>
          <p:cNvPr id="63" name="TextBox 62"/>
          <p:cNvSpPr txBox="1"/>
          <p:nvPr/>
        </p:nvSpPr>
        <p:spPr>
          <a:xfrm>
            <a:off x="6312468" y="4151376"/>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Simulation generates an attack, tests the detector and measures accuracy. It rarely feeds onward into retraining.</a:t>
            </a:r>
          </a:p>
        </p:txBody>
      </p:sp>
      <p:sp>
        <p:nvSpPr>
          <p:cNvPr id="64" name="Rounded Rectangle 63"/>
          <p:cNvSpPr/>
          <p:nvPr/>
        </p:nvSpPr>
        <p:spPr>
          <a:xfrm>
            <a:off x="6312468" y="508406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6422196" y="515721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Simulate, immunize, then re-test</a:t>
            </a:r>
          </a:p>
        </p:txBody>
      </p:sp>
      <p:sp>
        <p:nvSpPr>
          <p:cNvPr id="66" name="Rounded Rectangle 65"/>
          <p:cNvSpPr/>
          <p:nvPr/>
        </p:nvSpPr>
        <p:spPr>
          <a:xfrm>
            <a:off x="8961211" y="3602736"/>
            <a:ext cx="2596896" cy="202996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8961211" y="3602736"/>
            <a:ext cx="2596896"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9089227" y="3730752"/>
            <a:ext cx="512064" cy="21945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9089227" y="3749039"/>
            <a:ext cx="512064"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Times New Roman"/>
              </a:rPr>
              <a:t>G8</a:t>
            </a:r>
          </a:p>
        </p:txBody>
      </p:sp>
      <p:sp>
        <p:nvSpPr>
          <p:cNvPr id="70" name="TextBox 69"/>
          <p:cNvSpPr txBox="1"/>
          <p:nvPr/>
        </p:nvSpPr>
        <p:spPr>
          <a:xfrm>
            <a:off x="9674443" y="3712463"/>
            <a:ext cx="1755648" cy="384048"/>
          </a:xfrm>
          <a:prstGeom prst="rect">
            <a:avLst/>
          </a:prstGeom>
          <a:noFill/>
        </p:spPr>
        <p:txBody>
          <a:bodyPr wrap="square" lIns="0" rIns="0" tIns="0" bIns="0" anchor="t">
            <a:spAutoFit/>
          </a:bodyPr>
          <a:lstStyle/>
          <a:p>
            <a:pPr algn="l">
              <a:lnSpc>
                <a:spcPct val="94000"/>
              </a:lnSpc>
              <a:spcAft>
                <a:spcPts val="0"/>
              </a:spcAft>
            </a:pPr>
            <a:r>
              <a:rPr sz="1300" b="1" i="0">
                <a:solidFill>
                  <a:srgbClr val="1F2A44"/>
                </a:solidFill>
                <a:latin typeface="Times New Roman"/>
              </a:rPr>
              <a:t>Components Operate Independently</a:t>
            </a:r>
          </a:p>
        </p:txBody>
      </p:sp>
      <p:sp>
        <p:nvSpPr>
          <p:cNvPr id="71" name="TextBox 70"/>
          <p:cNvSpPr txBox="1"/>
          <p:nvPr/>
        </p:nvSpPr>
        <p:spPr>
          <a:xfrm>
            <a:off x="9089227" y="4151376"/>
            <a:ext cx="2340863" cy="896112"/>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Detection, quarantine and retraining are separate systems, with no closed loop uniting twin, validation and rollback.</a:t>
            </a:r>
          </a:p>
        </p:txBody>
      </p:sp>
      <p:sp>
        <p:nvSpPr>
          <p:cNvPr id="72" name="Rounded Rectangle 71"/>
          <p:cNvSpPr/>
          <p:nvPr/>
        </p:nvSpPr>
        <p:spPr>
          <a:xfrm>
            <a:off x="9089227" y="5084064"/>
            <a:ext cx="2340863" cy="45720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9198955" y="5157216"/>
            <a:ext cx="2157984" cy="365760"/>
          </a:xfrm>
          <a:prstGeom prst="rect">
            <a:avLst/>
          </a:prstGeom>
          <a:noFill/>
        </p:spPr>
        <p:txBody>
          <a:bodyPr wrap="square" lIns="0" rIns="0" tIns="0" bIns="0" anchor="t">
            <a:spAutoFit/>
          </a:bodyPr>
          <a:lstStyle/>
          <a:p>
            <a:pPr algn="l">
              <a:lnSpc>
                <a:spcPct val="102000"/>
              </a:lnSpc>
              <a:spcAft>
                <a:spcPts val="0"/>
              </a:spcAft>
            </a:pPr>
            <a:r>
              <a:rPr sz="1200" b="1" i="0">
                <a:solidFill>
                  <a:srgbClr val="0E8C79"/>
                </a:solidFill>
                <a:latin typeface="Times New Roman"/>
              </a:rPr>
              <a:t>→  </a:t>
            </a:r>
            <a:r>
              <a:rPr sz="1200" b="1" i="0">
                <a:solidFill>
                  <a:srgbClr val="1F2A44"/>
                </a:solidFill>
                <a:latin typeface="Times New Roman"/>
              </a:rPr>
              <a:t>One closed-loop, self-adaptive design</a:t>
            </a:r>
          </a:p>
        </p:txBody>
      </p:sp>
      <p:sp>
        <p:nvSpPr>
          <p:cNvPr id="74" name="Rounded Rectangle 73"/>
          <p:cNvSpPr/>
          <p:nvPr/>
        </p:nvSpPr>
        <p:spPr>
          <a:xfrm>
            <a:off x="630936" y="5724144"/>
            <a:ext cx="10927080" cy="621792"/>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630936" y="5724144"/>
            <a:ext cx="45720" cy="621792"/>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2960" y="5815583"/>
            <a:ext cx="10607040" cy="475488"/>
          </a:xfrm>
          <a:prstGeom prst="rect">
            <a:avLst/>
          </a:prstGeom>
          <a:noFill/>
        </p:spPr>
        <p:txBody>
          <a:bodyPr wrap="square" lIns="0" rIns="0" tIns="0" bIns="0" anchor="t">
            <a:spAutoFit/>
          </a:bodyPr>
          <a:lstStyle/>
          <a:p>
            <a:pPr algn="l">
              <a:lnSpc>
                <a:spcPct val="102000"/>
              </a:lnSpc>
              <a:spcAft>
                <a:spcPts val="0"/>
              </a:spcAft>
            </a:pPr>
            <a:r>
              <a:rPr sz="1550" b="1" i="0">
                <a:solidFill>
                  <a:srgbClr val="0E8C79"/>
                </a:solidFill>
                <a:latin typeface="Times New Roman"/>
              </a:rPr>
              <a:t>Stated as one gap:  </a:t>
            </a:r>
            <a:r>
              <a:rPr sz="1550" b="0" i="0">
                <a:solidFill>
                  <a:srgbClr val="1F2A44"/>
                </a:solidFill>
                <a:latin typeface="Times New Roman"/>
              </a:rPr>
              <a:t>no work validates a model update against multiple plausible future states, nor closes simulated attacks back into secure edge retraining.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06</a:t>
            </a:r>
            <a:r>
              <a:rPr sz="1550" b="0" i="0">
                <a:solidFill>
                  <a:srgbClr val="D7DEE9"/>
                </a:solidFill>
                <a:latin typeface="Times New Roman"/>
              </a:rPr>
              <a:t>   ·   </a:t>
            </a:r>
            <a:r>
              <a:rPr sz="1550" b="1" i="0">
                <a:solidFill>
                  <a:srgbClr val="55617A"/>
                </a:solidFill>
                <a:latin typeface="Times New Roman"/>
              </a:rPr>
              <a:t>RESEARCH SCOPE</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Objectives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Seven objectives, each mapped one-to-one onto an identified gap and a measurable criterion</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8 / 16</a:t>
            </a:r>
          </a:p>
        </p:txBody>
      </p:sp>
      <p:sp>
        <p:nvSpPr>
          <p:cNvPr id="10" name="Rounded Rectangle 9"/>
          <p:cNvSpPr/>
          <p:nvPr/>
        </p:nvSpPr>
        <p:spPr>
          <a:xfrm>
            <a:off x="630936" y="1481328"/>
            <a:ext cx="10927080" cy="31089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1" y="1545336"/>
            <a:ext cx="320194"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a:t>
            </a:r>
          </a:p>
        </p:txBody>
      </p:sp>
      <p:sp>
        <p:nvSpPr>
          <p:cNvPr id="12" name="TextBox 11"/>
          <p:cNvSpPr txBox="1"/>
          <p:nvPr/>
        </p:nvSpPr>
        <p:spPr>
          <a:xfrm>
            <a:off x="1198018" y="1545336"/>
            <a:ext cx="3180432"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Objective</a:t>
            </a:r>
          </a:p>
        </p:txBody>
      </p:sp>
      <p:sp>
        <p:nvSpPr>
          <p:cNvPr id="13" name="TextBox 12"/>
          <p:cNvSpPr txBox="1"/>
          <p:nvPr/>
        </p:nvSpPr>
        <p:spPr>
          <a:xfrm>
            <a:off x="4543042" y="1545336"/>
            <a:ext cx="339585"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Gap</a:t>
            </a:r>
          </a:p>
        </p:txBody>
      </p:sp>
      <p:sp>
        <p:nvSpPr>
          <p:cNvPr id="14" name="TextBox 13"/>
          <p:cNvSpPr txBox="1"/>
          <p:nvPr/>
        </p:nvSpPr>
        <p:spPr>
          <a:xfrm>
            <a:off x="5047220" y="1545336"/>
            <a:ext cx="2792603"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Measurable Criterion</a:t>
            </a:r>
          </a:p>
        </p:txBody>
      </p:sp>
      <p:sp>
        <p:nvSpPr>
          <p:cNvPr id="15" name="TextBox 14"/>
          <p:cNvSpPr txBox="1"/>
          <p:nvPr/>
        </p:nvSpPr>
        <p:spPr>
          <a:xfrm>
            <a:off x="8004415" y="1545336"/>
            <a:ext cx="2307817"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Deliverable</a:t>
            </a:r>
          </a:p>
        </p:txBody>
      </p:sp>
      <p:sp>
        <p:nvSpPr>
          <p:cNvPr id="16" name="TextBox 15"/>
          <p:cNvSpPr txBox="1"/>
          <p:nvPr/>
        </p:nvSpPr>
        <p:spPr>
          <a:xfrm>
            <a:off x="10476825" y="1545336"/>
            <a:ext cx="998894"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Status</a:t>
            </a:r>
          </a:p>
        </p:txBody>
      </p:sp>
      <p:sp>
        <p:nvSpPr>
          <p:cNvPr id="17" name="Rectangle 16"/>
          <p:cNvSpPr/>
          <p:nvPr/>
        </p:nvSpPr>
        <p:spPr>
          <a:xfrm>
            <a:off x="630936" y="1792224"/>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3231" y="1837944"/>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O1</a:t>
            </a:r>
          </a:p>
        </p:txBody>
      </p:sp>
      <p:sp>
        <p:nvSpPr>
          <p:cNvPr id="19" name="TextBox 18"/>
          <p:cNvSpPr txBox="1"/>
          <p:nvPr/>
        </p:nvSpPr>
        <p:spPr>
          <a:xfrm>
            <a:off x="1198018" y="1837944"/>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Simulate a heterogeneous consumer IoT fleet and an on-demand edge gateway.</a:t>
            </a:r>
          </a:p>
        </p:txBody>
      </p:sp>
      <p:sp>
        <p:nvSpPr>
          <p:cNvPr id="20" name="TextBox 19"/>
          <p:cNvSpPr txBox="1"/>
          <p:nvPr/>
        </p:nvSpPr>
        <p:spPr>
          <a:xfrm>
            <a:off x="4543042" y="1837944"/>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G5</a:t>
            </a:r>
          </a:p>
        </p:txBody>
      </p:sp>
      <p:sp>
        <p:nvSpPr>
          <p:cNvPr id="21" name="TextBox 20"/>
          <p:cNvSpPr txBox="1"/>
          <p:nvPr/>
        </p:nvSpPr>
        <p:spPr>
          <a:xfrm>
            <a:off x="5047220" y="1837944"/>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Six device types separable on baseline behaviour</a:t>
            </a:r>
          </a:p>
        </p:txBody>
      </p:sp>
      <p:sp>
        <p:nvSpPr>
          <p:cNvPr id="22" name="TextBox 21"/>
          <p:cNvSpPr txBox="1"/>
          <p:nvPr/>
        </p:nvSpPr>
        <p:spPr>
          <a:xfrm>
            <a:off x="8004415" y="1837944"/>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Device simulator + gateway</a:t>
            </a:r>
          </a:p>
        </p:txBody>
      </p:sp>
      <p:sp>
        <p:nvSpPr>
          <p:cNvPr id="23" name="TextBox 22"/>
          <p:cNvSpPr txBox="1"/>
          <p:nvPr/>
        </p:nvSpPr>
        <p:spPr>
          <a:xfrm>
            <a:off x="10476825" y="1837944"/>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24" name="Rectangle 23"/>
          <p:cNvSpPr/>
          <p:nvPr/>
        </p:nvSpPr>
        <p:spPr>
          <a:xfrm>
            <a:off x="630936" y="2194560"/>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13231" y="2240280"/>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O2</a:t>
            </a:r>
          </a:p>
        </p:txBody>
      </p:sp>
      <p:sp>
        <p:nvSpPr>
          <p:cNvPr id="26" name="TextBox 25"/>
          <p:cNvSpPr txBox="1"/>
          <p:nvPr/>
        </p:nvSpPr>
        <p:spPr>
          <a:xfrm>
            <a:off x="1198018" y="2240280"/>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Build a holographic twin per device across five behavioural planes.</a:t>
            </a:r>
          </a:p>
        </p:txBody>
      </p:sp>
      <p:sp>
        <p:nvSpPr>
          <p:cNvPr id="27" name="TextBox 26"/>
          <p:cNvSpPr txBox="1"/>
          <p:nvPr/>
        </p:nvSpPr>
        <p:spPr>
          <a:xfrm>
            <a:off x="4543042" y="2240280"/>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G5</a:t>
            </a:r>
          </a:p>
        </p:txBody>
      </p:sp>
      <p:sp>
        <p:nvSpPr>
          <p:cNvPr id="28" name="TextBox 27"/>
          <p:cNvSpPr txBox="1"/>
          <p:nvPr/>
        </p:nvSpPr>
        <p:spPr>
          <a:xfrm>
            <a:off x="5047220" y="2240280"/>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Zero false flags on healthy traffic</a:t>
            </a:r>
          </a:p>
        </p:txBody>
      </p:sp>
      <p:sp>
        <p:nvSpPr>
          <p:cNvPr id="29" name="TextBox 28"/>
          <p:cNvSpPr txBox="1"/>
          <p:nvPr/>
        </p:nvSpPr>
        <p:spPr>
          <a:xfrm>
            <a:off x="8004415" y="2240280"/>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Twin registry + plane scoring</a:t>
            </a:r>
          </a:p>
        </p:txBody>
      </p:sp>
      <p:sp>
        <p:nvSpPr>
          <p:cNvPr id="30" name="TextBox 29"/>
          <p:cNvSpPr txBox="1"/>
          <p:nvPr/>
        </p:nvSpPr>
        <p:spPr>
          <a:xfrm>
            <a:off x="10476825" y="2240280"/>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31" name="Rectangle 30"/>
          <p:cNvSpPr/>
          <p:nvPr/>
        </p:nvSpPr>
        <p:spPr>
          <a:xfrm>
            <a:off x="630936" y="2596896"/>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3231" y="2642616"/>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O3</a:t>
            </a:r>
          </a:p>
        </p:txBody>
      </p:sp>
      <p:sp>
        <p:nvSpPr>
          <p:cNvPr id="33" name="TextBox 32"/>
          <p:cNvSpPr txBox="1"/>
          <p:nvPr/>
        </p:nvSpPr>
        <p:spPr>
          <a:xfrm>
            <a:off x="1198018" y="2642616"/>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Commit counterfactual futures before the observation they judge exists.</a:t>
            </a:r>
          </a:p>
        </p:txBody>
      </p:sp>
      <p:sp>
        <p:nvSpPr>
          <p:cNvPr id="34" name="TextBox 33"/>
          <p:cNvSpPr txBox="1"/>
          <p:nvPr/>
        </p:nvSpPr>
        <p:spPr>
          <a:xfrm>
            <a:off x="4543042" y="2642616"/>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G1</a:t>
            </a:r>
          </a:p>
        </p:txBody>
      </p:sp>
      <p:sp>
        <p:nvSpPr>
          <p:cNvPr id="35" name="TextBox 34"/>
          <p:cNvSpPr txBox="1"/>
          <p:nvPr/>
        </p:nvSpPr>
        <p:spPr>
          <a:xfrm>
            <a:off x="5047220" y="2642616"/>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20 futures x 5-tick horizon, committed pre-hoc</a:t>
            </a:r>
          </a:p>
        </p:txBody>
      </p:sp>
      <p:sp>
        <p:nvSpPr>
          <p:cNvPr id="36" name="TextBox 35"/>
          <p:cNvSpPr txBox="1"/>
          <p:nvPr/>
        </p:nvSpPr>
        <p:spPr>
          <a:xfrm>
            <a:off x="8004415" y="2642616"/>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Ridge VAR forward model</a:t>
            </a:r>
          </a:p>
        </p:txBody>
      </p:sp>
      <p:sp>
        <p:nvSpPr>
          <p:cNvPr id="37" name="TextBox 36"/>
          <p:cNvSpPr txBox="1"/>
          <p:nvPr/>
        </p:nvSpPr>
        <p:spPr>
          <a:xfrm>
            <a:off x="10476825" y="2642616"/>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38" name="Rectangle 37"/>
          <p:cNvSpPr/>
          <p:nvPr/>
        </p:nvSpPr>
        <p:spPr>
          <a:xfrm>
            <a:off x="630936" y="2999232"/>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3231" y="3044952"/>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O4</a:t>
            </a:r>
          </a:p>
        </p:txBody>
      </p:sp>
      <p:sp>
        <p:nvSpPr>
          <p:cNvPr id="40" name="TextBox 39"/>
          <p:cNvSpPr txBox="1"/>
          <p:nvPr/>
        </p:nvSpPr>
        <p:spPr>
          <a:xfrm>
            <a:off x="1198018" y="3044952"/>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Design a Counterfactual Consistency Score that gates every retraining update.</a:t>
            </a:r>
          </a:p>
        </p:txBody>
      </p:sp>
      <p:sp>
        <p:nvSpPr>
          <p:cNvPr id="41" name="TextBox 40"/>
          <p:cNvSpPr txBox="1"/>
          <p:nvPr/>
        </p:nvSpPr>
        <p:spPr>
          <a:xfrm>
            <a:off x="4543042" y="3044952"/>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G2</a:t>
            </a:r>
          </a:p>
        </p:txBody>
      </p:sp>
      <p:sp>
        <p:nvSpPr>
          <p:cNvPr id="42" name="TextBox 41"/>
          <p:cNvSpPr txBox="1"/>
          <p:nvPr/>
        </p:nvSpPr>
        <p:spPr>
          <a:xfrm>
            <a:off x="5047220" y="3044952"/>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Separation between honest and poisoned CCS</a:t>
            </a:r>
          </a:p>
        </p:txBody>
      </p:sp>
      <p:sp>
        <p:nvSpPr>
          <p:cNvPr id="43" name="TextBox 42"/>
          <p:cNvSpPr txBox="1"/>
          <p:nvPr/>
        </p:nvSpPr>
        <p:spPr>
          <a:xfrm>
            <a:off x="8004415" y="3044952"/>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Six-component validator</a:t>
            </a:r>
          </a:p>
        </p:txBody>
      </p:sp>
      <p:sp>
        <p:nvSpPr>
          <p:cNvPr id="44" name="TextBox 43"/>
          <p:cNvSpPr txBox="1"/>
          <p:nvPr/>
        </p:nvSpPr>
        <p:spPr>
          <a:xfrm>
            <a:off x="10476825" y="3044952"/>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45" name="Rectangle 44"/>
          <p:cNvSpPr/>
          <p:nvPr/>
        </p:nvSpPr>
        <p:spPr>
          <a:xfrm>
            <a:off x="630936" y="3401568"/>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13231" y="3447288"/>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O5</a:t>
            </a:r>
          </a:p>
        </p:txBody>
      </p:sp>
      <p:sp>
        <p:nvSpPr>
          <p:cNvPr id="47" name="TextBox 46"/>
          <p:cNvSpPr txBox="1"/>
          <p:nvPr/>
        </p:nvSpPr>
        <p:spPr>
          <a:xfrm>
            <a:off x="1198018" y="3447288"/>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Detect clean-label poisoning that carries no label shift at all.</a:t>
            </a:r>
          </a:p>
        </p:txBody>
      </p:sp>
      <p:sp>
        <p:nvSpPr>
          <p:cNvPr id="48" name="TextBox 47"/>
          <p:cNvSpPr txBox="1"/>
          <p:nvPr/>
        </p:nvSpPr>
        <p:spPr>
          <a:xfrm>
            <a:off x="4543042" y="3447288"/>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G4</a:t>
            </a:r>
          </a:p>
        </p:txBody>
      </p:sp>
      <p:sp>
        <p:nvSpPr>
          <p:cNvPr id="49" name="TextBox 48"/>
          <p:cNvSpPr txBox="1"/>
          <p:nvPr/>
        </p:nvSpPr>
        <p:spPr>
          <a:xfrm>
            <a:off x="5047220" y="3447288"/>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Quarantined at label shift below 0.10</a:t>
            </a:r>
          </a:p>
        </p:txBody>
      </p:sp>
      <p:sp>
        <p:nvSpPr>
          <p:cNvPr id="50" name="TextBox 49"/>
          <p:cNvSpPr txBox="1"/>
          <p:nvPr/>
        </p:nvSpPr>
        <p:spPr>
          <a:xfrm>
            <a:off x="8004415" y="3447288"/>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Label-agreement component</a:t>
            </a:r>
          </a:p>
        </p:txBody>
      </p:sp>
      <p:sp>
        <p:nvSpPr>
          <p:cNvPr id="51" name="TextBox 50"/>
          <p:cNvSpPr txBox="1"/>
          <p:nvPr/>
        </p:nvSpPr>
        <p:spPr>
          <a:xfrm>
            <a:off x="10476825" y="3447288"/>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52" name="Rectangle 51"/>
          <p:cNvSpPr/>
          <p:nvPr/>
        </p:nvSpPr>
        <p:spPr>
          <a:xfrm>
            <a:off x="630936" y="3803904"/>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13231" y="3849624"/>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O6</a:t>
            </a:r>
          </a:p>
        </p:txBody>
      </p:sp>
      <p:sp>
        <p:nvSpPr>
          <p:cNvPr id="54" name="TextBox 53"/>
          <p:cNvSpPr txBox="1"/>
          <p:nvPr/>
        </p:nvSpPr>
        <p:spPr>
          <a:xfrm>
            <a:off x="1198018" y="3849624"/>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Immunize the model against synthesised poisoning before real attacks.</a:t>
            </a:r>
          </a:p>
        </p:txBody>
      </p:sp>
      <p:sp>
        <p:nvSpPr>
          <p:cNvPr id="55" name="TextBox 54"/>
          <p:cNvSpPr txBox="1"/>
          <p:nvPr/>
        </p:nvSpPr>
        <p:spPr>
          <a:xfrm>
            <a:off x="4543042" y="3849624"/>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G3</a:t>
            </a:r>
          </a:p>
        </p:txBody>
      </p:sp>
      <p:sp>
        <p:nvSpPr>
          <p:cNvPr id="56" name="TextBox 55"/>
          <p:cNvSpPr txBox="1"/>
          <p:nvPr/>
        </p:nvSpPr>
        <p:spPr>
          <a:xfrm>
            <a:off x="5047220" y="3849624"/>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Poison resistance against five strategies</a:t>
            </a:r>
          </a:p>
        </p:txBody>
      </p:sp>
      <p:sp>
        <p:nvSpPr>
          <p:cNvPr id="57" name="TextBox 56"/>
          <p:cNvSpPr txBox="1"/>
          <p:nvPr/>
        </p:nvSpPr>
        <p:spPr>
          <a:xfrm>
            <a:off x="8004415" y="3849624"/>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Immunization engine</a:t>
            </a:r>
          </a:p>
        </p:txBody>
      </p:sp>
      <p:sp>
        <p:nvSpPr>
          <p:cNvPr id="58" name="TextBox 57"/>
          <p:cNvSpPr txBox="1"/>
          <p:nvPr/>
        </p:nvSpPr>
        <p:spPr>
          <a:xfrm>
            <a:off x="10476825" y="3849624"/>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Complete</a:t>
            </a:r>
          </a:p>
        </p:txBody>
      </p:sp>
      <p:sp>
        <p:nvSpPr>
          <p:cNvPr id="59" name="Rectangle 58"/>
          <p:cNvSpPr/>
          <p:nvPr/>
        </p:nvSpPr>
        <p:spPr>
          <a:xfrm>
            <a:off x="630936" y="4206240"/>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13231" y="4251960"/>
            <a:ext cx="320194" cy="329184"/>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O7</a:t>
            </a:r>
          </a:p>
        </p:txBody>
      </p:sp>
      <p:sp>
        <p:nvSpPr>
          <p:cNvPr id="61" name="TextBox 60"/>
          <p:cNvSpPr txBox="1"/>
          <p:nvPr/>
        </p:nvSpPr>
        <p:spPr>
          <a:xfrm>
            <a:off x="1198018" y="4251960"/>
            <a:ext cx="3180432"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Benchmark against reactive baselines across poisoning rates.</a:t>
            </a:r>
          </a:p>
        </p:txBody>
      </p:sp>
      <p:sp>
        <p:nvSpPr>
          <p:cNvPr id="62" name="TextBox 61"/>
          <p:cNvSpPr txBox="1"/>
          <p:nvPr/>
        </p:nvSpPr>
        <p:spPr>
          <a:xfrm>
            <a:off x="4543042" y="4251960"/>
            <a:ext cx="339585"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G1</a:t>
            </a:r>
          </a:p>
        </p:txBody>
      </p:sp>
      <p:sp>
        <p:nvSpPr>
          <p:cNvPr id="63" name="TextBox 62"/>
          <p:cNvSpPr txBox="1"/>
          <p:nvPr/>
        </p:nvSpPr>
        <p:spPr>
          <a:xfrm>
            <a:off x="5047220" y="4251960"/>
            <a:ext cx="2792603"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Attack success rate vs anomaly / robust-aggregation baselines</a:t>
            </a:r>
          </a:p>
        </p:txBody>
      </p:sp>
      <p:sp>
        <p:nvSpPr>
          <p:cNvPr id="64" name="TextBox 63"/>
          <p:cNvSpPr txBox="1"/>
          <p:nvPr/>
        </p:nvSpPr>
        <p:spPr>
          <a:xfrm>
            <a:off x="8004415" y="4251960"/>
            <a:ext cx="2307817" cy="329184"/>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Comparative harness</a:t>
            </a:r>
          </a:p>
        </p:txBody>
      </p:sp>
      <p:sp>
        <p:nvSpPr>
          <p:cNvPr id="65" name="TextBox 64"/>
          <p:cNvSpPr txBox="1"/>
          <p:nvPr/>
        </p:nvSpPr>
        <p:spPr>
          <a:xfrm>
            <a:off x="10476825" y="4251960"/>
            <a:ext cx="998894" cy="329184"/>
          </a:xfrm>
          <a:prstGeom prst="rect">
            <a:avLst/>
          </a:prstGeom>
          <a:noFill/>
        </p:spPr>
        <p:txBody>
          <a:bodyPr wrap="square" lIns="0" rIns="0" tIns="0" bIns="0" anchor="t">
            <a:spAutoFit/>
          </a:bodyPr>
          <a:lstStyle/>
          <a:p>
            <a:pPr algn="l">
              <a:lnSpc>
                <a:spcPct val="92000"/>
              </a:lnSpc>
              <a:spcAft>
                <a:spcPts val="0"/>
              </a:spcAft>
            </a:pPr>
            <a:r>
              <a:rPr sz="1200" b="1" i="0">
                <a:solidFill>
                  <a:srgbClr val="B8720A"/>
                </a:solidFill>
                <a:latin typeface="Times New Roman"/>
              </a:rPr>
              <a:t>In progress</a:t>
            </a:r>
          </a:p>
        </p:txBody>
      </p:sp>
      <p:sp>
        <p:nvSpPr>
          <p:cNvPr id="66" name="Rounded Rectangle 65"/>
          <p:cNvSpPr/>
          <p:nvPr/>
        </p:nvSpPr>
        <p:spPr>
          <a:xfrm>
            <a:off x="649224" y="4681728"/>
            <a:ext cx="3529584" cy="111556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795528" y="4754880"/>
            <a:ext cx="3236976" cy="201168"/>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SUSTAINABLE DEVELOPMENT GOALS</a:t>
            </a:r>
          </a:p>
        </p:txBody>
      </p:sp>
      <p:sp>
        <p:nvSpPr>
          <p:cNvPr id="68" name="TextBox 67"/>
          <p:cNvSpPr txBox="1"/>
          <p:nvPr/>
        </p:nvSpPr>
        <p:spPr>
          <a:xfrm>
            <a:off x="795528" y="4992624"/>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SDG 9  </a:t>
            </a:r>
            <a:r>
              <a:rPr sz="1300" b="0" i="0">
                <a:solidFill>
                  <a:srgbClr val="55617A"/>
                </a:solidFill>
                <a:latin typeface="Times New Roman"/>
              </a:rPr>
              <a:t>Industry, Innovation &amp; Infrastructure — resilient connected-device infrastructure.</a:t>
            </a:r>
          </a:p>
        </p:txBody>
      </p:sp>
      <p:sp>
        <p:nvSpPr>
          <p:cNvPr id="69" name="TextBox 68"/>
          <p:cNvSpPr txBox="1"/>
          <p:nvPr/>
        </p:nvSpPr>
        <p:spPr>
          <a:xfrm>
            <a:off x="795528" y="5376672"/>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SDG 11  </a:t>
            </a:r>
            <a:r>
              <a:rPr sz="1300" b="0" i="0">
                <a:solidFill>
                  <a:srgbClr val="55617A"/>
                </a:solidFill>
                <a:latin typeface="Times New Roman"/>
              </a:rPr>
              <a:t>Sustainable Cities &amp; Communities — securing the smart-home sensing layer.</a:t>
            </a:r>
          </a:p>
        </p:txBody>
      </p:sp>
      <p:sp>
        <p:nvSpPr>
          <p:cNvPr id="70" name="Rounded Rectangle 69"/>
          <p:cNvSpPr/>
          <p:nvPr/>
        </p:nvSpPr>
        <p:spPr>
          <a:xfrm>
            <a:off x="4434840" y="4681728"/>
            <a:ext cx="3529584" cy="111556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4581144" y="4754880"/>
            <a:ext cx="3236976" cy="201168"/>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OUTCOME CLASSIFICATION</a:t>
            </a:r>
          </a:p>
        </p:txBody>
      </p:sp>
      <p:sp>
        <p:nvSpPr>
          <p:cNvPr id="72" name="TextBox 71"/>
          <p:cNvSpPr txBox="1"/>
          <p:nvPr/>
        </p:nvSpPr>
        <p:spPr>
          <a:xfrm>
            <a:off x="4581144" y="4992624"/>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Primary  </a:t>
            </a:r>
            <a:r>
              <a:rPr sz="1300" b="0" i="0">
                <a:solidFill>
                  <a:srgbClr val="55617A"/>
                </a:solidFill>
                <a:latin typeface="Times New Roman"/>
              </a:rPr>
              <a:t>Patent on the counterfactual validation mechanism.</a:t>
            </a:r>
          </a:p>
        </p:txBody>
      </p:sp>
      <p:sp>
        <p:nvSpPr>
          <p:cNvPr id="73" name="TextBox 72"/>
          <p:cNvSpPr txBox="1"/>
          <p:nvPr/>
        </p:nvSpPr>
        <p:spPr>
          <a:xfrm>
            <a:off x="4581144" y="5376672"/>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Secondary  </a:t>
            </a:r>
            <a:r>
              <a:rPr sz="1300" b="0" i="0">
                <a:solidFill>
                  <a:srgbClr val="55617A"/>
                </a:solidFill>
                <a:latin typeface="Times New Roman"/>
              </a:rPr>
              <a:t>Conference paper, Scopus-indexed.</a:t>
            </a:r>
          </a:p>
        </p:txBody>
      </p:sp>
      <p:sp>
        <p:nvSpPr>
          <p:cNvPr id="74" name="Rounded Rectangle 73"/>
          <p:cNvSpPr/>
          <p:nvPr/>
        </p:nvSpPr>
        <p:spPr>
          <a:xfrm>
            <a:off x="8220455" y="4681728"/>
            <a:ext cx="3529584" cy="111556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8366759" y="4754880"/>
            <a:ext cx="3236976" cy="201168"/>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TECHNOLOGY READINESS LEVEL</a:t>
            </a:r>
          </a:p>
        </p:txBody>
      </p:sp>
      <p:sp>
        <p:nvSpPr>
          <p:cNvPr id="76" name="TextBox 75"/>
          <p:cNvSpPr txBox="1"/>
          <p:nvPr/>
        </p:nvSpPr>
        <p:spPr>
          <a:xfrm>
            <a:off x="8366759" y="4992624"/>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TRL 4  </a:t>
            </a:r>
            <a:r>
              <a:rPr sz="1300" b="0" i="0">
                <a:solidFill>
                  <a:srgbClr val="55617A"/>
                </a:solidFill>
                <a:latin typeface="Times New Roman"/>
              </a:rPr>
              <a:t>Technology validated in a laboratory environment.</a:t>
            </a:r>
          </a:p>
        </p:txBody>
      </p:sp>
      <p:sp>
        <p:nvSpPr>
          <p:cNvPr id="77" name="TextBox 76"/>
          <p:cNvSpPr txBox="1"/>
          <p:nvPr/>
        </p:nvSpPr>
        <p:spPr>
          <a:xfrm>
            <a:off x="8366759" y="5376672"/>
            <a:ext cx="3236976" cy="365760"/>
          </a:xfrm>
          <a:prstGeom prst="rect">
            <a:avLst/>
          </a:prstGeom>
          <a:noFill/>
        </p:spPr>
        <p:txBody>
          <a:bodyPr wrap="square" lIns="0" rIns="0" tIns="0" bIns="0" anchor="t">
            <a:spAutoFit/>
          </a:bodyPr>
          <a:lstStyle/>
          <a:p>
            <a:pPr algn="l">
              <a:lnSpc>
                <a:spcPct val="102000"/>
              </a:lnSpc>
              <a:spcAft>
                <a:spcPts val="0"/>
              </a:spcAft>
            </a:pPr>
            <a:r>
              <a:rPr sz="1300" b="1" i="0">
                <a:solidFill>
                  <a:srgbClr val="1F2A44"/>
                </a:solidFill>
                <a:latin typeface="Times New Roman"/>
              </a:rPr>
              <a:t>Basis  </a:t>
            </a:r>
            <a:r>
              <a:rPr sz="1300" b="0" i="0">
                <a:solidFill>
                  <a:srgbClr val="55617A"/>
                </a:solidFill>
                <a:latin typeface="Times New Roman"/>
              </a:rPr>
              <a:t>Measured in simulation; no hardware deployment yet.</a:t>
            </a:r>
          </a:p>
        </p:txBody>
      </p:sp>
      <p:sp>
        <p:nvSpPr>
          <p:cNvPr id="78" name="Rounded Rectangle 77"/>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Confirm with guide:  </a:t>
            </a:r>
            <a:r>
              <a:rPr sz="1600" b="0" i="0">
                <a:solidFill>
                  <a:srgbClr val="1F2A44"/>
                </a:solidFill>
                <a:latin typeface="Times New Roman"/>
              </a:rPr>
              <a:t>the SDG mapping, outcome classification and the TRL 4 claim are proposed rather than agreed. TRL 5 would require deployment on physical gateway hardware.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07</a:t>
            </a:r>
            <a:r>
              <a:rPr sz="1550" b="0" i="0">
                <a:solidFill>
                  <a:srgbClr val="D7DEE9"/>
                </a:solidFill>
                <a:latin typeface="Times New Roman"/>
              </a:rPr>
              <a:t>   ·   </a:t>
            </a:r>
            <a:r>
              <a:rPr sz="1550" b="1" i="0">
                <a:solidFill>
                  <a:srgbClr val="55617A"/>
                </a:solidFill>
                <a:latin typeface="Times New Roman"/>
              </a:rPr>
              <a:t>SYSTEM DESIGN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Framework / Architecture / Block Diagram</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Closed-loop edge architecture  ·  every stage is an explicit operator action, nothing runs autonomously</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9 / 16</a:t>
            </a:r>
          </a:p>
        </p:txBody>
      </p:sp>
      <p:sp>
        <p:nvSpPr>
          <p:cNvPr id="10" name="Rounded Rectangle 9"/>
          <p:cNvSpPr/>
          <p:nvPr/>
        </p:nvSpPr>
        <p:spPr>
          <a:xfrm>
            <a:off x="630936" y="1499616"/>
            <a:ext cx="2011680" cy="391363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9808" y="1609344"/>
            <a:ext cx="1792224"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DEVICE PLANE</a:t>
            </a:r>
          </a:p>
        </p:txBody>
      </p:sp>
      <p:sp>
        <p:nvSpPr>
          <p:cNvPr id="12" name="Rounded Rectangle 11"/>
          <p:cNvSpPr/>
          <p:nvPr/>
        </p:nvSpPr>
        <p:spPr>
          <a:xfrm>
            <a:off x="749808" y="1883664"/>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59536" y="1947672"/>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Camera</a:t>
            </a:r>
          </a:p>
        </p:txBody>
      </p:sp>
      <p:sp>
        <p:nvSpPr>
          <p:cNvPr id="14" name="Rounded Rectangle 13"/>
          <p:cNvSpPr/>
          <p:nvPr/>
        </p:nvSpPr>
        <p:spPr>
          <a:xfrm>
            <a:off x="749808" y="2267712"/>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59536" y="2331720"/>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Bulb</a:t>
            </a:r>
          </a:p>
        </p:txBody>
      </p:sp>
      <p:sp>
        <p:nvSpPr>
          <p:cNvPr id="16" name="Rounded Rectangle 15"/>
          <p:cNvSpPr/>
          <p:nvPr/>
        </p:nvSpPr>
        <p:spPr>
          <a:xfrm>
            <a:off x="749808" y="2651760"/>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59536" y="2715768"/>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Plug</a:t>
            </a:r>
          </a:p>
        </p:txBody>
      </p:sp>
      <p:sp>
        <p:nvSpPr>
          <p:cNvPr id="18" name="Rounded Rectangle 17"/>
          <p:cNvSpPr/>
          <p:nvPr/>
        </p:nvSpPr>
        <p:spPr>
          <a:xfrm>
            <a:off x="749808" y="3035808"/>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59536" y="3099815"/>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Lock</a:t>
            </a:r>
          </a:p>
        </p:txBody>
      </p:sp>
      <p:sp>
        <p:nvSpPr>
          <p:cNvPr id="20" name="Rounded Rectangle 19"/>
          <p:cNvSpPr/>
          <p:nvPr/>
        </p:nvSpPr>
        <p:spPr>
          <a:xfrm>
            <a:off x="749808" y="3419856"/>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59536" y="3483863"/>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Temperature Sensor</a:t>
            </a:r>
          </a:p>
        </p:txBody>
      </p:sp>
      <p:sp>
        <p:nvSpPr>
          <p:cNvPr id="22" name="Rounded Rectangle 21"/>
          <p:cNvSpPr/>
          <p:nvPr/>
        </p:nvSpPr>
        <p:spPr>
          <a:xfrm>
            <a:off x="749808" y="3803904"/>
            <a:ext cx="1792224" cy="3108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59536" y="3867912"/>
            <a:ext cx="1645920" cy="219456"/>
          </a:xfrm>
          <a:prstGeom prst="rect">
            <a:avLst/>
          </a:prstGeom>
          <a:noFill/>
        </p:spPr>
        <p:txBody>
          <a:bodyPr wrap="square" lIns="0" rIns="0" tIns="0" bIns="0" anchor="t">
            <a:spAutoFit/>
          </a:bodyPr>
          <a:lstStyle/>
          <a:p>
            <a:pPr algn="l">
              <a:spcAft>
                <a:spcPts val="0"/>
              </a:spcAft>
            </a:pPr>
            <a:r>
              <a:rPr sz="1250" b="0" i="0">
                <a:solidFill>
                  <a:srgbClr val="1F2A44"/>
                </a:solidFill>
                <a:latin typeface="Times New Roman"/>
              </a:rPr>
              <a:t>Smart Speaker</a:t>
            </a:r>
          </a:p>
        </p:txBody>
      </p:sp>
      <p:sp>
        <p:nvSpPr>
          <p:cNvPr id="24" name="TextBox 23"/>
          <p:cNvSpPr txBox="1"/>
          <p:nvPr/>
        </p:nvSpPr>
        <p:spPr>
          <a:xfrm>
            <a:off x="749808" y="4261104"/>
            <a:ext cx="1792224" cy="182880"/>
          </a:xfrm>
          <a:prstGeom prst="rect">
            <a:avLst/>
          </a:prstGeom>
          <a:noFill/>
        </p:spPr>
        <p:txBody>
          <a:bodyPr wrap="square" lIns="0" rIns="0" tIns="0" bIns="0" anchor="t">
            <a:spAutoFit/>
          </a:bodyPr>
          <a:lstStyle/>
          <a:p>
            <a:pPr algn="l">
              <a:spcAft>
                <a:spcPts val="0"/>
              </a:spcAft>
            </a:pPr>
            <a:r>
              <a:rPr sz="1250" b="1" i="0">
                <a:solidFill>
                  <a:srgbClr val="55617A"/>
                </a:solidFill>
                <a:latin typeface="Times New Roman"/>
              </a:rPr>
              <a:t>16 telemetry features</a:t>
            </a:r>
          </a:p>
        </p:txBody>
      </p:sp>
      <p:sp>
        <p:nvSpPr>
          <p:cNvPr id="25" name="TextBox 24"/>
          <p:cNvSpPr txBox="1"/>
          <p:nvPr/>
        </p:nvSpPr>
        <p:spPr>
          <a:xfrm>
            <a:off x="749808" y="4480560"/>
            <a:ext cx="1792224" cy="841248"/>
          </a:xfrm>
          <a:prstGeom prst="rect">
            <a:avLst/>
          </a:prstGeom>
          <a:noFill/>
        </p:spPr>
        <p:txBody>
          <a:bodyPr wrap="square" lIns="0" rIns="0" tIns="0" bIns="0" anchor="t">
            <a:spAutoFit/>
          </a:bodyPr>
          <a:lstStyle/>
          <a:p>
            <a:pPr algn="l">
              <a:lnSpc>
                <a:spcPct val="106000"/>
              </a:lnSpc>
              <a:spcAft>
                <a:spcPts val="0"/>
              </a:spcAft>
            </a:pPr>
            <a:r>
              <a:rPr sz="1200" b="0" i="0">
                <a:solidFill>
                  <a:srgbClr val="55617A"/>
                </a:solidFill>
                <a:latin typeface="Times New Roman"/>
              </a:rPr>
              <a:t>CPU · memory · traffic · packet rate · connections · failed logins · ports · entropy · power</a:t>
            </a:r>
          </a:p>
        </p:txBody>
      </p:sp>
      <p:sp>
        <p:nvSpPr>
          <p:cNvPr id="26" name="TextBox 25"/>
          <p:cNvSpPr txBox="1"/>
          <p:nvPr/>
        </p:nvSpPr>
        <p:spPr>
          <a:xfrm>
            <a:off x="2688336" y="3291840"/>
            <a:ext cx="566928" cy="201168"/>
          </a:xfrm>
          <a:prstGeom prst="rect">
            <a:avLst/>
          </a:prstGeom>
          <a:noFill/>
        </p:spPr>
        <p:txBody>
          <a:bodyPr wrap="square" lIns="0" rIns="0" tIns="0" bIns="0" anchor="t">
            <a:spAutoFit/>
          </a:bodyPr>
          <a:lstStyle/>
          <a:p>
            <a:pPr algn="ctr">
              <a:spcAft>
                <a:spcPts val="0"/>
              </a:spcAft>
            </a:pPr>
            <a:r>
              <a:rPr sz="1150" b="0" i="0">
                <a:solidFill>
                  <a:srgbClr val="55617A"/>
                </a:solidFill>
                <a:latin typeface="Times New Roman"/>
              </a:rPr>
              <a:t>telemetry</a:t>
            </a:r>
          </a:p>
        </p:txBody>
      </p:sp>
      <p:sp>
        <p:nvSpPr>
          <p:cNvPr id="27" name="TextBox 26"/>
          <p:cNvSpPr txBox="1"/>
          <p:nvPr/>
        </p:nvSpPr>
        <p:spPr>
          <a:xfrm>
            <a:off x="2688336" y="3474720"/>
            <a:ext cx="566928" cy="201168"/>
          </a:xfrm>
          <a:prstGeom prst="rect">
            <a:avLst/>
          </a:prstGeom>
          <a:noFill/>
        </p:spPr>
        <p:txBody>
          <a:bodyPr wrap="square" lIns="0" rIns="0" tIns="0" bIns="0" anchor="t">
            <a:spAutoFit/>
          </a:bodyPr>
          <a:lstStyle/>
          <a:p>
            <a:pPr algn="ctr">
              <a:spcAft>
                <a:spcPts val="0"/>
              </a:spcAft>
            </a:pPr>
            <a:r>
              <a:rPr sz="1450" b="0" i="0">
                <a:solidFill>
                  <a:srgbClr val="0E8C79"/>
                </a:solidFill>
                <a:latin typeface="Times New Roman"/>
              </a:rPr>
              <a:t>▶</a:t>
            </a:r>
          </a:p>
        </p:txBody>
      </p:sp>
      <p:sp>
        <p:nvSpPr>
          <p:cNvPr id="28" name="Rounded Rectangle 27"/>
          <p:cNvSpPr/>
          <p:nvPr/>
        </p:nvSpPr>
        <p:spPr>
          <a:xfrm>
            <a:off x="3310128" y="1499616"/>
            <a:ext cx="4498848" cy="391363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310128" y="1499616"/>
            <a:ext cx="4498848"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38144" y="1627632"/>
            <a:ext cx="4242816"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EDGE GATEWAY  ·  ALL PROCESSING LOCAL</a:t>
            </a:r>
          </a:p>
        </p:txBody>
      </p:sp>
      <p:sp>
        <p:nvSpPr>
          <p:cNvPr id="31" name="Rounded Rectangle 30"/>
          <p:cNvSpPr/>
          <p:nvPr/>
        </p:nvSpPr>
        <p:spPr>
          <a:xfrm>
            <a:off x="3438144" y="1901952"/>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3547872" y="1975104"/>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547872" y="1993392"/>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a:t>
            </a:r>
          </a:p>
        </p:txBody>
      </p:sp>
      <p:sp>
        <p:nvSpPr>
          <p:cNvPr id="34" name="TextBox 33"/>
          <p:cNvSpPr txBox="1"/>
          <p:nvPr/>
        </p:nvSpPr>
        <p:spPr>
          <a:xfrm>
            <a:off x="4005072" y="1956816"/>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Telemetry Collector</a:t>
            </a:r>
          </a:p>
        </p:txBody>
      </p:sp>
      <p:sp>
        <p:nvSpPr>
          <p:cNvPr id="35" name="TextBox 34"/>
          <p:cNvSpPr txBox="1"/>
          <p:nvPr/>
        </p:nvSpPr>
        <p:spPr>
          <a:xfrm>
            <a:off x="4005072" y="2176272"/>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on-demand ticks; nothing is collected autonomously</a:t>
            </a:r>
          </a:p>
        </p:txBody>
      </p:sp>
      <p:sp>
        <p:nvSpPr>
          <p:cNvPr id="36" name="TextBox 35"/>
          <p:cNvSpPr txBox="1"/>
          <p:nvPr/>
        </p:nvSpPr>
        <p:spPr>
          <a:xfrm>
            <a:off x="5486400" y="2468880"/>
            <a:ext cx="274320" cy="128016"/>
          </a:xfrm>
          <a:prstGeom prst="rect">
            <a:avLst/>
          </a:prstGeom>
          <a:noFill/>
        </p:spPr>
        <p:txBody>
          <a:bodyPr wrap="square" lIns="0" rIns="0" tIns="0" bIns="0" anchor="t">
            <a:spAutoFit/>
          </a:bodyPr>
          <a:lstStyle/>
          <a:p>
            <a:pPr algn="ctr">
              <a:spcAft>
                <a:spcPts val="0"/>
              </a:spcAft>
            </a:pPr>
            <a:r>
              <a:rPr sz="1050" b="0" i="0">
                <a:solidFill>
                  <a:srgbClr val="0E8C79"/>
                </a:solidFill>
                <a:latin typeface="Times New Roman"/>
              </a:rPr>
              <a:t>▼</a:t>
            </a:r>
          </a:p>
        </p:txBody>
      </p:sp>
      <p:sp>
        <p:nvSpPr>
          <p:cNvPr id="37" name="Rounded Rectangle 36"/>
          <p:cNvSpPr/>
          <p:nvPr/>
        </p:nvSpPr>
        <p:spPr>
          <a:xfrm>
            <a:off x="3438144" y="2578608"/>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3547872" y="2651760"/>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47872" y="2670048"/>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M2</a:t>
            </a:r>
          </a:p>
        </p:txBody>
      </p:sp>
      <p:sp>
        <p:nvSpPr>
          <p:cNvPr id="40" name="TextBox 39"/>
          <p:cNvSpPr txBox="1"/>
          <p:nvPr/>
        </p:nvSpPr>
        <p:spPr>
          <a:xfrm>
            <a:off x="4005072" y="2633472"/>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Holographic Twin Layer</a:t>
            </a:r>
          </a:p>
        </p:txBody>
      </p:sp>
      <p:sp>
        <p:nvSpPr>
          <p:cNvPr id="41" name="TextBox 40"/>
          <p:cNvSpPr txBox="1"/>
          <p:nvPr/>
        </p:nvSpPr>
        <p:spPr>
          <a:xfrm>
            <a:off x="4005072" y="2852928"/>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five planes; refuses hostile observations into history</a:t>
            </a:r>
          </a:p>
        </p:txBody>
      </p:sp>
      <p:sp>
        <p:nvSpPr>
          <p:cNvPr id="42" name="TextBox 41"/>
          <p:cNvSpPr txBox="1"/>
          <p:nvPr/>
        </p:nvSpPr>
        <p:spPr>
          <a:xfrm>
            <a:off x="5486400" y="3145536"/>
            <a:ext cx="274320" cy="128016"/>
          </a:xfrm>
          <a:prstGeom prst="rect">
            <a:avLst/>
          </a:prstGeom>
          <a:noFill/>
        </p:spPr>
        <p:txBody>
          <a:bodyPr wrap="square" lIns="0" rIns="0" tIns="0" bIns="0" anchor="t">
            <a:spAutoFit/>
          </a:bodyPr>
          <a:lstStyle/>
          <a:p>
            <a:pPr algn="ctr">
              <a:spcAft>
                <a:spcPts val="0"/>
              </a:spcAft>
            </a:pPr>
            <a:r>
              <a:rPr sz="1050" b="0" i="0">
                <a:solidFill>
                  <a:srgbClr val="0E8C79"/>
                </a:solidFill>
                <a:latin typeface="Times New Roman"/>
              </a:rPr>
              <a:t>▼</a:t>
            </a:r>
          </a:p>
        </p:txBody>
      </p:sp>
      <p:sp>
        <p:nvSpPr>
          <p:cNvPr id="43" name="Rounded Rectangle 42"/>
          <p:cNvSpPr/>
          <p:nvPr/>
        </p:nvSpPr>
        <p:spPr>
          <a:xfrm>
            <a:off x="3438144" y="3255264"/>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3547872" y="3328416"/>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47872" y="3346704"/>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M3</a:t>
            </a:r>
          </a:p>
        </p:txBody>
      </p:sp>
      <p:sp>
        <p:nvSpPr>
          <p:cNvPr id="46" name="TextBox 45"/>
          <p:cNvSpPr txBox="1"/>
          <p:nvPr/>
        </p:nvSpPr>
        <p:spPr>
          <a:xfrm>
            <a:off x="4005072" y="3310128"/>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Counterfactual Future Bank</a:t>
            </a:r>
          </a:p>
        </p:txBody>
      </p:sp>
      <p:sp>
        <p:nvSpPr>
          <p:cNvPr id="47" name="TextBox 46"/>
          <p:cNvSpPr txBox="1"/>
          <p:nvPr/>
        </p:nvSpPr>
        <p:spPr>
          <a:xfrm>
            <a:off x="4005072" y="3529584"/>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20 futures x 5 ticks, benign + attack-conditioned</a:t>
            </a:r>
          </a:p>
        </p:txBody>
      </p:sp>
      <p:sp>
        <p:nvSpPr>
          <p:cNvPr id="48" name="TextBox 47"/>
          <p:cNvSpPr txBox="1"/>
          <p:nvPr/>
        </p:nvSpPr>
        <p:spPr>
          <a:xfrm>
            <a:off x="5486400" y="3822191"/>
            <a:ext cx="274320" cy="128016"/>
          </a:xfrm>
          <a:prstGeom prst="rect">
            <a:avLst/>
          </a:prstGeom>
          <a:noFill/>
        </p:spPr>
        <p:txBody>
          <a:bodyPr wrap="square" lIns="0" rIns="0" tIns="0" bIns="0" anchor="t">
            <a:spAutoFit/>
          </a:bodyPr>
          <a:lstStyle/>
          <a:p>
            <a:pPr algn="ctr">
              <a:spcAft>
                <a:spcPts val="0"/>
              </a:spcAft>
            </a:pPr>
            <a:r>
              <a:rPr sz="1050" b="0" i="0">
                <a:solidFill>
                  <a:srgbClr val="0E8C79"/>
                </a:solidFill>
                <a:latin typeface="Times New Roman"/>
              </a:rPr>
              <a:t>▼</a:t>
            </a:r>
          </a:p>
        </p:txBody>
      </p:sp>
      <p:sp>
        <p:nvSpPr>
          <p:cNvPr id="49" name="Rounded Rectangle 48"/>
          <p:cNvSpPr/>
          <p:nvPr/>
        </p:nvSpPr>
        <p:spPr>
          <a:xfrm>
            <a:off x="3438144" y="3931920"/>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3547872" y="4005072"/>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3547872" y="4023359"/>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M4</a:t>
            </a:r>
          </a:p>
        </p:txBody>
      </p:sp>
      <p:sp>
        <p:nvSpPr>
          <p:cNvPr id="52" name="TextBox 51"/>
          <p:cNvSpPr txBox="1"/>
          <p:nvPr/>
        </p:nvSpPr>
        <p:spPr>
          <a:xfrm>
            <a:off x="4005072" y="3986783"/>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Threat Detector</a:t>
            </a:r>
          </a:p>
        </p:txBody>
      </p:sp>
      <p:sp>
        <p:nvSpPr>
          <p:cNvPr id="53" name="TextBox 52"/>
          <p:cNvSpPr txBox="1"/>
          <p:nvPr/>
        </p:nvSpPr>
        <p:spPr>
          <a:xfrm>
            <a:off x="4005072" y="4206240"/>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random forest over 30 engineered features, 7 classes</a:t>
            </a:r>
          </a:p>
        </p:txBody>
      </p:sp>
      <p:sp>
        <p:nvSpPr>
          <p:cNvPr id="54" name="TextBox 53"/>
          <p:cNvSpPr txBox="1"/>
          <p:nvPr/>
        </p:nvSpPr>
        <p:spPr>
          <a:xfrm>
            <a:off x="5486400" y="4498848"/>
            <a:ext cx="274320" cy="128016"/>
          </a:xfrm>
          <a:prstGeom prst="rect">
            <a:avLst/>
          </a:prstGeom>
          <a:noFill/>
        </p:spPr>
        <p:txBody>
          <a:bodyPr wrap="square" lIns="0" rIns="0" tIns="0" bIns="0" anchor="t">
            <a:spAutoFit/>
          </a:bodyPr>
          <a:lstStyle/>
          <a:p>
            <a:pPr algn="ctr">
              <a:spcAft>
                <a:spcPts val="0"/>
              </a:spcAft>
            </a:pPr>
            <a:r>
              <a:rPr sz="1050" b="0" i="0">
                <a:solidFill>
                  <a:srgbClr val="0E8C79"/>
                </a:solidFill>
                <a:latin typeface="Times New Roman"/>
              </a:rPr>
              <a:t>▼</a:t>
            </a:r>
          </a:p>
        </p:txBody>
      </p:sp>
      <p:sp>
        <p:nvSpPr>
          <p:cNvPr id="55" name="Rounded Rectangle 54"/>
          <p:cNvSpPr/>
          <p:nvPr/>
        </p:nvSpPr>
        <p:spPr>
          <a:xfrm>
            <a:off x="3438144" y="4608576"/>
            <a:ext cx="4242816" cy="56692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3547872" y="4681728"/>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3547872" y="4700016"/>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M5</a:t>
            </a:r>
          </a:p>
        </p:txBody>
      </p:sp>
      <p:sp>
        <p:nvSpPr>
          <p:cNvPr id="58" name="TextBox 57"/>
          <p:cNvSpPr txBox="1"/>
          <p:nvPr/>
        </p:nvSpPr>
        <p:spPr>
          <a:xfrm>
            <a:off x="4005072" y="4663440"/>
            <a:ext cx="3602736" cy="219456"/>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CCS Validation Gate</a:t>
            </a:r>
          </a:p>
        </p:txBody>
      </p:sp>
      <p:sp>
        <p:nvSpPr>
          <p:cNvPr id="59" name="TextBox 58"/>
          <p:cNvSpPr txBox="1"/>
          <p:nvPr/>
        </p:nvSpPr>
        <p:spPr>
          <a:xfrm>
            <a:off x="4005072" y="4882896"/>
            <a:ext cx="3602736" cy="237744"/>
          </a:xfrm>
          <a:prstGeom prst="rect">
            <a:avLst/>
          </a:prstGeom>
          <a:noFill/>
        </p:spPr>
        <p:txBody>
          <a:bodyPr wrap="square" lIns="0" rIns="0" tIns="0" bIns="0" anchor="t">
            <a:spAutoFit/>
          </a:bodyPr>
          <a:lstStyle/>
          <a:p>
            <a:pPr algn="l">
              <a:spcAft>
                <a:spcPts val="0"/>
              </a:spcAft>
            </a:pPr>
            <a:r>
              <a:rPr sz="1200" b="0" i="0">
                <a:solidFill>
                  <a:srgbClr val="55617A"/>
                </a:solidFill>
                <a:latin typeface="Times New Roman"/>
              </a:rPr>
              <a:t>six components; threshold calibrated on honest traffic</a:t>
            </a:r>
          </a:p>
        </p:txBody>
      </p:sp>
      <p:sp>
        <p:nvSpPr>
          <p:cNvPr id="60" name="TextBox 59"/>
          <p:cNvSpPr txBox="1"/>
          <p:nvPr/>
        </p:nvSpPr>
        <p:spPr>
          <a:xfrm>
            <a:off x="3438144" y="5230368"/>
            <a:ext cx="4242816" cy="201168"/>
          </a:xfrm>
          <a:prstGeom prst="rect">
            <a:avLst/>
          </a:prstGeom>
          <a:noFill/>
        </p:spPr>
        <p:txBody>
          <a:bodyPr wrap="square" lIns="0" rIns="0" tIns="0" bIns="0" anchor="t">
            <a:spAutoFit/>
          </a:bodyPr>
          <a:lstStyle/>
          <a:p>
            <a:pPr algn="ctr">
              <a:spcAft>
                <a:spcPts val="0"/>
              </a:spcAft>
            </a:pPr>
            <a:r>
              <a:rPr sz="1200" b="0" i="1">
                <a:solidFill>
                  <a:srgbClr val="55617A"/>
                </a:solidFill>
                <a:latin typeface="Times New Roman"/>
              </a:rPr>
              <a:t>No cloud dependency — the update channel is never trusted</a:t>
            </a:r>
          </a:p>
        </p:txBody>
      </p:sp>
      <p:sp>
        <p:nvSpPr>
          <p:cNvPr id="61" name="TextBox 60"/>
          <p:cNvSpPr txBox="1"/>
          <p:nvPr/>
        </p:nvSpPr>
        <p:spPr>
          <a:xfrm>
            <a:off x="7845552" y="3291840"/>
            <a:ext cx="566928" cy="201168"/>
          </a:xfrm>
          <a:prstGeom prst="rect">
            <a:avLst/>
          </a:prstGeom>
          <a:noFill/>
        </p:spPr>
        <p:txBody>
          <a:bodyPr wrap="square" lIns="0" rIns="0" tIns="0" bIns="0" anchor="t">
            <a:spAutoFit/>
          </a:bodyPr>
          <a:lstStyle/>
          <a:p>
            <a:pPr algn="ctr">
              <a:spcAft>
                <a:spcPts val="0"/>
              </a:spcAft>
            </a:pPr>
            <a:r>
              <a:rPr sz="1150" b="0" i="0">
                <a:solidFill>
                  <a:srgbClr val="55617A"/>
                </a:solidFill>
                <a:latin typeface="Times New Roman"/>
              </a:rPr>
              <a:t>verdict</a:t>
            </a:r>
          </a:p>
        </p:txBody>
      </p:sp>
      <p:sp>
        <p:nvSpPr>
          <p:cNvPr id="62" name="TextBox 61"/>
          <p:cNvSpPr txBox="1"/>
          <p:nvPr/>
        </p:nvSpPr>
        <p:spPr>
          <a:xfrm>
            <a:off x="7845552" y="3474720"/>
            <a:ext cx="566928" cy="201168"/>
          </a:xfrm>
          <a:prstGeom prst="rect">
            <a:avLst/>
          </a:prstGeom>
          <a:noFill/>
        </p:spPr>
        <p:txBody>
          <a:bodyPr wrap="square" lIns="0" rIns="0" tIns="0" bIns="0" anchor="t">
            <a:spAutoFit/>
          </a:bodyPr>
          <a:lstStyle/>
          <a:p>
            <a:pPr algn="ctr">
              <a:spcAft>
                <a:spcPts val="0"/>
              </a:spcAft>
            </a:pPr>
            <a:r>
              <a:rPr sz="1450" b="0" i="0">
                <a:solidFill>
                  <a:srgbClr val="0E8C79"/>
                </a:solidFill>
                <a:latin typeface="Times New Roman"/>
              </a:rPr>
              <a:t>▶</a:t>
            </a:r>
          </a:p>
        </p:txBody>
      </p:sp>
      <p:sp>
        <p:nvSpPr>
          <p:cNvPr id="63" name="Rounded Rectangle 62"/>
          <p:cNvSpPr/>
          <p:nvPr/>
        </p:nvSpPr>
        <p:spPr>
          <a:xfrm>
            <a:off x="8467344" y="1499616"/>
            <a:ext cx="3090672" cy="3913632"/>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595360" y="1627632"/>
            <a:ext cx="283464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DECISION &amp; RECOVERY</a:t>
            </a:r>
          </a:p>
        </p:txBody>
      </p:sp>
      <p:sp>
        <p:nvSpPr>
          <p:cNvPr id="65" name="Rounded Rectangle 64"/>
          <p:cNvSpPr/>
          <p:nvPr/>
        </p:nvSpPr>
        <p:spPr>
          <a:xfrm>
            <a:off x="8595360" y="1901952"/>
            <a:ext cx="1353312" cy="51206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8595360" y="1975104"/>
            <a:ext cx="1353312" cy="201168"/>
          </a:xfrm>
          <a:prstGeom prst="rect">
            <a:avLst/>
          </a:prstGeom>
          <a:noFill/>
        </p:spPr>
        <p:txBody>
          <a:bodyPr wrap="square" lIns="0" rIns="0" tIns="0" bIns="0" anchor="t">
            <a:spAutoFit/>
          </a:bodyPr>
          <a:lstStyle/>
          <a:p>
            <a:pPr algn="ctr">
              <a:spcAft>
                <a:spcPts val="0"/>
              </a:spcAft>
            </a:pPr>
            <a:r>
              <a:rPr sz="1250" b="1" i="0">
                <a:solidFill>
                  <a:srgbClr val="0E8C79"/>
                </a:solidFill>
                <a:latin typeface="Times New Roman"/>
              </a:rPr>
              <a:t>SAFE</a:t>
            </a:r>
          </a:p>
        </p:txBody>
      </p:sp>
      <p:sp>
        <p:nvSpPr>
          <p:cNvPr id="67" name="TextBox 66"/>
          <p:cNvSpPr txBox="1"/>
          <p:nvPr/>
        </p:nvSpPr>
        <p:spPr>
          <a:xfrm>
            <a:off x="8595360" y="2176272"/>
            <a:ext cx="1353312" cy="201168"/>
          </a:xfrm>
          <a:prstGeom prst="rect">
            <a:avLst/>
          </a:prstGeom>
          <a:noFill/>
        </p:spPr>
        <p:txBody>
          <a:bodyPr wrap="square" lIns="0" rIns="0" tIns="0" bIns="0" anchor="t">
            <a:spAutoFit/>
          </a:bodyPr>
          <a:lstStyle/>
          <a:p>
            <a:pPr algn="ctr">
              <a:spcAft>
                <a:spcPts val="0"/>
              </a:spcAft>
            </a:pPr>
            <a:r>
              <a:rPr sz="1200" b="0" i="0">
                <a:solidFill>
                  <a:srgbClr val="55617A"/>
                </a:solidFill>
                <a:latin typeface="Times New Roman"/>
              </a:rPr>
              <a:t>safe pool</a:t>
            </a:r>
          </a:p>
        </p:txBody>
      </p:sp>
      <p:sp>
        <p:nvSpPr>
          <p:cNvPr id="68" name="Rounded Rectangle 67"/>
          <p:cNvSpPr/>
          <p:nvPr/>
        </p:nvSpPr>
        <p:spPr>
          <a:xfrm>
            <a:off x="10076688" y="1901952"/>
            <a:ext cx="1353312" cy="51206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10076688" y="1975104"/>
            <a:ext cx="1353312" cy="201168"/>
          </a:xfrm>
          <a:prstGeom prst="rect">
            <a:avLst/>
          </a:prstGeom>
          <a:noFill/>
        </p:spPr>
        <p:txBody>
          <a:bodyPr wrap="square" lIns="0" rIns="0" tIns="0" bIns="0" anchor="t">
            <a:spAutoFit/>
          </a:bodyPr>
          <a:lstStyle/>
          <a:p>
            <a:pPr algn="ctr">
              <a:spcAft>
                <a:spcPts val="0"/>
              </a:spcAft>
            </a:pPr>
            <a:r>
              <a:rPr sz="1250" b="1" i="0">
                <a:solidFill>
                  <a:srgbClr val="C0392B"/>
                </a:solidFill>
                <a:latin typeface="Times New Roman"/>
              </a:rPr>
              <a:t>SUSPICIOUS</a:t>
            </a:r>
          </a:p>
        </p:txBody>
      </p:sp>
      <p:sp>
        <p:nvSpPr>
          <p:cNvPr id="70" name="TextBox 69"/>
          <p:cNvSpPr txBox="1"/>
          <p:nvPr/>
        </p:nvSpPr>
        <p:spPr>
          <a:xfrm>
            <a:off x="10076688" y="2176272"/>
            <a:ext cx="1353312" cy="201168"/>
          </a:xfrm>
          <a:prstGeom prst="rect">
            <a:avLst/>
          </a:prstGeom>
          <a:noFill/>
        </p:spPr>
        <p:txBody>
          <a:bodyPr wrap="square" lIns="0" rIns="0" tIns="0" bIns="0" anchor="t">
            <a:spAutoFit/>
          </a:bodyPr>
          <a:lstStyle/>
          <a:p>
            <a:pPr algn="ctr">
              <a:spcAft>
                <a:spcPts val="0"/>
              </a:spcAft>
            </a:pPr>
            <a:r>
              <a:rPr sz="1200" b="0" i="0">
                <a:solidFill>
                  <a:srgbClr val="55617A"/>
                </a:solidFill>
                <a:latin typeface="Times New Roman"/>
              </a:rPr>
              <a:t>quarantine</a:t>
            </a:r>
          </a:p>
        </p:txBody>
      </p:sp>
      <p:sp>
        <p:nvSpPr>
          <p:cNvPr id="71" name="Rounded Rectangle 70"/>
          <p:cNvSpPr/>
          <p:nvPr/>
        </p:nvSpPr>
        <p:spPr>
          <a:xfrm>
            <a:off x="8595360" y="2596896"/>
            <a:ext cx="2834640" cy="60350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ounded Rectangle 71"/>
          <p:cNvSpPr/>
          <p:nvPr/>
        </p:nvSpPr>
        <p:spPr>
          <a:xfrm>
            <a:off x="8705088" y="2679191"/>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8705088" y="2697479"/>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M6</a:t>
            </a:r>
          </a:p>
        </p:txBody>
      </p:sp>
      <p:sp>
        <p:nvSpPr>
          <p:cNvPr id="74" name="TextBox 73"/>
          <p:cNvSpPr txBox="1"/>
          <p:nvPr/>
        </p:nvSpPr>
        <p:spPr>
          <a:xfrm>
            <a:off x="9162288" y="2660903"/>
            <a:ext cx="2176272"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Predictive Immunization</a:t>
            </a:r>
          </a:p>
        </p:txBody>
      </p:sp>
      <p:sp>
        <p:nvSpPr>
          <p:cNvPr id="75" name="TextBox 74"/>
          <p:cNvSpPr txBox="1"/>
          <p:nvPr/>
        </p:nvSpPr>
        <p:spPr>
          <a:xfrm>
            <a:off x="9162288" y="2880360"/>
            <a:ext cx="2176272" cy="274320"/>
          </a:xfrm>
          <a:prstGeom prst="rect">
            <a:avLst/>
          </a:prstGeom>
          <a:noFill/>
        </p:spPr>
        <p:txBody>
          <a:bodyPr wrap="square" lIns="0" rIns="0" tIns="0" bIns="0" anchor="t">
            <a:spAutoFit/>
          </a:bodyPr>
          <a:lstStyle/>
          <a:p>
            <a:pPr algn="l">
              <a:lnSpc>
                <a:spcPct val="100000"/>
              </a:lnSpc>
              <a:spcAft>
                <a:spcPts val="0"/>
              </a:spcAft>
            </a:pPr>
            <a:r>
              <a:rPr sz="1200" b="0" i="0">
                <a:solidFill>
                  <a:srgbClr val="55617A"/>
                </a:solidFill>
                <a:latin typeface="Times New Roman"/>
              </a:rPr>
              <a:t>vaccines synthesised from committed futures</a:t>
            </a:r>
          </a:p>
        </p:txBody>
      </p:sp>
      <p:sp>
        <p:nvSpPr>
          <p:cNvPr id="76" name="Rounded Rectangle 75"/>
          <p:cNvSpPr/>
          <p:nvPr/>
        </p:nvSpPr>
        <p:spPr>
          <a:xfrm>
            <a:off x="8595360" y="3310128"/>
            <a:ext cx="2834640" cy="60350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ounded Rectangle 76"/>
          <p:cNvSpPr/>
          <p:nvPr/>
        </p:nvSpPr>
        <p:spPr>
          <a:xfrm>
            <a:off x="8705088" y="3392424"/>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8705088" y="3410712"/>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M7</a:t>
            </a:r>
          </a:p>
        </p:txBody>
      </p:sp>
      <p:sp>
        <p:nvSpPr>
          <p:cNvPr id="79" name="TextBox 78"/>
          <p:cNvSpPr txBox="1"/>
          <p:nvPr/>
        </p:nvSpPr>
        <p:spPr>
          <a:xfrm>
            <a:off x="9162288" y="3374136"/>
            <a:ext cx="2176272"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Secure Retraining</a:t>
            </a:r>
          </a:p>
        </p:txBody>
      </p:sp>
      <p:sp>
        <p:nvSpPr>
          <p:cNvPr id="80" name="TextBox 79"/>
          <p:cNvSpPr txBox="1"/>
          <p:nvPr/>
        </p:nvSpPr>
        <p:spPr>
          <a:xfrm>
            <a:off x="9162288" y="3593592"/>
            <a:ext cx="2176272" cy="274320"/>
          </a:xfrm>
          <a:prstGeom prst="rect">
            <a:avLst/>
          </a:prstGeom>
          <a:noFill/>
        </p:spPr>
        <p:txBody>
          <a:bodyPr wrap="square" lIns="0" rIns="0" tIns="0" bIns="0" anchor="t">
            <a:spAutoFit/>
          </a:bodyPr>
          <a:lstStyle/>
          <a:p>
            <a:pPr algn="l">
              <a:lnSpc>
                <a:spcPct val="100000"/>
              </a:lnSpc>
              <a:spcAft>
                <a:spcPts val="0"/>
              </a:spcAft>
            </a:pPr>
            <a:r>
              <a:rPr sz="1200" b="0" i="0">
                <a:solidFill>
                  <a:srgbClr val="55617A"/>
                </a:solidFill>
                <a:latin typeface="Times New Roman"/>
              </a:rPr>
              <a:t>four promotion gates; candidate discarded on failure</a:t>
            </a:r>
          </a:p>
        </p:txBody>
      </p:sp>
      <p:sp>
        <p:nvSpPr>
          <p:cNvPr id="81" name="Rounded Rectangle 80"/>
          <p:cNvSpPr/>
          <p:nvPr/>
        </p:nvSpPr>
        <p:spPr>
          <a:xfrm>
            <a:off x="8595360" y="4023360"/>
            <a:ext cx="2834640" cy="60350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ounded Rectangle 81"/>
          <p:cNvSpPr/>
          <p:nvPr/>
        </p:nvSpPr>
        <p:spPr>
          <a:xfrm>
            <a:off x="8705088" y="4105656"/>
            <a:ext cx="365760"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8705088" y="4123944"/>
            <a:ext cx="365760"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M8</a:t>
            </a:r>
          </a:p>
        </p:txBody>
      </p:sp>
      <p:sp>
        <p:nvSpPr>
          <p:cNvPr id="84" name="TextBox 83"/>
          <p:cNvSpPr txBox="1"/>
          <p:nvPr/>
        </p:nvSpPr>
        <p:spPr>
          <a:xfrm>
            <a:off x="9162288" y="4087368"/>
            <a:ext cx="2176272"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Self-Healing Controller</a:t>
            </a:r>
          </a:p>
        </p:txBody>
      </p:sp>
      <p:sp>
        <p:nvSpPr>
          <p:cNvPr id="85" name="TextBox 84"/>
          <p:cNvSpPr txBox="1"/>
          <p:nvPr/>
        </p:nvSpPr>
        <p:spPr>
          <a:xfrm>
            <a:off x="9162288" y="4306824"/>
            <a:ext cx="2176272" cy="274320"/>
          </a:xfrm>
          <a:prstGeom prst="rect">
            <a:avLst/>
          </a:prstGeom>
          <a:noFill/>
        </p:spPr>
        <p:txBody>
          <a:bodyPr wrap="square" lIns="0" rIns="0" tIns="0" bIns="0" anchor="t">
            <a:spAutoFit/>
          </a:bodyPr>
          <a:lstStyle/>
          <a:p>
            <a:pPr algn="l">
              <a:lnSpc>
                <a:spcPct val="100000"/>
              </a:lnSpc>
              <a:spcAft>
                <a:spcPts val="0"/>
              </a:spcAft>
            </a:pPr>
            <a:r>
              <a:rPr sz="1200" b="0" i="0">
                <a:solidFill>
                  <a:srgbClr val="55617A"/>
                </a:solidFill>
                <a:latin typeface="Times New Roman"/>
              </a:rPr>
              <a:t>rollback to last trusted model, purge by provenance</a:t>
            </a:r>
          </a:p>
        </p:txBody>
      </p:sp>
      <p:sp>
        <p:nvSpPr>
          <p:cNvPr id="86" name="Rounded Rectangle 85"/>
          <p:cNvSpPr/>
          <p:nvPr/>
        </p:nvSpPr>
        <p:spPr>
          <a:xfrm>
            <a:off x="8595360" y="4754880"/>
            <a:ext cx="2834640" cy="512064"/>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8705088" y="4828032"/>
            <a:ext cx="2615184" cy="384048"/>
          </a:xfrm>
          <a:prstGeom prst="rect">
            <a:avLst/>
          </a:prstGeom>
          <a:noFill/>
        </p:spPr>
        <p:txBody>
          <a:bodyPr wrap="square" lIns="0" rIns="0" tIns="0" bIns="0" anchor="t">
            <a:spAutoFit/>
          </a:bodyPr>
          <a:lstStyle/>
          <a:p>
            <a:pPr algn="ctr">
              <a:lnSpc>
                <a:spcPct val="100000"/>
              </a:lnSpc>
              <a:spcAft>
                <a:spcPts val="0"/>
              </a:spcAft>
            </a:pPr>
            <a:r>
              <a:rPr sz="1250" b="1" i="0">
                <a:solidFill>
                  <a:srgbClr val="FFFFFF"/>
                </a:solidFill>
                <a:latin typeface="Times New Roman"/>
              </a:rPr>
              <a:t>Trusted model returned to M4</a:t>
            </a:r>
          </a:p>
        </p:txBody>
      </p:sp>
      <p:sp>
        <p:nvSpPr>
          <p:cNvPr id="88" name="Rounded Rectangle 87"/>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Closed loop:  </a:t>
            </a:r>
            <a:r>
              <a:rPr sz="1600" b="0" i="0">
                <a:solidFill>
                  <a:srgbClr val="1F2A44"/>
                </a:solidFill>
                <a:latin typeface="Times New Roman"/>
              </a:rPr>
              <a:t>the retrained model feeds back into detection, and the twins' futures feed forward into the next validation — so the defence improves from its own operation rather than from an external attack feed.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07</a:t>
            </a:r>
            <a:r>
              <a:rPr sz="1550" b="0" i="0">
                <a:solidFill>
                  <a:srgbClr val="D7DEE9"/>
                </a:solidFill>
                <a:latin typeface="Times New Roman"/>
              </a:rPr>
              <a:t>   ·   </a:t>
            </a:r>
            <a:r>
              <a:rPr sz="1550" b="1" i="0">
                <a:solidFill>
                  <a:srgbClr val="55617A"/>
                </a:solidFill>
                <a:latin typeface="Times New Roman"/>
              </a:rPr>
              <a:t>SYSTEM DESIGN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Block Diagram — The Validation Loop</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Two inbound paths, one decision point, and a loop that closes back on the audit bank</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10 / 16</a:t>
            </a:r>
          </a:p>
        </p:txBody>
      </p:sp>
      <p:sp>
        <p:nvSpPr>
          <p:cNvPr id="10" name="TextBox 9"/>
          <p:cNvSpPr txBox="1"/>
          <p:nvPr/>
        </p:nvSpPr>
        <p:spPr>
          <a:xfrm>
            <a:off x="630936" y="1298448"/>
            <a:ext cx="4572000" cy="182880"/>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TELEMETRY PATH</a:t>
            </a:r>
          </a:p>
        </p:txBody>
      </p:sp>
      <p:sp>
        <p:nvSpPr>
          <p:cNvPr id="11" name="Rounded Rectangle 10"/>
          <p:cNvSpPr/>
          <p:nvPr/>
        </p:nvSpPr>
        <p:spPr>
          <a:xfrm>
            <a:off x="630936" y="1499616"/>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30936" y="1499616"/>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1600200"/>
            <a:ext cx="2304287"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IoT Fleet</a:t>
            </a:r>
          </a:p>
        </p:txBody>
      </p:sp>
      <p:sp>
        <p:nvSpPr>
          <p:cNvPr id="14" name="TextBox 13"/>
          <p:cNvSpPr txBox="1"/>
          <p:nvPr/>
        </p:nvSpPr>
        <p:spPr>
          <a:xfrm>
            <a:off x="758952" y="1865376"/>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six consumer device types  ·  16 telemetry features per tick</a:t>
            </a:r>
          </a:p>
        </p:txBody>
      </p:sp>
      <p:sp>
        <p:nvSpPr>
          <p:cNvPr id="15" name="Right Arrow 14"/>
          <p:cNvSpPr/>
          <p:nvPr/>
        </p:nvSpPr>
        <p:spPr>
          <a:xfrm>
            <a:off x="3209544" y="1773936"/>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19856" y="1499616"/>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419856" y="1499616"/>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9584" y="1609343"/>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29584" y="1627631"/>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a:t>
            </a:r>
          </a:p>
        </p:txBody>
      </p:sp>
      <p:sp>
        <p:nvSpPr>
          <p:cNvPr id="20" name="TextBox 19"/>
          <p:cNvSpPr txBox="1"/>
          <p:nvPr/>
        </p:nvSpPr>
        <p:spPr>
          <a:xfrm>
            <a:off x="3986784" y="1600200"/>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Edge Gateway</a:t>
            </a:r>
          </a:p>
        </p:txBody>
      </p:sp>
      <p:sp>
        <p:nvSpPr>
          <p:cNvPr id="21" name="TextBox 20"/>
          <p:cNvSpPr txBox="1"/>
          <p:nvPr/>
        </p:nvSpPr>
        <p:spPr>
          <a:xfrm>
            <a:off x="3547872" y="1865376"/>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collects only when asked  ·  nothing leaves the local network</a:t>
            </a:r>
          </a:p>
        </p:txBody>
      </p:sp>
      <p:sp>
        <p:nvSpPr>
          <p:cNvPr id="22" name="Right Arrow 21"/>
          <p:cNvSpPr/>
          <p:nvPr/>
        </p:nvSpPr>
        <p:spPr>
          <a:xfrm>
            <a:off x="5998464" y="1773936"/>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08776" y="1499616"/>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08776" y="1499616"/>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18504" y="1609343"/>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18504" y="1627631"/>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M2</a:t>
            </a:r>
          </a:p>
        </p:txBody>
      </p:sp>
      <p:sp>
        <p:nvSpPr>
          <p:cNvPr id="27" name="TextBox 26"/>
          <p:cNvSpPr txBox="1"/>
          <p:nvPr/>
        </p:nvSpPr>
        <p:spPr>
          <a:xfrm>
            <a:off x="6775704" y="1600200"/>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Holographic Twins</a:t>
            </a:r>
          </a:p>
        </p:txBody>
      </p:sp>
      <p:sp>
        <p:nvSpPr>
          <p:cNvPr id="28" name="TextBox 27"/>
          <p:cNvSpPr txBox="1"/>
          <p:nvPr/>
        </p:nvSpPr>
        <p:spPr>
          <a:xfrm>
            <a:off x="6336792" y="1865376"/>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five behavioural planes  ·  hostile observations refused entry</a:t>
            </a:r>
          </a:p>
        </p:txBody>
      </p:sp>
      <p:sp>
        <p:nvSpPr>
          <p:cNvPr id="29" name="Right Arrow 28"/>
          <p:cNvSpPr/>
          <p:nvPr/>
        </p:nvSpPr>
        <p:spPr>
          <a:xfrm>
            <a:off x="8787384" y="1773936"/>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997696" y="1499616"/>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997696" y="1499616"/>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07424" y="1609343"/>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07424" y="1627631"/>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M3</a:t>
            </a:r>
          </a:p>
        </p:txBody>
      </p:sp>
      <p:sp>
        <p:nvSpPr>
          <p:cNvPr id="34" name="TextBox 33"/>
          <p:cNvSpPr txBox="1"/>
          <p:nvPr/>
        </p:nvSpPr>
        <p:spPr>
          <a:xfrm>
            <a:off x="9564624" y="1600200"/>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Counterfactual Audit Bank</a:t>
            </a:r>
          </a:p>
        </p:txBody>
      </p:sp>
      <p:sp>
        <p:nvSpPr>
          <p:cNvPr id="35" name="TextBox 34"/>
          <p:cNvSpPr txBox="1"/>
          <p:nvPr/>
        </p:nvSpPr>
        <p:spPr>
          <a:xfrm>
            <a:off x="9125712" y="1865376"/>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20 futures x 5 ticks  ·  half benign, half attack-conditioned</a:t>
            </a:r>
          </a:p>
        </p:txBody>
      </p:sp>
      <p:sp>
        <p:nvSpPr>
          <p:cNvPr id="36" name="TextBox 35"/>
          <p:cNvSpPr txBox="1"/>
          <p:nvPr/>
        </p:nvSpPr>
        <p:spPr>
          <a:xfrm>
            <a:off x="630936" y="2505456"/>
            <a:ext cx="4572000" cy="182880"/>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RETRAINING-UPDATE PATH</a:t>
            </a:r>
          </a:p>
        </p:txBody>
      </p:sp>
      <p:sp>
        <p:nvSpPr>
          <p:cNvPr id="37" name="Rounded Rectangle 36"/>
          <p:cNvSpPr/>
          <p:nvPr/>
        </p:nvSpPr>
        <p:spPr>
          <a:xfrm>
            <a:off x="630936" y="2706624"/>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30936" y="2706624"/>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 y="2807208"/>
            <a:ext cx="2304287"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Incoming Update</a:t>
            </a:r>
          </a:p>
        </p:txBody>
      </p:sp>
      <p:sp>
        <p:nvSpPr>
          <p:cNvPr id="40" name="TextBox 39"/>
          <p:cNvSpPr txBox="1"/>
          <p:nvPr/>
        </p:nvSpPr>
        <p:spPr>
          <a:xfrm>
            <a:off x="758952" y="3072384"/>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from a device, hub or vendor cloud  ·  any may be hostile</a:t>
            </a:r>
          </a:p>
        </p:txBody>
      </p:sp>
      <p:sp>
        <p:nvSpPr>
          <p:cNvPr id="41" name="Right Arrow 40"/>
          <p:cNvSpPr/>
          <p:nvPr/>
        </p:nvSpPr>
        <p:spPr>
          <a:xfrm>
            <a:off x="3209544" y="2980944"/>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419856" y="2706624"/>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419856" y="2706624"/>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529584" y="2816352"/>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29584" y="2834640"/>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M4</a:t>
            </a:r>
          </a:p>
        </p:txBody>
      </p:sp>
      <p:sp>
        <p:nvSpPr>
          <p:cNvPr id="46" name="TextBox 45"/>
          <p:cNvSpPr txBox="1"/>
          <p:nvPr/>
        </p:nvSpPr>
        <p:spPr>
          <a:xfrm>
            <a:off x="3986784" y="2807208"/>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Graft onto Trusted Core</a:t>
            </a:r>
          </a:p>
        </p:txBody>
      </p:sp>
      <p:sp>
        <p:nvSpPr>
          <p:cNvPr id="47" name="TextBox 46"/>
          <p:cNvSpPr txBox="1"/>
          <p:nvPr/>
        </p:nvSpPr>
        <p:spPr>
          <a:xfrm>
            <a:off x="3547872" y="3072384"/>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1,100 reference rows  ·  update weighted to a realistic share</a:t>
            </a:r>
          </a:p>
        </p:txBody>
      </p:sp>
      <p:sp>
        <p:nvSpPr>
          <p:cNvPr id="48" name="Right Arrow 47"/>
          <p:cNvSpPr/>
          <p:nvPr/>
        </p:nvSpPr>
        <p:spPr>
          <a:xfrm>
            <a:off x="5998464" y="2980944"/>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208776" y="2706624"/>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6208776" y="2706624"/>
            <a:ext cx="256032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318504" y="2816352"/>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318504" y="2834640"/>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M5</a:t>
            </a:r>
          </a:p>
        </p:txBody>
      </p:sp>
      <p:sp>
        <p:nvSpPr>
          <p:cNvPr id="53" name="TextBox 52"/>
          <p:cNvSpPr txBox="1"/>
          <p:nvPr/>
        </p:nvSpPr>
        <p:spPr>
          <a:xfrm>
            <a:off x="6775704" y="2807208"/>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Train Shadow Model</a:t>
            </a:r>
          </a:p>
        </p:txBody>
      </p:sp>
      <p:sp>
        <p:nvSpPr>
          <p:cNvPr id="54" name="TextBox 53"/>
          <p:cNvSpPr txBox="1"/>
          <p:nvPr/>
        </p:nvSpPr>
        <p:spPr>
          <a:xfrm>
            <a:off x="6336792" y="3072384"/>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a what-if model: what this update would actually produce</a:t>
            </a:r>
          </a:p>
        </p:txBody>
      </p:sp>
      <p:sp>
        <p:nvSpPr>
          <p:cNvPr id="55" name="Right Arrow 54"/>
          <p:cNvSpPr/>
          <p:nvPr/>
        </p:nvSpPr>
        <p:spPr>
          <a:xfrm>
            <a:off x="8787384" y="2980944"/>
            <a:ext cx="192024" cy="219456"/>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997696" y="2706624"/>
            <a:ext cx="256032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8997696" y="2706624"/>
            <a:ext cx="2560320" cy="36576"/>
          </a:xfrm>
          <a:prstGeom prst="rect">
            <a:avLst/>
          </a:prstGeom>
          <a:solidFill>
            <a:srgbClr val="B87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107424" y="2816352"/>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9107424" y="2834640"/>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M6</a:t>
            </a:r>
          </a:p>
        </p:txBody>
      </p:sp>
      <p:sp>
        <p:nvSpPr>
          <p:cNvPr id="60" name="TextBox 59"/>
          <p:cNvSpPr txBox="1"/>
          <p:nvPr/>
        </p:nvSpPr>
        <p:spPr>
          <a:xfrm>
            <a:off x="9564624" y="2807208"/>
            <a:ext cx="1883663" cy="237744"/>
          </a:xfrm>
          <a:prstGeom prst="rect">
            <a:avLst/>
          </a:prstGeom>
          <a:noFill/>
        </p:spPr>
        <p:txBody>
          <a:bodyPr wrap="square" lIns="0" rIns="0" tIns="0" bIns="0" anchor="t">
            <a:spAutoFit/>
          </a:bodyPr>
          <a:lstStyle/>
          <a:p>
            <a:pPr algn="l">
              <a:spcAft>
                <a:spcPts val="0"/>
              </a:spcAft>
            </a:pPr>
            <a:r>
              <a:rPr sz="1450" b="1" i="0">
                <a:solidFill>
                  <a:srgbClr val="1F2A44"/>
                </a:solidFill>
                <a:latin typeface="Times New Roman"/>
              </a:rPr>
              <a:t>CCS Gate</a:t>
            </a:r>
          </a:p>
        </p:txBody>
      </p:sp>
      <p:sp>
        <p:nvSpPr>
          <p:cNvPr id="61" name="TextBox 60"/>
          <p:cNvSpPr txBox="1"/>
          <p:nvPr/>
        </p:nvSpPr>
        <p:spPr>
          <a:xfrm>
            <a:off x="9125712" y="3072384"/>
            <a:ext cx="2304287" cy="329184"/>
          </a:xfrm>
          <a:prstGeom prst="rect">
            <a:avLst/>
          </a:prstGeom>
          <a:noFill/>
        </p:spPr>
        <p:txBody>
          <a:bodyPr wrap="square" lIns="0" rIns="0" tIns="0" bIns="0" anchor="t">
            <a:spAutoFit/>
          </a:bodyPr>
          <a:lstStyle/>
          <a:p>
            <a:pPr algn="l">
              <a:lnSpc>
                <a:spcPct val="104000"/>
              </a:lnSpc>
              <a:spcAft>
                <a:spcPts val="0"/>
              </a:spcAft>
            </a:pPr>
            <a:r>
              <a:rPr sz="1200" b="0" i="0">
                <a:solidFill>
                  <a:srgbClr val="55617A"/>
                </a:solidFill>
                <a:latin typeface="Times New Roman"/>
              </a:rPr>
              <a:t>six components scored on the bank  ·  calibrated threshold</a:t>
            </a:r>
          </a:p>
        </p:txBody>
      </p:sp>
      <p:sp>
        <p:nvSpPr>
          <p:cNvPr id="62" name="Down Arrow 61"/>
          <p:cNvSpPr/>
          <p:nvPr/>
        </p:nvSpPr>
        <p:spPr>
          <a:xfrm>
            <a:off x="10168128" y="2286000"/>
            <a:ext cx="219456" cy="384048"/>
          </a:xfrm>
          <a:prstGeom prst="down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460736" y="2340864"/>
            <a:ext cx="1463040" cy="201168"/>
          </a:xfrm>
          <a:prstGeom prst="rect">
            <a:avLst/>
          </a:prstGeom>
          <a:noFill/>
        </p:spPr>
        <p:txBody>
          <a:bodyPr wrap="square" lIns="0" rIns="0" tIns="0" bIns="0" anchor="t">
            <a:spAutoFit/>
          </a:bodyPr>
          <a:lstStyle/>
          <a:p>
            <a:pPr algn="l">
              <a:spcAft>
                <a:spcPts val="0"/>
              </a:spcAft>
            </a:pPr>
            <a:r>
              <a:rPr sz="1150" b="0" i="1">
                <a:solidFill>
                  <a:srgbClr val="55617A"/>
                </a:solidFill>
                <a:latin typeface="Times New Roman"/>
              </a:rPr>
              <a:t>scored against</a:t>
            </a:r>
          </a:p>
        </p:txBody>
      </p:sp>
      <p:sp>
        <p:nvSpPr>
          <p:cNvPr id="64" name="Rectangle 63"/>
          <p:cNvSpPr/>
          <p:nvPr/>
        </p:nvSpPr>
        <p:spPr>
          <a:xfrm>
            <a:off x="10250424" y="3493008"/>
            <a:ext cx="54864" cy="146304"/>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195828" y="3639312"/>
            <a:ext cx="7082028" cy="45720"/>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Down Arrow 65"/>
          <p:cNvSpPr/>
          <p:nvPr/>
        </p:nvSpPr>
        <p:spPr>
          <a:xfrm>
            <a:off x="3086100" y="3685032"/>
            <a:ext cx="219456" cy="219456"/>
          </a:xfrm>
          <a:prstGeom prst="down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60420" y="3694176"/>
            <a:ext cx="1554480" cy="201168"/>
          </a:xfrm>
          <a:prstGeom prst="rect">
            <a:avLst/>
          </a:prstGeom>
          <a:noFill/>
        </p:spPr>
        <p:txBody>
          <a:bodyPr wrap="square" lIns="0" rIns="0" tIns="0" bIns="0" anchor="t">
            <a:spAutoFit/>
          </a:bodyPr>
          <a:lstStyle/>
          <a:p>
            <a:pPr algn="l">
              <a:spcAft>
                <a:spcPts val="0"/>
              </a:spcAft>
            </a:pPr>
            <a:r>
              <a:rPr sz="1200" b="1" i="0">
                <a:solidFill>
                  <a:srgbClr val="0E8C79"/>
                </a:solidFill>
                <a:latin typeface="Times New Roman"/>
              </a:rPr>
              <a:t>ACCEPT</a:t>
            </a:r>
          </a:p>
        </p:txBody>
      </p:sp>
      <p:sp>
        <p:nvSpPr>
          <p:cNvPr id="68" name="Down Arrow 67"/>
          <p:cNvSpPr/>
          <p:nvPr/>
        </p:nvSpPr>
        <p:spPr>
          <a:xfrm>
            <a:off x="8883396" y="3685032"/>
            <a:ext cx="219456" cy="219456"/>
          </a:xfrm>
          <a:prstGeom prst="down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57716" y="3694176"/>
            <a:ext cx="1554480" cy="201168"/>
          </a:xfrm>
          <a:prstGeom prst="rect">
            <a:avLst/>
          </a:prstGeom>
          <a:noFill/>
        </p:spPr>
        <p:txBody>
          <a:bodyPr wrap="square" lIns="0" rIns="0" tIns="0" bIns="0" anchor="t">
            <a:spAutoFit/>
          </a:bodyPr>
          <a:lstStyle/>
          <a:p>
            <a:pPr algn="l">
              <a:spcAft>
                <a:spcPts val="0"/>
              </a:spcAft>
            </a:pPr>
            <a:r>
              <a:rPr sz="1200" b="1" i="0">
                <a:solidFill>
                  <a:srgbClr val="C0392B"/>
                </a:solidFill>
                <a:latin typeface="Times New Roman"/>
              </a:rPr>
              <a:t>QUARANTINE</a:t>
            </a:r>
          </a:p>
        </p:txBody>
      </p:sp>
      <p:sp>
        <p:nvSpPr>
          <p:cNvPr id="70" name="TextBox 69"/>
          <p:cNvSpPr txBox="1"/>
          <p:nvPr/>
        </p:nvSpPr>
        <p:spPr>
          <a:xfrm>
            <a:off x="630936" y="3712464"/>
            <a:ext cx="5129784" cy="182880"/>
          </a:xfrm>
          <a:prstGeom prst="rect">
            <a:avLst/>
          </a:prstGeom>
          <a:noFill/>
        </p:spPr>
        <p:txBody>
          <a:bodyPr wrap="square" lIns="0" rIns="0" tIns="0" bIns="0" anchor="t">
            <a:spAutoFit/>
          </a:bodyPr>
          <a:lstStyle/>
          <a:p>
            <a:pPr algn="l">
              <a:spcAft>
                <a:spcPts val="0"/>
              </a:spcAft>
            </a:pPr>
            <a:r>
              <a:rPr sz="1200" b="1" i="0">
                <a:solidFill>
                  <a:srgbClr val="0E8C79"/>
                </a:solidFill>
                <a:latin typeface="Times New Roman"/>
              </a:rPr>
              <a:t>SAFE — VALIDATED CONTRIBUTION</a:t>
            </a:r>
          </a:p>
        </p:txBody>
      </p:sp>
      <p:sp>
        <p:nvSpPr>
          <p:cNvPr id="71" name="Rounded Rectangle 70"/>
          <p:cNvSpPr/>
          <p:nvPr/>
        </p:nvSpPr>
        <p:spPr>
          <a:xfrm>
            <a:off x="630936"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630936" y="3913632"/>
            <a:ext cx="160020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740664"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40664"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M7</a:t>
            </a:r>
          </a:p>
        </p:txBody>
      </p:sp>
      <p:sp>
        <p:nvSpPr>
          <p:cNvPr id="75" name="TextBox 74"/>
          <p:cNvSpPr txBox="1"/>
          <p:nvPr/>
        </p:nvSpPr>
        <p:spPr>
          <a:xfrm>
            <a:off x="1197864"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Safe Pool</a:t>
            </a:r>
          </a:p>
        </p:txBody>
      </p:sp>
      <p:sp>
        <p:nvSpPr>
          <p:cNvPr id="76" name="TextBox 75"/>
          <p:cNvSpPr txBox="1"/>
          <p:nvPr/>
        </p:nvSpPr>
        <p:spPr>
          <a:xfrm>
            <a:off x="758952"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rows tagged with their contributor</a:t>
            </a:r>
          </a:p>
        </p:txBody>
      </p:sp>
      <p:sp>
        <p:nvSpPr>
          <p:cNvPr id="77" name="Right Arrow 76"/>
          <p:cNvSpPr/>
          <p:nvPr/>
        </p:nvSpPr>
        <p:spPr>
          <a:xfrm>
            <a:off x="2249424" y="4133088"/>
            <a:ext cx="128016" cy="201168"/>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2395728"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2395728" y="3913632"/>
            <a:ext cx="160020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2505456"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2505456"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M8</a:t>
            </a:r>
          </a:p>
        </p:txBody>
      </p:sp>
      <p:sp>
        <p:nvSpPr>
          <p:cNvPr id="82" name="TextBox 81"/>
          <p:cNvSpPr txBox="1"/>
          <p:nvPr/>
        </p:nvSpPr>
        <p:spPr>
          <a:xfrm>
            <a:off x="2962656"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Immunize + Retrain</a:t>
            </a:r>
          </a:p>
        </p:txBody>
      </p:sp>
      <p:sp>
        <p:nvSpPr>
          <p:cNvPr id="83" name="TextBox 82"/>
          <p:cNvSpPr txBox="1"/>
          <p:nvPr/>
        </p:nvSpPr>
        <p:spPr>
          <a:xfrm>
            <a:off x="2523744"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vaccines from the twins' own futures</a:t>
            </a:r>
          </a:p>
        </p:txBody>
      </p:sp>
      <p:sp>
        <p:nvSpPr>
          <p:cNvPr id="84" name="Right Arrow 83"/>
          <p:cNvSpPr/>
          <p:nvPr/>
        </p:nvSpPr>
        <p:spPr>
          <a:xfrm>
            <a:off x="4014216" y="4133088"/>
            <a:ext cx="128016" cy="201168"/>
          </a:xfrm>
          <a:prstGeom prst="righ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4160520"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4160520" y="3913632"/>
            <a:ext cx="1600200"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4270248"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TextBox 87"/>
          <p:cNvSpPr txBox="1"/>
          <p:nvPr/>
        </p:nvSpPr>
        <p:spPr>
          <a:xfrm>
            <a:off x="4270248"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M9</a:t>
            </a:r>
          </a:p>
        </p:txBody>
      </p:sp>
      <p:sp>
        <p:nvSpPr>
          <p:cNvPr id="89" name="TextBox 88"/>
          <p:cNvSpPr txBox="1"/>
          <p:nvPr/>
        </p:nvSpPr>
        <p:spPr>
          <a:xfrm>
            <a:off x="4727448"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Promotion Gates</a:t>
            </a:r>
          </a:p>
        </p:txBody>
      </p:sp>
      <p:sp>
        <p:nvSpPr>
          <p:cNvPr id="90" name="TextBox 89"/>
          <p:cNvSpPr txBox="1"/>
          <p:nvPr/>
        </p:nvSpPr>
        <p:spPr>
          <a:xfrm>
            <a:off x="4288536"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accuracy · resistance · FPR · size</a:t>
            </a:r>
          </a:p>
        </p:txBody>
      </p:sp>
      <p:sp>
        <p:nvSpPr>
          <p:cNvPr id="91" name="TextBox 90"/>
          <p:cNvSpPr txBox="1"/>
          <p:nvPr/>
        </p:nvSpPr>
        <p:spPr>
          <a:xfrm>
            <a:off x="6428232" y="3712464"/>
            <a:ext cx="5129784" cy="182880"/>
          </a:xfrm>
          <a:prstGeom prst="rect">
            <a:avLst/>
          </a:prstGeom>
          <a:noFill/>
        </p:spPr>
        <p:txBody>
          <a:bodyPr wrap="square" lIns="0" rIns="0" tIns="0" bIns="0" anchor="t">
            <a:spAutoFit/>
          </a:bodyPr>
          <a:lstStyle/>
          <a:p>
            <a:pPr algn="l">
              <a:spcAft>
                <a:spcPts val="0"/>
              </a:spcAft>
            </a:pPr>
            <a:r>
              <a:rPr sz="1200" b="1" i="0">
                <a:solidFill>
                  <a:srgbClr val="C0392B"/>
                </a:solidFill>
                <a:latin typeface="Times New Roman"/>
              </a:rPr>
              <a:t>SUSPICIOUS — HELD OUT OF TRAINING</a:t>
            </a:r>
          </a:p>
        </p:txBody>
      </p:sp>
      <p:sp>
        <p:nvSpPr>
          <p:cNvPr id="92" name="Rounded Rectangle 91"/>
          <p:cNvSpPr/>
          <p:nvPr/>
        </p:nvSpPr>
        <p:spPr>
          <a:xfrm>
            <a:off x="6428232"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6428232" y="3913632"/>
            <a:ext cx="1600200"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6537960"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6537960"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M10</a:t>
            </a:r>
          </a:p>
        </p:txBody>
      </p:sp>
      <p:sp>
        <p:nvSpPr>
          <p:cNvPr id="96" name="TextBox 95"/>
          <p:cNvSpPr txBox="1"/>
          <p:nvPr/>
        </p:nvSpPr>
        <p:spPr>
          <a:xfrm>
            <a:off x="6995160"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Quarantine</a:t>
            </a:r>
          </a:p>
        </p:txBody>
      </p:sp>
      <p:sp>
        <p:nvSpPr>
          <p:cNvPr id="97" name="TextBox 96"/>
          <p:cNvSpPr txBox="1"/>
          <p:nvPr/>
        </p:nvSpPr>
        <p:spPr>
          <a:xfrm>
            <a:off x="6556248"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held intact with its verdict report</a:t>
            </a:r>
          </a:p>
        </p:txBody>
      </p:sp>
      <p:sp>
        <p:nvSpPr>
          <p:cNvPr id="98" name="Right Arrow 97"/>
          <p:cNvSpPr/>
          <p:nvPr/>
        </p:nvSpPr>
        <p:spPr>
          <a:xfrm>
            <a:off x="8046720" y="4133088"/>
            <a:ext cx="128016" cy="201168"/>
          </a:xfrm>
          <a:prstGeom prst="right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8193024"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8193024" y="3913632"/>
            <a:ext cx="1600200"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8302752"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8302752"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M11</a:t>
            </a:r>
          </a:p>
        </p:txBody>
      </p:sp>
      <p:sp>
        <p:nvSpPr>
          <p:cNvPr id="103" name="TextBox 102"/>
          <p:cNvSpPr txBox="1"/>
          <p:nvPr/>
        </p:nvSpPr>
        <p:spPr>
          <a:xfrm>
            <a:off x="8759952"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Forensics</a:t>
            </a:r>
          </a:p>
        </p:txBody>
      </p:sp>
      <p:sp>
        <p:nvSpPr>
          <p:cNvPr id="104" name="TextBox 103"/>
          <p:cNvSpPr txBox="1"/>
          <p:nvPr/>
        </p:nvSpPr>
        <p:spPr>
          <a:xfrm>
            <a:off x="8321040"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attribution and per-row evidence</a:t>
            </a:r>
          </a:p>
        </p:txBody>
      </p:sp>
      <p:sp>
        <p:nvSpPr>
          <p:cNvPr id="105" name="Right Arrow 104"/>
          <p:cNvSpPr/>
          <p:nvPr/>
        </p:nvSpPr>
        <p:spPr>
          <a:xfrm>
            <a:off x="9811512" y="4133088"/>
            <a:ext cx="128016" cy="201168"/>
          </a:xfrm>
          <a:prstGeom prst="right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9957816" y="3913632"/>
            <a:ext cx="1600200"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9957816" y="3913632"/>
            <a:ext cx="1600200"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10067544" y="4023360"/>
            <a:ext cx="384048" cy="20116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TextBox 108"/>
          <p:cNvSpPr txBox="1"/>
          <p:nvPr/>
        </p:nvSpPr>
        <p:spPr>
          <a:xfrm>
            <a:off x="10067544" y="4041648"/>
            <a:ext cx="384048"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M12</a:t>
            </a:r>
          </a:p>
        </p:txBody>
      </p:sp>
      <p:sp>
        <p:nvSpPr>
          <p:cNvPr id="110" name="TextBox 109"/>
          <p:cNvSpPr txBox="1"/>
          <p:nvPr/>
        </p:nvSpPr>
        <p:spPr>
          <a:xfrm>
            <a:off x="10524744" y="4014216"/>
            <a:ext cx="923544" cy="237744"/>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Purge + Rollback</a:t>
            </a:r>
          </a:p>
        </p:txBody>
      </p:sp>
      <p:sp>
        <p:nvSpPr>
          <p:cNvPr id="111" name="TextBox 110"/>
          <p:cNvSpPr txBox="1"/>
          <p:nvPr/>
        </p:nvSpPr>
        <p:spPr>
          <a:xfrm>
            <a:off x="10085832" y="4279392"/>
            <a:ext cx="1344168" cy="329184"/>
          </a:xfrm>
          <a:prstGeom prst="rect">
            <a:avLst/>
          </a:prstGeom>
          <a:noFill/>
        </p:spPr>
        <p:txBody>
          <a:bodyPr wrap="square" lIns="0" rIns="0" tIns="0" bIns="0" anchor="t">
            <a:spAutoFit/>
          </a:bodyPr>
          <a:lstStyle/>
          <a:p>
            <a:pPr algn="l">
              <a:lnSpc>
                <a:spcPct val="104000"/>
              </a:lnSpc>
              <a:spcAft>
                <a:spcPts val="0"/>
              </a:spcAft>
            </a:pPr>
            <a:r>
              <a:rPr sz="1100" b="0" i="0">
                <a:solidFill>
                  <a:srgbClr val="55617A"/>
                </a:solidFill>
                <a:latin typeface="Times New Roman"/>
              </a:rPr>
              <a:t>excise contributor, restore model</a:t>
            </a:r>
          </a:p>
        </p:txBody>
      </p:sp>
      <p:sp>
        <p:nvSpPr>
          <p:cNvPr id="112" name="Rounded Rectangle 111"/>
          <p:cNvSpPr/>
          <p:nvPr/>
        </p:nvSpPr>
        <p:spPr>
          <a:xfrm>
            <a:off x="3419856" y="4937760"/>
            <a:ext cx="7333488" cy="56692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TextBox 112"/>
          <p:cNvSpPr txBox="1"/>
          <p:nvPr/>
        </p:nvSpPr>
        <p:spPr>
          <a:xfrm>
            <a:off x="3602736" y="5029200"/>
            <a:ext cx="6967728" cy="219456"/>
          </a:xfrm>
          <a:prstGeom prst="rect">
            <a:avLst/>
          </a:prstGeom>
          <a:noFill/>
        </p:spPr>
        <p:txBody>
          <a:bodyPr wrap="square" lIns="0" rIns="0" tIns="0" bIns="0" anchor="t">
            <a:spAutoFit/>
          </a:bodyPr>
          <a:lstStyle/>
          <a:p>
            <a:pPr algn="l">
              <a:spcAft>
                <a:spcPts val="0"/>
              </a:spcAft>
            </a:pPr>
            <a:r>
              <a:rPr sz="1450" b="1" i="0">
                <a:solidFill>
                  <a:srgbClr val="FFFFFF"/>
                </a:solidFill>
                <a:latin typeface="Times New Roman"/>
              </a:rPr>
              <a:t>TRUSTED THREAT DETECTOR</a:t>
            </a:r>
          </a:p>
        </p:txBody>
      </p:sp>
      <p:sp>
        <p:nvSpPr>
          <p:cNvPr id="114" name="TextBox 113"/>
          <p:cNvSpPr txBox="1"/>
          <p:nvPr/>
        </p:nvSpPr>
        <p:spPr>
          <a:xfrm>
            <a:off x="3602736" y="5248656"/>
            <a:ext cx="6967728" cy="219456"/>
          </a:xfrm>
          <a:prstGeom prst="rect">
            <a:avLst/>
          </a:prstGeom>
          <a:noFill/>
        </p:spPr>
        <p:txBody>
          <a:bodyPr wrap="square" lIns="0" rIns="0" tIns="0" bIns="0" anchor="t">
            <a:spAutoFit/>
          </a:bodyPr>
          <a:lstStyle/>
          <a:p>
            <a:pPr algn="l">
              <a:spcAft>
                <a:spcPts val="0"/>
              </a:spcAft>
            </a:pPr>
            <a:r>
              <a:rPr sz="1200" b="0" i="0">
                <a:solidFill>
                  <a:srgbClr val="D7DEE9"/>
                </a:solidFill>
                <a:latin typeface="Times New Roman"/>
              </a:rPr>
              <a:t>promoted only through the gates, or reinstated by rollback  ·  this is the model that serves live verdicts</a:t>
            </a:r>
          </a:p>
        </p:txBody>
      </p:sp>
      <p:sp>
        <p:nvSpPr>
          <p:cNvPr id="115" name="Down Arrow 114"/>
          <p:cNvSpPr/>
          <p:nvPr/>
        </p:nvSpPr>
        <p:spPr>
          <a:xfrm>
            <a:off x="4850892" y="4718304"/>
            <a:ext cx="219456" cy="219456"/>
          </a:xfrm>
          <a:prstGeom prst="down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Down Arrow 115"/>
          <p:cNvSpPr/>
          <p:nvPr/>
        </p:nvSpPr>
        <p:spPr>
          <a:xfrm>
            <a:off x="10648188" y="4718304"/>
            <a:ext cx="219456" cy="219456"/>
          </a:xfrm>
          <a:prstGeom prst="downArrow">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0753344" y="5193792"/>
            <a:ext cx="969264" cy="54864"/>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722608" y="1865376"/>
            <a:ext cx="54864" cy="338328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Left Arrow 118"/>
          <p:cNvSpPr/>
          <p:nvPr/>
        </p:nvSpPr>
        <p:spPr>
          <a:xfrm>
            <a:off x="11576304" y="1773936"/>
            <a:ext cx="201168" cy="219456"/>
          </a:xfrm>
          <a:prstGeom prst="leftArrow">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482328" y="4946904"/>
            <a:ext cx="2103120" cy="219456"/>
          </a:xfrm>
          <a:prstGeom prst="rect">
            <a:avLst/>
          </a:prstGeom>
          <a:noFill/>
        </p:spPr>
        <p:txBody>
          <a:bodyPr wrap="square" lIns="0" rIns="0" tIns="0" bIns="0" anchor="t">
            <a:spAutoFit/>
          </a:bodyPr>
          <a:lstStyle/>
          <a:p>
            <a:pPr algn="r">
              <a:spcAft>
                <a:spcPts val="0"/>
              </a:spcAft>
            </a:pPr>
            <a:r>
              <a:rPr sz="1150" b="0" i="1">
                <a:solidFill>
                  <a:srgbClr val="55617A"/>
                </a:solidFill>
                <a:latin typeface="Times New Roman"/>
              </a:rPr>
              <a:t>the promoted model re-filters the bank</a:t>
            </a:r>
          </a:p>
        </p:txBody>
      </p:sp>
      <p:sp>
        <p:nvSpPr>
          <p:cNvPr id="121" name="Rounded Rectangle 120"/>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Why this is a loop, not a pipeline:  </a:t>
            </a:r>
            <a:r>
              <a:rPr sz="1600" b="0" i="0">
                <a:solidFill>
                  <a:srgbClr val="1F2A44"/>
                </a:solidFill>
                <a:latin typeface="Times New Roman"/>
              </a:rPr>
              <a:t>the promoted detector re-filters the audit bank, so every future update is judged against scenarios the current model already handles — the gate sharpens as the model improves.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08</a:t>
            </a:r>
            <a:r>
              <a:rPr sz="1550" b="0" i="0">
                <a:solidFill>
                  <a:srgbClr val="D7DEE9"/>
                </a:solidFill>
                <a:latin typeface="Times New Roman"/>
              </a:rPr>
              <a:t>   ·   </a:t>
            </a:r>
            <a:r>
              <a:rPr sz="1550" b="1" i="0">
                <a:solidFill>
                  <a:srgbClr val="55617A"/>
                </a:solidFill>
                <a:latin typeface="Times New Roman"/>
              </a:rPr>
              <a:t>SPECIFICATION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Functional Requirements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System-level requirements expressed as verifiable shall-statements</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11 / 16</a:t>
            </a:r>
          </a:p>
        </p:txBody>
      </p:sp>
      <p:sp>
        <p:nvSpPr>
          <p:cNvPr id="10" name="Rounded Rectangle 9"/>
          <p:cNvSpPr/>
          <p:nvPr/>
        </p:nvSpPr>
        <p:spPr>
          <a:xfrm>
            <a:off x="630936" y="1481328"/>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758952" y="1581912"/>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58952" y="1600200"/>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FR-01</a:t>
            </a:r>
          </a:p>
        </p:txBody>
      </p:sp>
      <p:sp>
        <p:nvSpPr>
          <p:cNvPr id="13" name="TextBox 12"/>
          <p:cNvSpPr txBox="1"/>
          <p:nvPr/>
        </p:nvSpPr>
        <p:spPr>
          <a:xfrm>
            <a:off x="1453895" y="1563624"/>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Device Simulation</a:t>
            </a:r>
          </a:p>
        </p:txBody>
      </p:sp>
      <p:sp>
        <p:nvSpPr>
          <p:cNvPr id="14" name="TextBox 13"/>
          <p:cNvSpPr txBox="1"/>
          <p:nvPr/>
        </p:nvSpPr>
        <p:spPr>
          <a:xfrm>
            <a:off x="1453895" y="1783080"/>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system shall generate continuous 16-feature telemetry for six consumer device types with distinct behavioural baselines.</a:t>
            </a:r>
          </a:p>
        </p:txBody>
      </p:sp>
      <p:sp>
        <p:nvSpPr>
          <p:cNvPr id="15" name="Rounded Rectangle 14"/>
          <p:cNvSpPr/>
          <p:nvPr/>
        </p:nvSpPr>
        <p:spPr>
          <a:xfrm>
            <a:off x="6236208" y="1481328"/>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364224" y="1581912"/>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64224" y="1600200"/>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FR-02</a:t>
            </a:r>
          </a:p>
        </p:txBody>
      </p:sp>
      <p:sp>
        <p:nvSpPr>
          <p:cNvPr id="18" name="TextBox 17"/>
          <p:cNvSpPr txBox="1"/>
          <p:nvPr/>
        </p:nvSpPr>
        <p:spPr>
          <a:xfrm>
            <a:off x="7059168" y="1563624"/>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On-Demand Ingestion</a:t>
            </a:r>
          </a:p>
        </p:txBody>
      </p:sp>
      <p:sp>
        <p:nvSpPr>
          <p:cNvPr id="19" name="TextBox 18"/>
          <p:cNvSpPr txBox="1"/>
          <p:nvPr/>
        </p:nvSpPr>
        <p:spPr>
          <a:xfrm>
            <a:off x="7059168" y="1783080"/>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gateway shall collect, timestamp and buffer telemetry only when an operator requests a tick; no collection shall occur autonomously.</a:t>
            </a:r>
          </a:p>
        </p:txBody>
      </p:sp>
      <p:sp>
        <p:nvSpPr>
          <p:cNvPr id="20" name="Rounded Rectangle 19"/>
          <p:cNvSpPr/>
          <p:nvPr/>
        </p:nvSpPr>
        <p:spPr>
          <a:xfrm>
            <a:off x="630936" y="2340864"/>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58952" y="2441448"/>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8952" y="2459736"/>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FR-03</a:t>
            </a:r>
          </a:p>
        </p:txBody>
      </p:sp>
      <p:sp>
        <p:nvSpPr>
          <p:cNvPr id="23" name="TextBox 22"/>
          <p:cNvSpPr txBox="1"/>
          <p:nvPr/>
        </p:nvSpPr>
        <p:spPr>
          <a:xfrm>
            <a:off x="1453895" y="2423160"/>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Twin Synchronisation</a:t>
            </a:r>
          </a:p>
        </p:txBody>
      </p:sp>
      <p:sp>
        <p:nvSpPr>
          <p:cNvPr id="24" name="TextBox 23"/>
          <p:cNvSpPr txBox="1"/>
          <p:nvPr/>
        </p:nvSpPr>
        <p:spPr>
          <a:xfrm>
            <a:off x="1453895" y="2642616"/>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Each device shall have a twin whose five-plane state is updated from trusted telemetry, and which refuses observations judged hostile.</a:t>
            </a:r>
          </a:p>
        </p:txBody>
      </p:sp>
      <p:sp>
        <p:nvSpPr>
          <p:cNvPr id="25" name="Rounded Rectangle 24"/>
          <p:cNvSpPr/>
          <p:nvPr/>
        </p:nvSpPr>
        <p:spPr>
          <a:xfrm>
            <a:off x="6236208" y="2340864"/>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364224" y="2441448"/>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64224" y="2459736"/>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FR-04</a:t>
            </a:r>
          </a:p>
        </p:txBody>
      </p:sp>
      <p:sp>
        <p:nvSpPr>
          <p:cNvPr id="28" name="TextBox 27"/>
          <p:cNvSpPr txBox="1"/>
          <p:nvPr/>
        </p:nvSpPr>
        <p:spPr>
          <a:xfrm>
            <a:off x="7059168" y="2423160"/>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Future Commitment</a:t>
            </a:r>
          </a:p>
        </p:txBody>
      </p:sp>
      <p:sp>
        <p:nvSpPr>
          <p:cNvPr id="29" name="TextBox 28"/>
          <p:cNvSpPr txBox="1"/>
          <p:nvPr/>
        </p:nvSpPr>
        <p:spPr>
          <a:xfrm>
            <a:off x="7059168" y="2642616"/>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Each ready twin shall commit 20 predicted trajectories over a five-tick horizon before the observation they will judge exists.</a:t>
            </a:r>
          </a:p>
        </p:txBody>
      </p:sp>
      <p:sp>
        <p:nvSpPr>
          <p:cNvPr id="30" name="Rounded Rectangle 29"/>
          <p:cNvSpPr/>
          <p:nvPr/>
        </p:nvSpPr>
        <p:spPr>
          <a:xfrm>
            <a:off x="630936" y="3200400"/>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58952" y="3300984"/>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58952" y="3319272"/>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FR-05</a:t>
            </a:r>
          </a:p>
        </p:txBody>
      </p:sp>
      <p:sp>
        <p:nvSpPr>
          <p:cNvPr id="33" name="TextBox 32"/>
          <p:cNvSpPr txBox="1"/>
          <p:nvPr/>
        </p:nvSpPr>
        <p:spPr>
          <a:xfrm>
            <a:off x="1453895" y="3282696"/>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Threat Detection</a:t>
            </a:r>
          </a:p>
        </p:txBody>
      </p:sp>
      <p:sp>
        <p:nvSpPr>
          <p:cNvPr id="34" name="TextBox 33"/>
          <p:cNvSpPr txBox="1"/>
          <p:nvPr/>
        </p:nvSpPr>
        <p:spPr>
          <a:xfrm>
            <a:off x="1453895" y="3502152"/>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system shall classify normal traffic and six attack classes, returning a class, confidence and operator-facing risk level.</a:t>
            </a:r>
          </a:p>
        </p:txBody>
      </p:sp>
      <p:sp>
        <p:nvSpPr>
          <p:cNvPr id="35" name="Rounded Rectangle 34"/>
          <p:cNvSpPr/>
          <p:nvPr/>
        </p:nvSpPr>
        <p:spPr>
          <a:xfrm>
            <a:off x="6236208" y="3200400"/>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6364224" y="3300984"/>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364224" y="3319272"/>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FR-06</a:t>
            </a:r>
          </a:p>
        </p:txBody>
      </p:sp>
      <p:sp>
        <p:nvSpPr>
          <p:cNvPr id="38" name="TextBox 37"/>
          <p:cNvSpPr txBox="1"/>
          <p:nvPr/>
        </p:nvSpPr>
        <p:spPr>
          <a:xfrm>
            <a:off x="7059168" y="3282696"/>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Counterfactual Validation</a:t>
            </a:r>
          </a:p>
        </p:txBody>
      </p:sp>
      <p:sp>
        <p:nvSpPr>
          <p:cNvPr id="39" name="TextBox 38"/>
          <p:cNvSpPr txBox="1"/>
          <p:nvPr/>
        </p:nvSpPr>
        <p:spPr>
          <a:xfrm>
            <a:off x="7059168" y="3502152"/>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Every retraining update shall be scored on six components against the audit bank and judged on a calibrated threshold.</a:t>
            </a:r>
          </a:p>
        </p:txBody>
      </p:sp>
      <p:sp>
        <p:nvSpPr>
          <p:cNvPr id="40" name="Rounded Rectangle 39"/>
          <p:cNvSpPr/>
          <p:nvPr/>
        </p:nvSpPr>
        <p:spPr>
          <a:xfrm>
            <a:off x="630936" y="4059935"/>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758952" y="4160520"/>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58952" y="4178807"/>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FR-07</a:t>
            </a:r>
          </a:p>
        </p:txBody>
      </p:sp>
      <p:sp>
        <p:nvSpPr>
          <p:cNvPr id="43" name="TextBox 42"/>
          <p:cNvSpPr txBox="1"/>
          <p:nvPr/>
        </p:nvSpPr>
        <p:spPr>
          <a:xfrm>
            <a:off x="1453895" y="4142231"/>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Operator Override</a:t>
            </a:r>
          </a:p>
        </p:txBody>
      </p:sp>
      <p:sp>
        <p:nvSpPr>
          <p:cNvPr id="44" name="TextBox 43"/>
          <p:cNvSpPr txBox="1"/>
          <p:nvPr/>
        </p:nvSpPr>
        <p:spPr>
          <a:xfrm>
            <a:off x="1453895" y="4361688"/>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system shall apply an accept or quarantine decision only on explicit instruction, and shall record any override.</a:t>
            </a:r>
          </a:p>
        </p:txBody>
      </p:sp>
      <p:sp>
        <p:nvSpPr>
          <p:cNvPr id="45" name="Rounded Rectangle 44"/>
          <p:cNvSpPr/>
          <p:nvPr/>
        </p:nvSpPr>
        <p:spPr>
          <a:xfrm>
            <a:off x="6236208" y="4059935"/>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6364224" y="4160520"/>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364224" y="4178807"/>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FR-08</a:t>
            </a:r>
          </a:p>
        </p:txBody>
      </p:sp>
      <p:sp>
        <p:nvSpPr>
          <p:cNvPr id="48" name="TextBox 47"/>
          <p:cNvSpPr txBox="1"/>
          <p:nvPr/>
        </p:nvSpPr>
        <p:spPr>
          <a:xfrm>
            <a:off x="7059168" y="4142231"/>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Quarantine Ledger</a:t>
            </a:r>
          </a:p>
        </p:txBody>
      </p:sp>
      <p:sp>
        <p:nvSpPr>
          <p:cNvPr id="49" name="TextBox 48"/>
          <p:cNvSpPr txBox="1"/>
          <p:nvPr/>
        </p:nvSpPr>
        <p:spPr>
          <a:xfrm>
            <a:off x="7059168" y="4361688"/>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Held updates shall be retained intact with update ID, source, suspected strategy, score and timestamp, and shall be re-scorable.</a:t>
            </a:r>
          </a:p>
        </p:txBody>
      </p:sp>
      <p:sp>
        <p:nvSpPr>
          <p:cNvPr id="50" name="Rounded Rectangle 49"/>
          <p:cNvSpPr/>
          <p:nvPr/>
        </p:nvSpPr>
        <p:spPr>
          <a:xfrm>
            <a:off x="630936" y="4919472"/>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758952" y="5020056"/>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58952" y="5038344"/>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FR-09</a:t>
            </a:r>
          </a:p>
        </p:txBody>
      </p:sp>
      <p:sp>
        <p:nvSpPr>
          <p:cNvPr id="53" name="TextBox 52"/>
          <p:cNvSpPr txBox="1"/>
          <p:nvPr/>
        </p:nvSpPr>
        <p:spPr>
          <a:xfrm>
            <a:off x="1453895" y="5001768"/>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Predictive Immunization</a:t>
            </a:r>
          </a:p>
        </p:txBody>
      </p:sp>
      <p:sp>
        <p:nvSpPr>
          <p:cNvPr id="54" name="TextBox 53"/>
          <p:cNvSpPr txBox="1"/>
          <p:nvPr/>
        </p:nvSpPr>
        <p:spPr>
          <a:xfrm>
            <a:off x="1453895" y="5221224"/>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The system shall synthesise vaccine rows from committed futures and measure poison resistance against five rehearsed strategies.</a:t>
            </a:r>
          </a:p>
        </p:txBody>
      </p:sp>
      <p:sp>
        <p:nvSpPr>
          <p:cNvPr id="55" name="Rounded Rectangle 54"/>
          <p:cNvSpPr/>
          <p:nvPr/>
        </p:nvSpPr>
        <p:spPr>
          <a:xfrm>
            <a:off x="6236208" y="4919472"/>
            <a:ext cx="5321808" cy="7680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6364224" y="5020056"/>
            <a:ext cx="603504" cy="201168"/>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364224" y="5038344"/>
            <a:ext cx="603504" cy="201168"/>
          </a:xfrm>
          <a:prstGeom prst="rect">
            <a:avLst/>
          </a:prstGeom>
          <a:noFill/>
        </p:spPr>
        <p:txBody>
          <a:bodyPr wrap="square" lIns="0" rIns="0" tIns="0" bIns="0" anchor="t">
            <a:spAutoFit/>
          </a:bodyPr>
          <a:lstStyle/>
          <a:p>
            <a:pPr algn="ctr">
              <a:spcAft>
                <a:spcPts val="0"/>
              </a:spcAft>
            </a:pPr>
            <a:r>
              <a:rPr sz="1150" b="1" i="0">
                <a:solidFill>
                  <a:srgbClr val="FFFFFF"/>
                </a:solidFill>
                <a:latin typeface="Times New Roman"/>
              </a:rPr>
              <a:t>FR-10</a:t>
            </a:r>
          </a:p>
        </p:txBody>
      </p:sp>
      <p:sp>
        <p:nvSpPr>
          <p:cNvPr id="58" name="TextBox 57"/>
          <p:cNvSpPr txBox="1"/>
          <p:nvPr/>
        </p:nvSpPr>
        <p:spPr>
          <a:xfrm>
            <a:off x="7059168" y="5001768"/>
            <a:ext cx="4389120" cy="219456"/>
          </a:xfrm>
          <a:prstGeom prst="rect">
            <a:avLst/>
          </a:prstGeom>
          <a:noFill/>
        </p:spPr>
        <p:txBody>
          <a:bodyPr wrap="square" lIns="0" rIns="0" tIns="0" bIns="0" anchor="t">
            <a:spAutoFit/>
          </a:bodyPr>
          <a:lstStyle/>
          <a:p>
            <a:pPr algn="l">
              <a:spcAft>
                <a:spcPts val="0"/>
              </a:spcAft>
            </a:pPr>
            <a:r>
              <a:rPr sz="1400" b="1" i="0">
                <a:solidFill>
                  <a:srgbClr val="1F2A44"/>
                </a:solidFill>
                <a:latin typeface="Times New Roman"/>
              </a:rPr>
              <a:t>Guarded Promotion &amp; Rollback</a:t>
            </a:r>
          </a:p>
        </p:txBody>
      </p:sp>
      <p:sp>
        <p:nvSpPr>
          <p:cNvPr id="59" name="TextBox 58"/>
          <p:cNvSpPr txBox="1"/>
          <p:nvPr/>
        </p:nvSpPr>
        <p:spPr>
          <a:xfrm>
            <a:off x="7059168" y="5221224"/>
            <a:ext cx="4389120" cy="420624"/>
          </a:xfrm>
          <a:prstGeom prst="rect">
            <a:avLst/>
          </a:prstGeom>
          <a:noFill/>
        </p:spPr>
        <p:txBody>
          <a:bodyPr wrap="square" lIns="0" rIns="0" tIns="0" bIns="0" anchor="t">
            <a:spAutoFit/>
          </a:bodyPr>
          <a:lstStyle/>
          <a:p>
            <a:pPr algn="l">
              <a:lnSpc>
                <a:spcPct val="105000"/>
              </a:lnSpc>
              <a:spcAft>
                <a:spcPts val="0"/>
              </a:spcAft>
            </a:pPr>
            <a:r>
              <a:rPr sz="1250" b="0" i="0">
                <a:solidFill>
                  <a:srgbClr val="55617A"/>
                </a:solidFill>
                <a:latin typeface="Times New Roman"/>
              </a:rPr>
              <a:t>A candidate model shall replace the incumbent only if all four gates pass; otherwise the incumbent is retained and can be rolled back.</a:t>
            </a:r>
          </a:p>
        </p:txBody>
      </p:sp>
      <p:sp>
        <p:nvSpPr>
          <p:cNvPr id="60" name="Rounded Rectangle 59"/>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Verification:  </a:t>
            </a:r>
            <a:r>
              <a:rPr sz="1600" b="0" i="0">
                <a:solidFill>
                  <a:srgbClr val="1F2A44"/>
                </a:solidFill>
                <a:latin typeface="Times New Roman"/>
              </a:rPr>
              <a:t>FR-01 to FR-10 are each covered by automated tests; the suite contains 64 tests, including one asserting that no stage advances the fleet without an explicit request.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09</a:t>
            </a:r>
            <a:r>
              <a:rPr sz="1550" b="0" i="0">
                <a:solidFill>
                  <a:srgbClr val="D7DEE9"/>
                </a:solidFill>
                <a:latin typeface="Times New Roman"/>
              </a:rPr>
              <a:t>   ·   </a:t>
            </a:r>
            <a:r>
              <a:rPr sz="1550" b="1" i="0">
                <a:solidFill>
                  <a:srgbClr val="55617A"/>
                </a:solidFill>
                <a:latin typeface="Times New Roman"/>
              </a:rPr>
              <a:t>DECOMPOSITION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Modules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Ten modules, their responsibilities and the technology each actually uses</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12 / 16</a:t>
            </a:r>
          </a:p>
        </p:txBody>
      </p:sp>
      <p:sp>
        <p:nvSpPr>
          <p:cNvPr id="10" name="Rounded Rectangle 9"/>
          <p:cNvSpPr/>
          <p:nvPr/>
        </p:nvSpPr>
        <p:spPr>
          <a:xfrm>
            <a:off x="630936" y="1481328"/>
            <a:ext cx="10927080" cy="310896"/>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1" y="1545336"/>
            <a:ext cx="1744465"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Module</a:t>
            </a:r>
          </a:p>
        </p:txBody>
      </p:sp>
      <p:sp>
        <p:nvSpPr>
          <p:cNvPr id="12" name="TextBox 11"/>
          <p:cNvSpPr txBox="1"/>
          <p:nvPr/>
        </p:nvSpPr>
        <p:spPr>
          <a:xfrm>
            <a:off x="2622289" y="1545336"/>
            <a:ext cx="2744447"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Responsibility</a:t>
            </a:r>
          </a:p>
        </p:txBody>
      </p:sp>
      <p:sp>
        <p:nvSpPr>
          <p:cNvPr id="13" name="TextBox 12"/>
          <p:cNvSpPr txBox="1"/>
          <p:nvPr/>
        </p:nvSpPr>
        <p:spPr>
          <a:xfrm>
            <a:off x="5531328" y="1545336"/>
            <a:ext cx="1399016"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Input</a:t>
            </a:r>
          </a:p>
        </p:txBody>
      </p:sp>
      <p:sp>
        <p:nvSpPr>
          <p:cNvPr id="14" name="TextBox 13"/>
          <p:cNvSpPr txBox="1"/>
          <p:nvPr/>
        </p:nvSpPr>
        <p:spPr>
          <a:xfrm>
            <a:off x="7094937" y="1545336"/>
            <a:ext cx="1517196"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Output</a:t>
            </a:r>
          </a:p>
        </p:txBody>
      </p:sp>
      <p:sp>
        <p:nvSpPr>
          <p:cNvPr id="15" name="TextBox 14"/>
          <p:cNvSpPr txBox="1"/>
          <p:nvPr/>
        </p:nvSpPr>
        <p:spPr>
          <a:xfrm>
            <a:off x="8776726" y="1545336"/>
            <a:ext cx="1699011"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Key Technology</a:t>
            </a:r>
          </a:p>
        </p:txBody>
      </p:sp>
      <p:sp>
        <p:nvSpPr>
          <p:cNvPr id="16" name="TextBox 15"/>
          <p:cNvSpPr txBox="1"/>
          <p:nvPr/>
        </p:nvSpPr>
        <p:spPr>
          <a:xfrm>
            <a:off x="10640329" y="1545336"/>
            <a:ext cx="835390" cy="219456"/>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Status</a:t>
            </a:r>
          </a:p>
        </p:txBody>
      </p:sp>
      <p:sp>
        <p:nvSpPr>
          <p:cNvPr id="17" name="Rectangle 16"/>
          <p:cNvSpPr/>
          <p:nvPr/>
        </p:nvSpPr>
        <p:spPr>
          <a:xfrm>
            <a:off x="630936" y="1792224"/>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3231" y="1837944"/>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M1  Device Simulator</a:t>
            </a:r>
          </a:p>
        </p:txBody>
      </p:sp>
      <p:sp>
        <p:nvSpPr>
          <p:cNvPr id="19" name="TextBox 18"/>
          <p:cNvSpPr txBox="1"/>
          <p:nvPr/>
        </p:nvSpPr>
        <p:spPr>
          <a:xfrm>
            <a:off x="2622289" y="1837944"/>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Emit per-device telemetry with baseline drift and attack deformation.</a:t>
            </a:r>
          </a:p>
        </p:txBody>
      </p:sp>
      <p:sp>
        <p:nvSpPr>
          <p:cNvPr id="20" name="TextBox 19"/>
          <p:cNvSpPr txBox="1"/>
          <p:nvPr/>
        </p:nvSpPr>
        <p:spPr>
          <a:xfrm>
            <a:off x="5531328" y="1837944"/>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Operator tick</a:t>
            </a:r>
          </a:p>
        </p:txBody>
      </p:sp>
      <p:sp>
        <p:nvSpPr>
          <p:cNvPr id="21" name="TextBox 20"/>
          <p:cNvSpPr txBox="1"/>
          <p:nvPr/>
        </p:nvSpPr>
        <p:spPr>
          <a:xfrm>
            <a:off x="7094937" y="1837944"/>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16-feature records</a:t>
            </a:r>
          </a:p>
        </p:txBody>
      </p:sp>
      <p:sp>
        <p:nvSpPr>
          <p:cNvPr id="22" name="TextBox 21"/>
          <p:cNvSpPr txBox="1"/>
          <p:nvPr/>
        </p:nvSpPr>
        <p:spPr>
          <a:xfrm>
            <a:off x="8776726" y="1837944"/>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NumPy profile models</a:t>
            </a:r>
          </a:p>
        </p:txBody>
      </p:sp>
      <p:sp>
        <p:nvSpPr>
          <p:cNvPr id="23" name="TextBox 22"/>
          <p:cNvSpPr txBox="1"/>
          <p:nvPr/>
        </p:nvSpPr>
        <p:spPr>
          <a:xfrm>
            <a:off x="10640329" y="1837944"/>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24" name="Rectangle 23"/>
          <p:cNvSpPr/>
          <p:nvPr/>
        </p:nvSpPr>
        <p:spPr>
          <a:xfrm>
            <a:off x="630936" y="2194560"/>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13231" y="2240280"/>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M2  Edge Gateway</a:t>
            </a:r>
          </a:p>
        </p:txBody>
      </p:sp>
      <p:sp>
        <p:nvSpPr>
          <p:cNvPr id="26" name="TextBox 25"/>
          <p:cNvSpPr txBox="1"/>
          <p:nvPr/>
        </p:nvSpPr>
        <p:spPr>
          <a:xfrm>
            <a:off x="2622289" y="2240280"/>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Receive, buffer and route telemetry; expose one endpoint per action.</a:t>
            </a:r>
          </a:p>
        </p:txBody>
      </p:sp>
      <p:sp>
        <p:nvSpPr>
          <p:cNvPr id="27" name="TextBox 26"/>
          <p:cNvSpPr txBox="1"/>
          <p:nvPr/>
        </p:nvSpPr>
        <p:spPr>
          <a:xfrm>
            <a:off x="5531328" y="2240280"/>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Telemetry batches</a:t>
            </a:r>
          </a:p>
        </p:txBody>
      </p:sp>
      <p:sp>
        <p:nvSpPr>
          <p:cNvPr id="28" name="TextBox 27"/>
          <p:cNvSpPr txBox="1"/>
          <p:nvPr/>
        </p:nvSpPr>
        <p:spPr>
          <a:xfrm>
            <a:off x="7094937" y="2240280"/>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Buffered observations</a:t>
            </a:r>
          </a:p>
        </p:txBody>
      </p:sp>
      <p:sp>
        <p:nvSpPr>
          <p:cNvPr id="29" name="TextBox 28"/>
          <p:cNvSpPr txBox="1"/>
          <p:nvPr/>
        </p:nvSpPr>
        <p:spPr>
          <a:xfrm>
            <a:off x="8776726" y="2240280"/>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FastAPI, in-memory state</a:t>
            </a:r>
          </a:p>
        </p:txBody>
      </p:sp>
      <p:sp>
        <p:nvSpPr>
          <p:cNvPr id="30" name="TextBox 29"/>
          <p:cNvSpPr txBox="1"/>
          <p:nvPr/>
        </p:nvSpPr>
        <p:spPr>
          <a:xfrm>
            <a:off x="10640329" y="2240280"/>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31" name="Rectangle 30"/>
          <p:cNvSpPr/>
          <p:nvPr/>
        </p:nvSpPr>
        <p:spPr>
          <a:xfrm>
            <a:off x="630936" y="2596896"/>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3231" y="2642616"/>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M3  Holographic Twin</a:t>
            </a:r>
          </a:p>
        </p:txBody>
      </p:sp>
      <p:sp>
        <p:nvSpPr>
          <p:cNvPr id="33" name="TextBox 32"/>
          <p:cNvSpPr txBox="1"/>
          <p:nvPr/>
        </p:nvSpPr>
        <p:spPr>
          <a:xfrm>
            <a:off x="2622289" y="2642616"/>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Maintain five-plane state and gate hostile data out of history.</a:t>
            </a:r>
          </a:p>
        </p:txBody>
      </p:sp>
      <p:sp>
        <p:nvSpPr>
          <p:cNvPr id="34" name="TextBox 33"/>
          <p:cNvSpPr txBox="1"/>
          <p:nvPr/>
        </p:nvSpPr>
        <p:spPr>
          <a:xfrm>
            <a:off x="5531328" y="2642616"/>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Trusted observations</a:t>
            </a:r>
          </a:p>
        </p:txBody>
      </p:sp>
      <p:sp>
        <p:nvSpPr>
          <p:cNvPr id="35" name="TextBox 34"/>
          <p:cNvSpPr txBox="1"/>
          <p:nvPr/>
        </p:nvSpPr>
        <p:spPr>
          <a:xfrm>
            <a:off x="7094937" y="2642616"/>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Per-plane deviation</a:t>
            </a:r>
          </a:p>
        </p:txBody>
      </p:sp>
      <p:sp>
        <p:nvSpPr>
          <p:cNvPr id="36" name="TextBox 35"/>
          <p:cNvSpPr txBox="1"/>
          <p:nvPr/>
        </p:nvSpPr>
        <p:spPr>
          <a:xfrm>
            <a:off x="8776726" y="2642616"/>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EWMA + plane projections</a:t>
            </a:r>
          </a:p>
        </p:txBody>
      </p:sp>
      <p:sp>
        <p:nvSpPr>
          <p:cNvPr id="37" name="TextBox 36"/>
          <p:cNvSpPr txBox="1"/>
          <p:nvPr/>
        </p:nvSpPr>
        <p:spPr>
          <a:xfrm>
            <a:off x="10640329" y="2642616"/>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38" name="Rectangle 37"/>
          <p:cNvSpPr/>
          <p:nvPr/>
        </p:nvSpPr>
        <p:spPr>
          <a:xfrm>
            <a:off x="630936" y="2999232"/>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3231" y="3044952"/>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M4  Future Generator</a:t>
            </a:r>
          </a:p>
        </p:txBody>
      </p:sp>
      <p:sp>
        <p:nvSpPr>
          <p:cNvPr id="40" name="TextBox 39"/>
          <p:cNvSpPr txBox="1"/>
          <p:nvPr/>
        </p:nvSpPr>
        <p:spPr>
          <a:xfrm>
            <a:off x="2622289" y="3044952"/>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Fit a forward model and roll out committed trajectories.</a:t>
            </a:r>
          </a:p>
        </p:txBody>
      </p:sp>
      <p:sp>
        <p:nvSpPr>
          <p:cNvPr id="41" name="TextBox 40"/>
          <p:cNvSpPr txBox="1"/>
          <p:nvPr/>
        </p:nvSpPr>
        <p:spPr>
          <a:xfrm>
            <a:off x="5531328" y="3044952"/>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Twin history</a:t>
            </a:r>
          </a:p>
        </p:txBody>
      </p:sp>
      <p:sp>
        <p:nvSpPr>
          <p:cNvPr id="42" name="TextBox 41"/>
          <p:cNvSpPr txBox="1"/>
          <p:nvPr/>
        </p:nvSpPr>
        <p:spPr>
          <a:xfrm>
            <a:off x="7094937" y="3044952"/>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20 x 5 futures</a:t>
            </a:r>
          </a:p>
        </p:txBody>
      </p:sp>
      <p:sp>
        <p:nvSpPr>
          <p:cNvPr id="43" name="TextBox 42"/>
          <p:cNvSpPr txBox="1"/>
          <p:nvPr/>
        </p:nvSpPr>
        <p:spPr>
          <a:xfrm>
            <a:off x="8776726" y="3044952"/>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Ridge vector autoregression</a:t>
            </a:r>
          </a:p>
        </p:txBody>
      </p:sp>
      <p:sp>
        <p:nvSpPr>
          <p:cNvPr id="44" name="TextBox 43"/>
          <p:cNvSpPr txBox="1"/>
          <p:nvPr/>
        </p:nvSpPr>
        <p:spPr>
          <a:xfrm>
            <a:off x="10640329" y="3044952"/>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45" name="Rectangle 44"/>
          <p:cNvSpPr/>
          <p:nvPr/>
        </p:nvSpPr>
        <p:spPr>
          <a:xfrm>
            <a:off x="630936" y="3401568"/>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13231" y="3447288"/>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M5  Threat Detector</a:t>
            </a:r>
          </a:p>
        </p:txBody>
      </p:sp>
      <p:sp>
        <p:nvSpPr>
          <p:cNvPr id="47" name="TextBox 46"/>
          <p:cNvSpPr txBox="1"/>
          <p:nvPr/>
        </p:nvSpPr>
        <p:spPr>
          <a:xfrm>
            <a:off x="2622289" y="3447288"/>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Classify an observation into normal or one of six attack classes.</a:t>
            </a:r>
          </a:p>
        </p:txBody>
      </p:sp>
      <p:sp>
        <p:nvSpPr>
          <p:cNvPr id="48" name="TextBox 47"/>
          <p:cNvSpPr txBox="1"/>
          <p:nvPr/>
        </p:nvSpPr>
        <p:spPr>
          <a:xfrm>
            <a:off x="5531328" y="3447288"/>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Engineered features</a:t>
            </a:r>
          </a:p>
        </p:txBody>
      </p:sp>
      <p:sp>
        <p:nvSpPr>
          <p:cNvPr id="49" name="TextBox 48"/>
          <p:cNvSpPr txBox="1"/>
          <p:nvPr/>
        </p:nvSpPr>
        <p:spPr>
          <a:xfrm>
            <a:off x="7094937" y="3447288"/>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Class, confidence, risk</a:t>
            </a:r>
          </a:p>
        </p:txBody>
      </p:sp>
      <p:sp>
        <p:nvSpPr>
          <p:cNvPr id="50" name="TextBox 49"/>
          <p:cNvSpPr txBox="1"/>
          <p:nvPr/>
        </p:nvSpPr>
        <p:spPr>
          <a:xfrm>
            <a:off x="8776726" y="3447288"/>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scikit-learn random forest</a:t>
            </a:r>
          </a:p>
        </p:txBody>
      </p:sp>
      <p:sp>
        <p:nvSpPr>
          <p:cNvPr id="51" name="TextBox 50"/>
          <p:cNvSpPr txBox="1"/>
          <p:nvPr/>
        </p:nvSpPr>
        <p:spPr>
          <a:xfrm>
            <a:off x="10640329" y="3447288"/>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52" name="Rectangle 51"/>
          <p:cNvSpPr/>
          <p:nvPr/>
        </p:nvSpPr>
        <p:spPr>
          <a:xfrm>
            <a:off x="630936" y="3803904"/>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13231" y="3849624"/>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M6  Poisoning Forge</a:t>
            </a:r>
          </a:p>
        </p:txBody>
      </p:sp>
      <p:sp>
        <p:nvSpPr>
          <p:cNvPr id="54" name="TextBox 53"/>
          <p:cNvSpPr txBox="1"/>
          <p:nvPr/>
        </p:nvSpPr>
        <p:spPr>
          <a:xfrm>
            <a:off x="2622289" y="3849624"/>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Craft label-flip, gradual, backdoor, Sybil and clean-label updates.</a:t>
            </a:r>
          </a:p>
        </p:txBody>
      </p:sp>
      <p:sp>
        <p:nvSpPr>
          <p:cNvPr id="55" name="TextBox 54"/>
          <p:cNvSpPr txBox="1"/>
          <p:nvPr/>
        </p:nvSpPr>
        <p:spPr>
          <a:xfrm>
            <a:off x="5531328" y="3849624"/>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Held-out pool</a:t>
            </a:r>
          </a:p>
        </p:txBody>
      </p:sp>
      <p:sp>
        <p:nvSpPr>
          <p:cNvPr id="56" name="TextBox 55"/>
          <p:cNvSpPr txBox="1"/>
          <p:nvPr/>
        </p:nvSpPr>
        <p:spPr>
          <a:xfrm>
            <a:off x="7094937" y="3849624"/>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Model updates</a:t>
            </a:r>
          </a:p>
        </p:txBody>
      </p:sp>
      <p:sp>
        <p:nvSpPr>
          <p:cNvPr id="57" name="TextBox 56"/>
          <p:cNvSpPr txBox="1"/>
          <p:nvPr/>
        </p:nvSpPr>
        <p:spPr>
          <a:xfrm>
            <a:off x="8776726" y="3849624"/>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Five strategy generators</a:t>
            </a:r>
          </a:p>
        </p:txBody>
      </p:sp>
      <p:sp>
        <p:nvSpPr>
          <p:cNvPr id="58" name="TextBox 57"/>
          <p:cNvSpPr txBox="1"/>
          <p:nvPr/>
        </p:nvSpPr>
        <p:spPr>
          <a:xfrm>
            <a:off x="10640329" y="3849624"/>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59" name="Rectangle 58"/>
          <p:cNvSpPr/>
          <p:nvPr/>
        </p:nvSpPr>
        <p:spPr>
          <a:xfrm>
            <a:off x="630936" y="4206240"/>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13231" y="4251960"/>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M7  CCS Validator</a:t>
            </a:r>
          </a:p>
        </p:txBody>
      </p:sp>
      <p:sp>
        <p:nvSpPr>
          <p:cNvPr id="61" name="TextBox 60"/>
          <p:cNvSpPr txBox="1"/>
          <p:nvPr/>
        </p:nvSpPr>
        <p:spPr>
          <a:xfrm>
            <a:off x="2622289" y="4251960"/>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Train a shadow model and score it against the audit bank.</a:t>
            </a:r>
          </a:p>
        </p:txBody>
      </p:sp>
      <p:sp>
        <p:nvSpPr>
          <p:cNvPr id="62" name="TextBox 61"/>
          <p:cNvSpPr txBox="1"/>
          <p:nvPr/>
        </p:nvSpPr>
        <p:spPr>
          <a:xfrm>
            <a:off x="5531328" y="4251960"/>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Update + bank + core</a:t>
            </a:r>
          </a:p>
        </p:txBody>
      </p:sp>
      <p:sp>
        <p:nvSpPr>
          <p:cNvPr id="63" name="TextBox 62"/>
          <p:cNvSpPr txBox="1"/>
          <p:nvPr/>
        </p:nvSpPr>
        <p:spPr>
          <a:xfrm>
            <a:off x="7094937" y="4251960"/>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Six components, verdict</a:t>
            </a:r>
          </a:p>
        </p:txBody>
      </p:sp>
      <p:sp>
        <p:nvSpPr>
          <p:cNvPr id="64" name="TextBox 63"/>
          <p:cNvSpPr txBox="1"/>
          <p:nvPr/>
        </p:nvSpPr>
        <p:spPr>
          <a:xfrm>
            <a:off x="8776726" y="4251960"/>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Shadow forest + calibration</a:t>
            </a:r>
          </a:p>
        </p:txBody>
      </p:sp>
      <p:sp>
        <p:nvSpPr>
          <p:cNvPr id="65" name="TextBox 64"/>
          <p:cNvSpPr txBox="1"/>
          <p:nvPr/>
        </p:nvSpPr>
        <p:spPr>
          <a:xfrm>
            <a:off x="10640329" y="4251960"/>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66" name="Rectangle 65"/>
          <p:cNvSpPr/>
          <p:nvPr/>
        </p:nvSpPr>
        <p:spPr>
          <a:xfrm>
            <a:off x="630936" y="4608576"/>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713231" y="4654296"/>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M8  Quarantine Zone</a:t>
            </a:r>
          </a:p>
        </p:txBody>
      </p:sp>
      <p:sp>
        <p:nvSpPr>
          <p:cNvPr id="68" name="TextBox 67"/>
          <p:cNvSpPr txBox="1"/>
          <p:nvPr/>
        </p:nvSpPr>
        <p:spPr>
          <a:xfrm>
            <a:off x="2622289" y="4654296"/>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Hold suspect updates intact, run forensics, re-score on demand.</a:t>
            </a:r>
          </a:p>
        </p:txBody>
      </p:sp>
      <p:sp>
        <p:nvSpPr>
          <p:cNvPr id="69" name="TextBox 68"/>
          <p:cNvSpPr txBox="1"/>
          <p:nvPr/>
        </p:nvSpPr>
        <p:spPr>
          <a:xfrm>
            <a:off x="5531328" y="4654296"/>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Quarantined updates</a:t>
            </a:r>
          </a:p>
        </p:txBody>
      </p:sp>
      <p:sp>
        <p:nvSpPr>
          <p:cNvPr id="70" name="TextBox 69"/>
          <p:cNvSpPr txBox="1"/>
          <p:nvPr/>
        </p:nvSpPr>
        <p:spPr>
          <a:xfrm>
            <a:off x="7094937" y="4654296"/>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Findings, release decision</a:t>
            </a:r>
          </a:p>
        </p:txBody>
      </p:sp>
      <p:sp>
        <p:nvSpPr>
          <p:cNvPr id="71" name="TextBox 70"/>
          <p:cNvSpPr txBox="1"/>
          <p:nvPr/>
        </p:nvSpPr>
        <p:spPr>
          <a:xfrm>
            <a:off x="8776726" y="4654296"/>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Provenance ledger</a:t>
            </a:r>
          </a:p>
        </p:txBody>
      </p:sp>
      <p:sp>
        <p:nvSpPr>
          <p:cNvPr id="72" name="TextBox 71"/>
          <p:cNvSpPr txBox="1"/>
          <p:nvPr/>
        </p:nvSpPr>
        <p:spPr>
          <a:xfrm>
            <a:off x="10640329" y="4654296"/>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73" name="Rectangle 72"/>
          <p:cNvSpPr/>
          <p:nvPr/>
        </p:nvSpPr>
        <p:spPr>
          <a:xfrm>
            <a:off x="630936" y="5010912"/>
            <a:ext cx="10927080" cy="402336"/>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13231" y="5056632"/>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M9  Immunization Engine</a:t>
            </a:r>
          </a:p>
        </p:txBody>
      </p:sp>
      <p:sp>
        <p:nvSpPr>
          <p:cNvPr id="75" name="TextBox 74"/>
          <p:cNvSpPr txBox="1"/>
          <p:nvPr/>
        </p:nvSpPr>
        <p:spPr>
          <a:xfrm>
            <a:off x="2622289" y="5056632"/>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Synthesise vaccines and rehearse every poisoning strategy.</a:t>
            </a:r>
          </a:p>
        </p:txBody>
      </p:sp>
      <p:sp>
        <p:nvSpPr>
          <p:cNvPr id="76" name="TextBox 75"/>
          <p:cNvSpPr txBox="1"/>
          <p:nvPr/>
        </p:nvSpPr>
        <p:spPr>
          <a:xfrm>
            <a:off x="5531328" y="5056632"/>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Committed futures</a:t>
            </a:r>
          </a:p>
        </p:txBody>
      </p:sp>
      <p:sp>
        <p:nvSpPr>
          <p:cNvPr id="77" name="TextBox 76"/>
          <p:cNvSpPr txBox="1"/>
          <p:nvPr/>
        </p:nvSpPr>
        <p:spPr>
          <a:xfrm>
            <a:off x="7094937" y="5056632"/>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Vaccine rows, resistance</a:t>
            </a:r>
          </a:p>
        </p:txBody>
      </p:sp>
      <p:sp>
        <p:nvSpPr>
          <p:cNvPr id="78" name="TextBox 77"/>
          <p:cNvSpPr txBox="1"/>
          <p:nvPr/>
        </p:nvSpPr>
        <p:spPr>
          <a:xfrm>
            <a:off x="8776726" y="5056632"/>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Boundary / relabel / trigger</a:t>
            </a:r>
          </a:p>
        </p:txBody>
      </p:sp>
      <p:sp>
        <p:nvSpPr>
          <p:cNvPr id="79" name="TextBox 78"/>
          <p:cNvSpPr txBox="1"/>
          <p:nvPr/>
        </p:nvSpPr>
        <p:spPr>
          <a:xfrm>
            <a:off x="10640329" y="5056632"/>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80" name="Rectangle 79"/>
          <p:cNvSpPr/>
          <p:nvPr/>
        </p:nvSpPr>
        <p:spPr>
          <a:xfrm>
            <a:off x="630936" y="5413248"/>
            <a:ext cx="10927080" cy="402336"/>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713231" y="5458968"/>
            <a:ext cx="1744465" cy="329184"/>
          </a:xfrm>
          <a:prstGeom prst="rect">
            <a:avLst/>
          </a:prstGeom>
          <a:noFill/>
        </p:spPr>
        <p:txBody>
          <a:bodyPr wrap="square" lIns="0" rIns="0" tIns="0" bIns="0" anchor="t">
            <a:spAutoFit/>
          </a:bodyPr>
          <a:lstStyle/>
          <a:p>
            <a:pPr algn="l">
              <a:lnSpc>
                <a:spcPct val="92000"/>
              </a:lnSpc>
              <a:spcAft>
                <a:spcPts val="0"/>
              </a:spcAft>
            </a:pPr>
            <a:r>
              <a:rPr sz="1150" b="1" i="0">
                <a:solidFill>
                  <a:srgbClr val="1F2A44"/>
                </a:solidFill>
                <a:latin typeface="Times New Roman"/>
              </a:rPr>
              <a:t>M10  Console &amp; Self-Heal</a:t>
            </a:r>
          </a:p>
        </p:txBody>
      </p:sp>
      <p:sp>
        <p:nvSpPr>
          <p:cNvPr id="82" name="TextBox 81"/>
          <p:cNvSpPr txBox="1"/>
          <p:nvPr/>
        </p:nvSpPr>
        <p:spPr>
          <a:xfrm>
            <a:off x="2622289" y="5458968"/>
            <a:ext cx="2744447"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Drive all twelve steps manually; roll back and purge on degradation.</a:t>
            </a:r>
          </a:p>
        </p:txBody>
      </p:sp>
      <p:sp>
        <p:nvSpPr>
          <p:cNvPr id="83" name="TextBox 82"/>
          <p:cNvSpPr txBox="1"/>
          <p:nvPr/>
        </p:nvSpPr>
        <p:spPr>
          <a:xfrm>
            <a:off x="5531328" y="5458968"/>
            <a:ext cx="139901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Operator actions</a:t>
            </a:r>
          </a:p>
        </p:txBody>
      </p:sp>
      <p:sp>
        <p:nvSpPr>
          <p:cNvPr id="84" name="TextBox 83"/>
          <p:cNvSpPr txBox="1"/>
          <p:nvPr/>
        </p:nvSpPr>
        <p:spPr>
          <a:xfrm>
            <a:off x="7094937" y="5458968"/>
            <a:ext cx="1517196"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State, explanations</a:t>
            </a:r>
          </a:p>
        </p:txBody>
      </p:sp>
      <p:sp>
        <p:nvSpPr>
          <p:cNvPr id="85" name="TextBox 84"/>
          <p:cNvSpPr txBox="1"/>
          <p:nvPr/>
        </p:nvSpPr>
        <p:spPr>
          <a:xfrm>
            <a:off x="8776726" y="5458968"/>
            <a:ext cx="1699011" cy="329184"/>
          </a:xfrm>
          <a:prstGeom prst="rect">
            <a:avLst/>
          </a:prstGeom>
          <a:noFill/>
        </p:spPr>
        <p:txBody>
          <a:bodyPr wrap="square" lIns="0" rIns="0" tIns="0" bIns="0" anchor="t">
            <a:spAutoFit/>
          </a:bodyPr>
          <a:lstStyle/>
          <a:p>
            <a:pPr algn="l">
              <a:lnSpc>
                <a:spcPct val="92000"/>
              </a:lnSpc>
              <a:spcAft>
                <a:spcPts val="0"/>
              </a:spcAft>
            </a:pPr>
            <a:r>
              <a:rPr sz="1150" b="0" i="0">
                <a:solidFill>
                  <a:srgbClr val="55617A"/>
                </a:solidFill>
                <a:latin typeface="Times New Roman"/>
              </a:rPr>
              <a:t>Vanilla JS, model registry</a:t>
            </a:r>
          </a:p>
        </p:txBody>
      </p:sp>
      <p:sp>
        <p:nvSpPr>
          <p:cNvPr id="86" name="TextBox 85"/>
          <p:cNvSpPr txBox="1"/>
          <p:nvPr/>
        </p:nvSpPr>
        <p:spPr>
          <a:xfrm>
            <a:off x="10640329" y="5458968"/>
            <a:ext cx="835390" cy="329184"/>
          </a:xfrm>
          <a:prstGeom prst="rect">
            <a:avLst/>
          </a:prstGeom>
          <a:noFill/>
        </p:spPr>
        <p:txBody>
          <a:bodyPr wrap="square" lIns="0" rIns="0" tIns="0" bIns="0" anchor="t">
            <a:spAutoFit/>
          </a:bodyPr>
          <a:lstStyle/>
          <a:p>
            <a:pPr algn="l">
              <a:lnSpc>
                <a:spcPct val="92000"/>
              </a:lnSpc>
              <a:spcAft>
                <a:spcPts val="0"/>
              </a:spcAft>
            </a:pPr>
            <a:r>
              <a:rPr sz="1150" b="1" i="0">
                <a:solidFill>
                  <a:srgbClr val="0E8C79"/>
                </a:solidFill>
                <a:latin typeface="Times New Roman"/>
              </a:rPr>
              <a:t>Complete</a:t>
            </a:r>
          </a:p>
        </p:txBody>
      </p:sp>
      <p:sp>
        <p:nvSpPr>
          <p:cNvPr id="87" name="Rounded Rectangle 86"/>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Corrected since Review-1:  </a:t>
            </a:r>
            <a:r>
              <a:rPr sz="1600" b="0" i="0">
                <a:solidFill>
                  <a:srgbClr val="1F2A44"/>
                </a:solidFill>
                <a:latin typeface="Times New Roman"/>
              </a:rPr>
              <a:t>the forward model is ridge VAR rather than LSTM/GRU, transport is HTTP rather than MQTT, and the console is vanilla JS — each chosen so the whole pipeline runs on a laptop-class gateway with no GPU.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10</a:t>
            </a:r>
            <a:r>
              <a:rPr sz="1550" b="0" i="0">
                <a:solidFill>
                  <a:srgbClr val="D7DEE9"/>
                </a:solidFill>
                <a:latin typeface="Times New Roman"/>
              </a:rPr>
              <a:t>   ·   </a:t>
            </a:r>
            <a:r>
              <a:rPr sz="1550" b="1" i="0">
                <a:solidFill>
                  <a:srgbClr val="55617A"/>
                </a:solidFill>
                <a:latin typeface="Times New Roman"/>
              </a:rPr>
              <a:t>EVALUATION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Experiments — Design</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Testbed, attack model, baselines and metrics  ·  what is measured and what is still outstanding</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13 / 16</a:t>
            </a:r>
          </a:p>
        </p:txBody>
      </p:sp>
      <p:sp>
        <p:nvSpPr>
          <p:cNvPr id="10" name="Rounded Rectangle 9"/>
          <p:cNvSpPr/>
          <p:nvPr/>
        </p:nvSpPr>
        <p:spPr>
          <a:xfrm>
            <a:off x="630936" y="1481328"/>
            <a:ext cx="5321808" cy="22128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30936" y="1481328"/>
            <a:ext cx="5321808"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 y="1609344"/>
            <a:ext cx="4992624"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EXPERIMENTAL SETUP</a:t>
            </a:r>
          </a:p>
        </p:txBody>
      </p:sp>
      <p:sp>
        <p:nvSpPr>
          <p:cNvPr id="13" name="TextBox 12"/>
          <p:cNvSpPr txBox="1"/>
          <p:nvPr/>
        </p:nvSpPr>
        <p:spPr>
          <a:xfrm>
            <a:off x="795527" y="1883664"/>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Eight simulated devices — two cameras, two bulbs, plug, lock, temperature sensor, speaker.</a:t>
            </a:r>
          </a:p>
        </p:txBody>
      </p:sp>
      <p:sp>
        <p:nvSpPr>
          <p:cNvPr id="14" name="TextBox 13"/>
          <p:cNvSpPr txBox="1"/>
          <p:nvPr/>
        </p:nvSpPr>
        <p:spPr>
          <a:xfrm>
            <a:off x="795527" y="2231136"/>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Telemetry: 16 features per device per tick, clamped to physical ranges; counts rounded to integers.</a:t>
            </a:r>
          </a:p>
        </p:txBody>
      </p:sp>
      <p:sp>
        <p:nvSpPr>
          <p:cNvPr id="15" name="TextBox 14"/>
          <p:cNvSpPr txBox="1"/>
          <p:nvPr/>
        </p:nvSpPr>
        <p:spPr>
          <a:xfrm>
            <a:off x="795527" y="2578608"/>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Corpus: 2,660 rows balanced across seven classes, attacks drawn across intensities 0.28–1.0.</a:t>
            </a:r>
          </a:p>
        </p:txBody>
      </p:sp>
      <p:sp>
        <p:nvSpPr>
          <p:cNvPr id="16" name="TextBox 15"/>
          <p:cNvSpPr txBox="1"/>
          <p:nvPr/>
        </p:nvSpPr>
        <p:spPr>
          <a:xfrm>
            <a:off x="795527" y="2926080"/>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Split: 1,649 train, 1,011 held-out evaluation, 1,100 trusted core for shadow models.</a:t>
            </a:r>
          </a:p>
        </p:txBody>
      </p:sp>
      <p:sp>
        <p:nvSpPr>
          <p:cNvPr id="17" name="TextBox 16"/>
          <p:cNvSpPr txBox="1"/>
          <p:nvPr/>
        </p:nvSpPr>
        <p:spPr>
          <a:xfrm>
            <a:off x="795527" y="3273552"/>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Runs on a laptop-class CPU; no GPU anywhere in the pipeline.</a:t>
            </a:r>
          </a:p>
        </p:txBody>
      </p:sp>
      <p:sp>
        <p:nvSpPr>
          <p:cNvPr id="18" name="Rounded Rectangle 17"/>
          <p:cNvSpPr/>
          <p:nvPr/>
        </p:nvSpPr>
        <p:spPr>
          <a:xfrm>
            <a:off x="6236208" y="1481328"/>
            <a:ext cx="5321808" cy="22128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36208" y="1481328"/>
            <a:ext cx="5321808"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609344"/>
            <a:ext cx="4992624"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ATTACK MODEL</a:t>
            </a:r>
          </a:p>
        </p:txBody>
      </p:sp>
      <p:sp>
        <p:nvSpPr>
          <p:cNvPr id="21" name="TextBox 20"/>
          <p:cNvSpPr txBox="1"/>
          <p:nvPr/>
        </p:nvSpPr>
        <p:spPr>
          <a:xfrm>
            <a:off x="6400800" y="1883664"/>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Runtime attacks: DDoS, botnet C2, brute force, port scan, data exfiltration, firmware tamper.</a:t>
            </a:r>
          </a:p>
        </p:txBody>
      </p:sp>
      <p:sp>
        <p:nvSpPr>
          <p:cNvPr id="22" name="TextBox 21"/>
          <p:cNvSpPr txBox="1"/>
          <p:nvPr/>
        </p:nvSpPr>
        <p:spPr>
          <a:xfrm>
            <a:off x="6400800" y="2231136"/>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Poisoning strategies: label flipping, gradual poisoning, backdoor trigger, Sybil flood, clean-label.</a:t>
            </a:r>
          </a:p>
        </p:txBody>
      </p:sp>
      <p:sp>
        <p:nvSpPr>
          <p:cNvPr id="23" name="TextBox 22"/>
          <p:cNvSpPr txBox="1"/>
          <p:nvPr/>
        </p:nvSpPr>
        <p:spPr>
          <a:xfrm>
            <a:off x="6400800" y="2578608"/>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Each poisoned update is weighted to a 35% federated share of training mass, the realistic contributor scale.</a:t>
            </a:r>
          </a:p>
        </p:txBody>
      </p:sp>
      <p:sp>
        <p:nvSpPr>
          <p:cNvPr id="24" name="TextBox 23"/>
          <p:cNvSpPr txBox="1"/>
          <p:nvPr/>
        </p:nvSpPr>
        <p:spPr>
          <a:xfrm>
            <a:off x="6400800" y="2926080"/>
            <a:ext cx="4992624" cy="329184"/>
          </a:xfrm>
          <a:prstGeom prst="rect">
            <a:avLst/>
          </a:prstGeom>
          <a:noFill/>
        </p:spPr>
        <p:txBody>
          <a:bodyPr wrap="square" lIns="0" rIns="0" tIns="0" bIns="0" anchor="t">
            <a:spAutoFit/>
          </a:bodyPr>
          <a:lstStyle/>
          <a:p>
            <a:pPr algn="l">
              <a:lnSpc>
                <a:spcPct val="103000"/>
              </a:lnSpc>
              <a:spcAft>
                <a:spcPts val="0"/>
              </a:spcAft>
            </a:pPr>
            <a:r>
              <a:rPr sz="1300" b="1" i="0">
                <a:solidFill>
                  <a:srgbClr val="D7DEE9"/>
                </a:solidFill>
                <a:latin typeface="Times New Roman"/>
              </a:rPr>
              <a:t>—  </a:t>
            </a:r>
            <a:r>
              <a:rPr sz="1300" b="0" i="0">
                <a:solidFill>
                  <a:srgbClr val="1F2A44"/>
                </a:solidFill>
                <a:latin typeface="Times New Roman"/>
              </a:rPr>
              <a:t>Ground truth is recorded by the simulator but never shown to the twin, the detector or the validator.</a:t>
            </a:r>
          </a:p>
        </p:txBody>
      </p:sp>
      <p:sp>
        <p:nvSpPr>
          <p:cNvPr id="25" name="Rounded Rectangle 24"/>
          <p:cNvSpPr/>
          <p:nvPr/>
        </p:nvSpPr>
        <p:spPr>
          <a:xfrm>
            <a:off x="630936" y="3803904"/>
            <a:ext cx="5321808" cy="1883664"/>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30936" y="3803904"/>
            <a:ext cx="5321808" cy="36576"/>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3931920"/>
            <a:ext cx="4992624"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EVALUATION METRICS</a:t>
            </a:r>
          </a:p>
        </p:txBody>
      </p:sp>
      <p:sp>
        <p:nvSpPr>
          <p:cNvPr id="28" name="TextBox 27"/>
          <p:cNvSpPr txBox="1"/>
          <p:nvPr/>
        </p:nvSpPr>
        <p:spPr>
          <a:xfrm>
            <a:off x="795528" y="4206240"/>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Detection  </a:t>
            </a:r>
            <a:r>
              <a:rPr sz="1300" b="0" i="0">
                <a:solidFill>
                  <a:srgbClr val="55617A"/>
                </a:solidFill>
                <a:latin typeface="Times New Roman"/>
              </a:rPr>
              <a:t>accuracy, macro-F1, false positive and false negative rate</a:t>
            </a:r>
          </a:p>
        </p:txBody>
      </p:sp>
      <p:sp>
        <p:nvSpPr>
          <p:cNvPr id="29" name="TextBox 28"/>
          <p:cNvSpPr txBox="1"/>
          <p:nvPr/>
        </p:nvSpPr>
        <p:spPr>
          <a:xfrm>
            <a:off x="795528" y="4498848"/>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Twin  </a:t>
            </a:r>
            <a:r>
              <a:rPr sz="1300" b="0" i="0">
                <a:solidFill>
                  <a:srgbClr val="55617A"/>
                </a:solidFill>
                <a:latin typeface="Times New Roman"/>
              </a:rPr>
              <a:t>counterfactual consistency separation, flag rate on healthy traffic</a:t>
            </a:r>
          </a:p>
        </p:txBody>
      </p:sp>
      <p:sp>
        <p:nvSpPr>
          <p:cNvPr id="30" name="TextBox 29"/>
          <p:cNvSpPr txBox="1"/>
          <p:nvPr/>
        </p:nvSpPr>
        <p:spPr>
          <a:xfrm>
            <a:off x="795528" y="4791455"/>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Validation  </a:t>
            </a:r>
            <a:r>
              <a:rPr sz="1300" b="0" i="0">
                <a:solidFill>
                  <a:srgbClr val="55617A"/>
                </a:solidFill>
                <a:latin typeface="Times New Roman"/>
              </a:rPr>
              <a:t>CCS separation between honest and poisoned updates; decision correctness</a:t>
            </a:r>
          </a:p>
        </p:txBody>
      </p:sp>
      <p:sp>
        <p:nvSpPr>
          <p:cNvPr id="31" name="TextBox 30"/>
          <p:cNvSpPr txBox="1"/>
          <p:nvPr/>
        </p:nvSpPr>
        <p:spPr>
          <a:xfrm>
            <a:off x="795528" y="5084064"/>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Immunization  </a:t>
            </a:r>
            <a:r>
              <a:rPr sz="1300" b="0" i="0">
                <a:solidFill>
                  <a:srgbClr val="55617A"/>
                </a:solidFill>
                <a:latin typeface="Times New Roman"/>
              </a:rPr>
              <a:t>surviving attack recall per rehearsed strategy</a:t>
            </a:r>
          </a:p>
        </p:txBody>
      </p:sp>
      <p:sp>
        <p:nvSpPr>
          <p:cNvPr id="32" name="TextBox 31"/>
          <p:cNvSpPr txBox="1"/>
          <p:nvPr/>
        </p:nvSpPr>
        <p:spPr>
          <a:xfrm>
            <a:off x="795528" y="5376672"/>
            <a:ext cx="4992624" cy="274320"/>
          </a:xfrm>
          <a:prstGeom prst="rect">
            <a:avLst/>
          </a:prstGeom>
          <a:noFill/>
        </p:spPr>
        <p:txBody>
          <a:bodyPr wrap="square" lIns="0" rIns="0" tIns="0" bIns="0" anchor="t">
            <a:spAutoFit/>
          </a:bodyPr>
          <a:lstStyle/>
          <a:p>
            <a:pPr algn="l">
              <a:lnSpc>
                <a:spcPct val="100000"/>
              </a:lnSpc>
              <a:spcAft>
                <a:spcPts val="0"/>
              </a:spcAft>
            </a:pPr>
            <a:r>
              <a:rPr sz="1300" b="1" i="0">
                <a:solidFill>
                  <a:srgbClr val="1F2A44"/>
                </a:solidFill>
                <a:latin typeface="Times New Roman"/>
              </a:rPr>
              <a:t>Cost  </a:t>
            </a:r>
            <a:r>
              <a:rPr sz="1300" b="0" i="0">
                <a:solidFill>
                  <a:srgbClr val="55617A"/>
                </a:solidFill>
                <a:latin typeface="Times New Roman"/>
              </a:rPr>
              <a:t>per-update validation latency at the edge</a:t>
            </a:r>
          </a:p>
        </p:txBody>
      </p:sp>
      <p:sp>
        <p:nvSpPr>
          <p:cNvPr id="33" name="Rounded Rectangle 32"/>
          <p:cNvSpPr/>
          <p:nvPr/>
        </p:nvSpPr>
        <p:spPr>
          <a:xfrm>
            <a:off x="6236208" y="3803904"/>
            <a:ext cx="5321808" cy="1883664"/>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36208" y="3803904"/>
            <a:ext cx="5321808" cy="36576"/>
          </a:xfrm>
          <a:prstGeom prst="rect">
            <a:avLst/>
          </a:prstGeom>
          <a:solidFill>
            <a:srgbClr val="B87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3931920"/>
            <a:ext cx="4992624" cy="201168"/>
          </a:xfrm>
          <a:prstGeom prst="rect">
            <a:avLst/>
          </a:prstGeom>
          <a:noFill/>
        </p:spPr>
        <p:txBody>
          <a:bodyPr wrap="square" lIns="0" rIns="0" tIns="0" bIns="0" anchor="t">
            <a:spAutoFit/>
          </a:bodyPr>
          <a:lstStyle/>
          <a:p>
            <a:pPr algn="l">
              <a:spcAft>
                <a:spcPts val="0"/>
              </a:spcAft>
            </a:pPr>
            <a:r>
              <a:rPr sz="1300" b="1" i="0">
                <a:solidFill>
                  <a:srgbClr val="B8720A"/>
                </a:solidFill>
                <a:latin typeface="Times New Roman"/>
              </a:rPr>
              <a:t>OUTSTANDING FOR REVIEW-3</a:t>
            </a:r>
          </a:p>
        </p:txBody>
      </p:sp>
      <p:sp>
        <p:nvSpPr>
          <p:cNvPr id="36" name="TextBox 35"/>
          <p:cNvSpPr txBox="1"/>
          <p:nvPr/>
        </p:nvSpPr>
        <p:spPr>
          <a:xfrm>
            <a:off x="6400800" y="4206240"/>
            <a:ext cx="4992624" cy="347472"/>
          </a:xfrm>
          <a:prstGeom prst="rect">
            <a:avLst/>
          </a:prstGeom>
          <a:noFill/>
        </p:spPr>
        <p:txBody>
          <a:bodyPr wrap="square" lIns="0" rIns="0" tIns="0" bIns="0" anchor="t">
            <a:spAutoFit/>
          </a:bodyPr>
          <a:lstStyle/>
          <a:p>
            <a:pPr algn="l">
              <a:lnSpc>
                <a:spcPct val="103000"/>
              </a:lnSpc>
              <a:spcAft>
                <a:spcPts val="0"/>
              </a:spcAft>
            </a:pPr>
            <a:r>
              <a:rPr sz="1300" b="1" i="0">
                <a:solidFill>
                  <a:srgbClr val="B8720A"/>
                </a:solidFill>
                <a:latin typeface="Times New Roman"/>
              </a:rPr>
              <a:t>○  </a:t>
            </a:r>
            <a:r>
              <a:rPr sz="1300" b="0" i="0">
                <a:solidFill>
                  <a:srgbClr val="1F2A44"/>
                </a:solidFill>
                <a:latin typeface="Times New Roman"/>
              </a:rPr>
              <a:t>Re-implement the three reactive baselines — no defence, statistical anomaly filtering, robust aggregation / trust scoring.</a:t>
            </a:r>
          </a:p>
        </p:txBody>
      </p:sp>
      <p:sp>
        <p:nvSpPr>
          <p:cNvPr id="37" name="TextBox 36"/>
          <p:cNvSpPr txBox="1"/>
          <p:nvPr/>
        </p:nvSpPr>
        <p:spPr>
          <a:xfrm>
            <a:off x="6400800" y="4572000"/>
            <a:ext cx="4992624" cy="347472"/>
          </a:xfrm>
          <a:prstGeom prst="rect">
            <a:avLst/>
          </a:prstGeom>
          <a:noFill/>
        </p:spPr>
        <p:txBody>
          <a:bodyPr wrap="square" lIns="0" rIns="0" tIns="0" bIns="0" anchor="t">
            <a:spAutoFit/>
          </a:bodyPr>
          <a:lstStyle/>
          <a:p>
            <a:pPr algn="l">
              <a:lnSpc>
                <a:spcPct val="103000"/>
              </a:lnSpc>
              <a:spcAft>
                <a:spcPts val="0"/>
              </a:spcAft>
            </a:pPr>
            <a:r>
              <a:rPr sz="1300" b="1" i="0">
                <a:solidFill>
                  <a:srgbClr val="B8720A"/>
                </a:solidFill>
                <a:latin typeface="Times New Roman"/>
              </a:rPr>
              <a:t>○  </a:t>
            </a:r>
            <a:r>
              <a:rPr sz="1300" b="0" i="0">
                <a:solidFill>
                  <a:srgbClr val="1F2A44"/>
                </a:solidFill>
                <a:latin typeface="Times New Roman"/>
              </a:rPr>
              <a:t>Sweep poisoning rates at 5%, 10%, 20% and 30% rather than a single federated share.</a:t>
            </a:r>
          </a:p>
        </p:txBody>
      </p:sp>
      <p:sp>
        <p:nvSpPr>
          <p:cNvPr id="38" name="TextBox 37"/>
          <p:cNvSpPr txBox="1"/>
          <p:nvPr/>
        </p:nvSpPr>
        <p:spPr>
          <a:xfrm>
            <a:off x="6400800" y="4937759"/>
            <a:ext cx="4992624" cy="347472"/>
          </a:xfrm>
          <a:prstGeom prst="rect">
            <a:avLst/>
          </a:prstGeom>
          <a:noFill/>
        </p:spPr>
        <p:txBody>
          <a:bodyPr wrap="square" lIns="0" rIns="0" tIns="0" bIns="0" anchor="t">
            <a:spAutoFit/>
          </a:bodyPr>
          <a:lstStyle/>
          <a:p>
            <a:pPr algn="l">
              <a:lnSpc>
                <a:spcPct val="103000"/>
              </a:lnSpc>
              <a:spcAft>
                <a:spcPts val="0"/>
              </a:spcAft>
            </a:pPr>
            <a:r>
              <a:rPr sz="1300" b="1" i="0">
                <a:solidFill>
                  <a:srgbClr val="B8720A"/>
                </a:solidFill>
                <a:latin typeface="Times New Roman"/>
              </a:rPr>
              <a:t>○  </a:t>
            </a:r>
            <a:r>
              <a:rPr sz="1300" b="0" i="0">
                <a:solidFill>
                  <a:srgbClr val="1F2A44"/>
                </a:solidFill>
                <a:latin typeface="Times New Roman"/>
              </a:rPr>
              <a:t>Measure attack success rate and recovery time after rollback against each baseline.</a:t>
            </a:r>
          </a:p>
        </p:txBody>
      </p:sp>
      <p:sp>
        <p:nvSpPr>
          <p:cNvPr id="39" name="TextBox 38"/>
          <p:cNvSpPr txBox="1"/>
          <p:nvPr/>
        </p:nvSpPr>
        <p:spPr>
          <a:xfrm>
            <a:off x="6400800" y="5303520"/>
            <a:ext cx="4992624" cy="347472"/>
          </a:xfrm>
          <a:prstGeom prst="rect">
            <a:avLst/>
          </a:prstGeom>
          <a:noFill/>
        </p:spPr>
        <p:txBody>
          <a:bodyPr wrap="square" lIns="0" rIns="0" tIns="0" bIns="0" anchor="t">
            <a:spAutoFit/>
          </a:bodyPr>
          <a:lstStyle/>
          <a:p>
            <a:pPr algn="l">
              <a:lnSpc>
                <a:spcPct val="103000"/>
              </a:lnSpc>
              <a:spcAft>
                <a:spcPts val="0"/>
              </a:spcAft>
            </a:pPr>
            <a:r>
              <a:rPr sz="1300" b="1" i="0">
                <a:solidFill>
                  <a:srgbClr val="B8720A"/>
                </a:solidFill>
                <a:latin typeface="Times New Roman"/>
              </a:rPr>
              <a:t>○  </a:t>
            </a:r>
            <a:r>
              <a:rPr sz="1300" b="0" i="0">
                <a:solidFill>
                  <a:srgbClr val="1F2A44"/>
                </a:solidFill>
                <a:latin typeface="Times New Roman"/>
              </a:rPr>
              <a:t>Cross-check the twin on a public IoT capture to test whether the simulated baselines transfer.</a:t>
            </a:r>
          </a:p>
        </p:txBody>
      </p:sp>
      <p:sp>
        <p:nvSpPr>
          <p:cNvPr id="40" name="Rounded Rectangle 39"/>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Stated plainly:  </a:t>
            </a:r>
            <a:r>
              <a:rPr sz="1600" b="0" i="0">
                <a:solidFill>
                  <a:srgbClr val="1F2A44"/>
                </a:solidFill>
                <a:latin typeface="Times New Roman"/>
              </a:rPr>
              <a:t>the framework's own numbers are measured end to end; the comparison against reactive baselines is designed but not yet run, and is the main Review-3 deliverable.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10</a:t>
            </a:r>
            <a:r>
              <a:rPr sz="1550" b="0" i="0">
                <a:solidFill>
                  <a:srgbClr val="D7DEE9"/>
                </a:solidFill>
                <a:latin typeface="Times New Roman"/>
              </a:rPr>
              <a:t>   ·   </a:t>
            </a:r>
            <a:r>
              <a:rPr sz="1550" b="1" i="0">
                <a:solidFill>
                  <a:srgbClr val="55617A"/>
                </a:solidFill>
                <a:latin typeface="Times New Roman"/>
              </a:rPr>
              <a:t>EVALUATION</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Experiments — Measured Results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Eight-device fleet, seed 1337  ·  reproducible end to end in roughly fifteen seconds</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14 / 16</a:t>
            </a:r>
          </a:p>
        </p:txBody>
      </p:sp>
      <p:sp>
        <p:nvSpPr>
          <p:cNvPr id="10" name="Rounded Rectangle 9"/>
          <p:cNvSpPr/>
          <p:nvPr/>
        </p:nvSpPr>
        <p:spPr>
          <a:xfrm>
            <a:off x="630936"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30936"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95.7%</a:t>
            </a:r>
          </a:p>
        </p:txBody>
      </p:sp>
      <p:sp>
        <p:nvSpPr>
          <p:cNvPr id="13" name="TextBox 12"/>
          <p:cNvSpPr txBox="1"/>
          <p:nvPr/>
        </p:nvSpPr>
        <p:spPr>
          <a:xfrm>
            <a:off x="758952"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DETECTION ACCURACY</a:t>
            </a:r>
          </a:p>
        </p:txBody>
      </p:sp>
      <p:sp>
        <p:nvSpPr>
          <p:cNvPr id="14" name="TextBox 13"/>
          <p:cNvSpPr txBox="1"/>
          <p:nvPr/>
        </p:nvSpPr>
        <p:spPr>
          <a:xfrm>
            <a:off x="758952"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macro-F1 0.956</a:t>
            </a:r>
          </a:p>
        </p:txBody>
      </p:sp>
      <p:sp>
        <p:nvSpPr>
          <p:cNvPr id="15" name="Rounded Rectangle 14"/>
          <p:cNvSpPr/>
          <p:nvPr/>
        </p:nvSpPr>
        <p:spPr>
          <a:xfrm>
            <a:off x="2843784"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843784"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1800"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3.1%</a:t>
            </a:r>
          </a:p>
        </p:txBody>
      </p:sp>
      <p:sp>
        <p:nvSpPr>
          <p:cNvPr id="18" name="TextBox 17"/>
          <p:cNvSpPr txBox="1"/>
          <p:nvPr/>
        </p:nvSpPr>
        <p:spPr>
          <a:xfrm>
            <a:off x="2971800"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FALSE NEGATIVES</a:t>
            </a:r>
          </a:p>
        </p:txBody>
      </p:sp>
      <p:sp>
        <p:nvSpPr>
          <p:cNvPr id="19" name="TextBox 18"/>
          <p:cNvSpPr txBox="1"/>
          <p:nvPr/>
        </p:nvSpPr>
        <p:spPr>
          <a:xfrm>
            <a:off x="2971800"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attacks called benign</a:t>
            </a:r>
          </a:p>
        </p:txBody>
      </p:sp>
      <p:sp>
        <p:nvSpPr>
          <p:cNvPr id="20" name="Rounded Rectangle 19"/>
          <p:cNvSpPr/>
          <p:nvPr/>
        </p:nvSpPr>
        <p:spPr>
          <a:xfrm>
            <a:off x="5056631"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056631"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84647"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4.9%</a:t>
            </a:r>
          </a:p>
        </p:txBody>
      </p:sp>
      <p:sp>
        <p:nvSpPr>
          <p:cNvPr id="23" name="TextBox 22"/>
          <p:cNvSpPr txBox="1"/>
          <p:nvPr/>
        </p:nvSpPr>
        <p:spPr>
          <a:xfrm>
            <a:off x="5184647"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FALSE POSITIVES</a:t>
            </a:r>
          </a:p>
        </p:txBody>
      </p:sp>
      <p:sp>
        <p:nvSpPr>
          <p:cNvPr id="24" name="TextBox 23"/>
          <p:cNvSpPr txBox="1"/>
          <p:nvPr/>
        </p:nvSpPr>
        <p:spPr>
          <a:xfrm>
            <a:off x="5184647"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benign called attack</a:t>
            </a:r>
          </a:p>
        </p:txBody>
      </p:sp>
      <p:sp>
        <p:nvSpPr>
          <p:cNvPr id="25" name="Rounded Rectangle 24"/>
          <p:cNvSpPr/>
          <p:nvPr/>
        </p:nvSpPr>
        <p:spPr>
          <a:xfrm>
            <a:off x="7269479"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269479"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97496"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13 / 13</a:t>
            </a:r>
          </a:p>
        </p:txBody>
      </p:sp>
      <p:sp>
        <p:nvSpPr>
          <p:cNvPr id="28" name="TextBox 27"/>
          <p:cNvSpPr txBox="1"/>
          <p:nvPr/>
        </p:nvSpPr>
        <p:spPr>
          <a:xfrm>
            <a:off x="7397496"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CORRECT DECISIONS</a:t>
            </a:r>
          </a:p>
        </p:txBody>
      </p:sp>
      <p:sp>
        <p:nvSpPr>
          <p:cNvPr id="29" name="TextBox 28"/>
          <p:cNvSpPr txBox="1"/>
          <p:nvPr/>
        </p:nvSpPr>
        <p:spPr>
          <a:xfrm>
            <a:off x="7397496"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accept vs quarantine</a:t>
            </a:r>
          </a:p>
        </p:txBody>
      </p:sp>
      <p:sp>
        <p:nvSpPr>
          <p:cNvPr id="30" name="Rounded Rectangle 29"/>
          <p:cNvSpPr/>
          <p:nvPr/>
        </p:nvSpPr>
        <p:spPr>
          <a:xfrm>
            <a:off x="9482328" y="1463040"/>
            <a:ext cx="2084831" cy="841248"/>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482328" y="1463040"/>
            <a:ext cx="2084831" cy="41148"/>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10344" y="1572768"/>
            <a:ext cx="1828800" cy="310896"/>
          </a:xfrm>
          <a:prstGeom prst="rect">
            <a:avLst/>
          </a:prstGeom>
          <a:noFill/>
        </p:spPr>
        <p:txBody>
          <a:bodyPr wrap="square" lIns="0" rIns="0" tIns="0" bIns="0" anchor="t">
            <a:spAutoFit/>
          </a:bodyPr>
          <a:lstStyle/>
          <a:p>
            <a:pPr algn="l">
              <a:spcAft>
                <a:spcPts val="0"/>
              </a:spcAft>
            </a:pPr>
            <a:r>
              <a:rPr sz="2400" b="1" i="0">
                <a:solidFill>
                  <a:srgbClr val="0E1729"/>
                </a:solidFill>
                <a:latin typeface="Times New Roman"/>
              </a:rPr>
              <a:t>5 / 5</a:t>
            </a:r>
          </a:p>
        </p:txBody>
      </p:sp>
      <p:sp>
        <p:nvSpPr>
          <p:cNvPr id="33" name="TextBox 32"/>
          <p:cNvSpPr txBox="1"/>
          <p:nvPr/>
        </p:nvSpPr>
        <p:spPr>
          <a:xfrm>
            <a:off x="9610344" y="1901952"/>
            <a:ext cx="1828800" cy="182880"/>
          </a:xfrm>
          <a:prstGeom prst="rect">
            <a:avLst/>
          </a:prstGeom>
          <a:noFill/>
        </p:spPr>
        <p:txBody>
          <a:bodyPr wrap="square" lIns="0" rIns="0" tIns="0" bIns="0" anchor="t">
            <a:spAutoFit/>
          </a:bodyPr>
          <a:lstStyle/>
          <a:p>
            <a:pPr algn="l">
              <a:spcAft>
                <a:spcPts val="0"/>
              </a:spcAft>
            </a:pPr>
            <a:r>
              <a:rPr sz="1150" b="1" i="0">
                <a:solidFill>
                  <a:srgbClr val="0E8C79"/>
                </a:solidFill>
                <a:latin typeface="Times New Roman"/>
              </a:rPr>
              <a:t>STRATEGIES NAMED</a:t>
            </a:r>
          </a:p>
        </p:txBody>
      </p:sp>
      <p:sp>
        <p:nvSpPr>
          <p:cNvPr id="34" name="TextBox 33"/>
          <p:cNvSpPr txBox="1"/>
          <p:nvPr/>
        </p:nvSpPr>
        <p:spPr>
          <a:xfrm>
            <a:off x="9610344" y="2075688"/>
            <a:ext cx="1828800" cy="182880"/>
          </a:xfrm>
          <a:prstGeom prst="rect">
            <a:avLst/>
          </a:prstGeom>
          <a:noFill/>
        </p:spPr>
        <p:txBody>
          <a:bodyPr wrap="square" lIns="0" rIns="0" tIns="0" bIns="0" anchor="t">
            <a:spAutoFit/>
          </a:bodyPr>
          <a:lstStyle/>
          <a:p>
            <a:pPr algn="l">
              <a:spcAft>
                <a:spcPts val="0"/>
              </a:spcAft>
            </a:pPr>
            <a:r>
              <a:rPr sz="1150" b="0" i="0">
                <a:solidFill>
                  <a:srgbClr val="55617A"/>
                </a:solidFill>
                <a:latin typeface="Times New Roman"/>
              </a:rPr>
              <a:t>correct attribution</a:t>
            </a:r>
          </a:p>
        </p:txBody>
      </p:sp>
      <p:sp>
        <p:nvSpPr>
          <p:cNvPr id="35" name="TextBox 34"/>
          <p:cNvSpPr txBox="1"/>
          <p:nvPr/>
        </p:nvSpPr>
        <p:spPr>
          <a:xfrm>
            <a:off x="630936" y="2450592"/>
            <a:ext cx="548640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COUNTERFACTUAL VALIDATION  ·  GATE CALIBRATED AT 0.857</a:t>
            </a:r>
          </a:p>
        </p:txBody>
      </p:sp>
      <p:sp>
        <p:nvSpPr>
          <p:cNvPr id="36" name="Rounded Rectangle 35"/>
          <p:cNvSpPr/>
          <p:nvPr/>
        </p:nvSpPr>
        <p:spPr>
          <a:xfrm>
            <a:off x="630936" y="2688336"/>
            <a:ext cx="5797296" cy="292608"/>
          </a:xfrm>
          <a:prstGeom prst="roundRect">
            <a:avLst>
              <a:gd name="adj" fmla="val 6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13231" y="2752344"/>
            <a:ext cx="1625749"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Update crafted as</a:t>
            </a:r>
          </a:p>
        </p:txBody>
      </p:sp>
      <p:sp>
        <p:nvSpPr>
          <p:cNvPr id="38" name="TextBox 37"/>
          <p:cNvSpPr txBox="1"/>
          <p:nvPr/>
        </p:nvSpPr>
        <p:spPr>
          <a:xfrm>
            <a:off x="2503573" y="2752344"/>
            <a:ext cx="773205"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CCS</a:t>
            </a:r>
          </a:p>
        </p:txBody>
      </p:sp>
      <p:sp>
        <p:nvSpPr>
          <p:cNvPr id="39" name="TextBox 38"/>
          <p:cNvSpPr txBox="1"/>
          <p:nvPr/>
        </p:nvSpPr>
        <p:spPr>
          <a:xfrm>
            <a:off x="3441371" y="2752344"/>
            <a:ext cx="986341"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Decision</a:t>
            </a:r>
          </a:p>
        </p:txBody>
      </p:sp>
      <p:sp>
        <p:nvSpPr>
          <p:cNvPr id="40" name="TextBox 39"/>
          <p:cNvSpPr txBox="1"/>
          <p:nvPr/>
        </p:nvSpPr>
        <p:spPr>
          <a:xfrm>
            <a:off x="4592305" y="2752344"/>
            <a:ext cx="1156850"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Attributed as</a:t>
            </a:r>
          </a:p>
        </p:txBody>
      </p:sp>
      <p:sp>
        <p:nvSpPr>
          <p:cNvPr id="41" name="TextBox 40"/>
          <p:cNvSpPr txBox="1"/>
          <p:nvPr/>
        </p:nvSpPr>
        <p:spPr>
          <a:xfrm>
            <a:off x="5913747" y="2752344"/>
            <a:ext cx="432188" cy="201168"/>
          </a:xfrm>
          <a:prstGeom prst="rect">
            <a:avLst/>
          </a:prstGeom>
          <a:noFill/>
        </p:spPr>
        <p:txBody>
          <a:bodyPr wrap="square" lIns="0" rIns="0" tIns="0" bIns="0" anchor="t">
            <a:spAutoFit/>
          </a:bodyPr>
          <a:lstStyle/>
          <a:p>
            <a:pPr algn="l">
              <a:spcAft>
                <a:spcPts val="0"/>
              </a:spcAft>
            </a:pPr>
            <a:r>
              <a:rPr sz="1250" b="1" i="0">
                <a:solidFill>
                  <a:srgbClr val="FFFFFF"/>
                </a:solidFill>
                <a:latin typeface="Times New Roman"/>
              </a:rPr>
              <a:t>Correct</a:t>
            </a:r>
          </a:p>
        </p:txBody>
      </p:sp>
      <p:sp>
        <p:nvSpPr>
          <p:cNvPr id="42" name="Rectangle 41"/>
          <p:cNvSpPr/>
          <p:nvPr/>
        </p:nvSpPr>
        <p:spPr>
          <a:xfrm>
            <a:off x="630936" y="2980944"/>
            <a:ext cx="5797296" cy="32918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13231" y="3026663"/>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Honest contribution</a:t>
            </a:r>
          </a:p>
        </p:txBody>
      </p:sp>
      <p:sp>
        <p:nvSpPr>
          <p:cNvPr id="44" name="TextBox 43"/>
          <p:cNvSpPr txBox="1"/>
          <p:nvPr/>
        </p:nvSpPr>
        <p:spPr>
          <a:xfrm>
            <a:off x="2503573" y="3026663"/>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0.910</a:t>
            </a:r>
          </a:p>
        </p:txBody>
      </p:sp>
      <p:sp>
        <p:nvSpPr>
          <p:cNvPr id="45" name="TextBox 44"/>
          <p:cNvSpPr txBox="1"/>
          <p:nvPr/>
        </p:nvSpPr>
        <p:spPr>
          <a:xfrm>
            <a:off x="3441371" y="3026663"/>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0E8C79"/>
                </a:solidFill>
                <a:latin typeface="Times New Roman"/>
              </a:rPr>
              <a:t>ACCEPTED</a:t>
            </a:r>
          </a:p>
        </p:txBody>
      </p:sp>
      <p:sp>
        <p:nvSpPr>
          <p:cNvPr id="46" name="TextBox 45"/>
          <p:cNvSpPr txBox="1"/>
          <p:nvPr/>
        </p:nvSpPr>
        <p:spPr>
          <a:xfrm>
            <a:off x="4592305" y="3026663"/>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clean</a:t>
            </a:r>
          </a:p>
        </p:txBody>
      </p:sp>
      <p:sp>
        <p:nvSpPr>
          <p:cNvPr id="47" name="TextBox 46"/>
          <p:cNvSpPr txBox="1"/>
          <p:nvPr/>
        </p:nvSpPr>
        <p:spPr>
          <a:xfrm>
            <a:off x="5913747" y="3026663"/>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48" name="Rectangle 47"/>
          <p:cNvSpPr/>
          <p:nvPr/>
        </p:nvSpPr>
        <p:spPr>
          <a:xfrm>
            <a:off x="630936" y="3310127"/>
            <a:ext cx="5797296" cy="32918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13231" y="3355847"/>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Label flipping</a:t>
            </a:r>
          </a:p>
        </p:txBody>
      </p:sp>
      <p:sp>
        <p:nvSpPr>
          <p:cNvPr id="50" name="TextBox 49"/>
          <p:cNvSpPr txBox="1"/>
          <p:nvPr/>
        </p:nvSpPr>
        <p:spPr>
          <a:xfrm>
            <a:off x="2503573" y="3355847"/>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0.625</a:t>
            </a:r>
          </a:p>
        </p:txBody>
      </p:sp>
      <p:sp>
        <p:nvSpPr>
          <p:cNvPr id="51" name="TextBox 50"/>
          <p:cNvSpPr txBox="1"/>
          <p:nvPr/>
        </p:nvSpPr>
        <p:spPr>
          <a:xfrm>
            <a:off x="3441371" y="3355847"/>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52" name="TextBox 51"/>
          <p:cNvSpPr txBox="1"/>
          <p:nvPr/>
        </p:nvSpPr>
        <p:spPr>
          <a:xfrm>
            <a:off x="4592305" y="3355847"/>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label_flip</a:t>
            </a:r>
          </a:p>
        </p:txBody>
      </p:sp>
      <p:sp>
        <p:nvSpPr>
          <p:cNvPr id="53" name="TextBox 52"/>
          <p:cNvSpPr txBox="1"/>
          <p:nvPr/>
        </p:nvSpPr>
        <p:spPr>
          <a:xfrm>
            <a:off x="5913747" y="3355847"/>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54" name="Rectangle 53"/>
          <p:cNvSpPr/>
          <p:nvPr/>
        </p:nvSpPr>
        <p:spPr>
          <a:xfrm>
            <a:off x="630936" y="3639311"/>
            <a:ext cx="5797296" cy="32918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13231" y="3685031"/>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Gradual poisoning</a:t>
            </a:r>
          </a:p>
        </p:txBody>
      </p:sp>
      <p:sp>
        <p:nvSpPr>
          <p:cNvPr id="56" name="TextBox 55"/>
          <p:cNvSpPr txBox="1"/>
          <p:nvPr/>
        </p:nvSpPr>
        <p:spPr>
          <a:xfrm>
            <a:off x="2503573" y="3685031"/>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0.801</a:t>
            </a:r>
          </a:p>
        </p:txBody>
      </p:sp>
      <p:sp>
        <p:nvSpPr>
          <p:cNvPr id="57" name="TextBox 56"/>
          <p:cNvSpPr txBox="1"/>
          <p:nvPr/>
        </p:nvSpPr>
        <p:spPr>
          <a:xfrm>
            <a:off x="3441371" y="3685031"/>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58" name="TextBox 57"/>
          <p:cNvSpPr txBox="1"/>
          <p:nvPr/>
        </p:nvSpPr>
        <p:spPr>
          <a:xfrm>
            <a:off x="4592305" y="3685031"/>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gradual_poisoning</a:t>
            </a:r>
          </a:p>
        </p:txBody>
      </p:sp>
      <p:sp>
        <p:nvSpPr>
          <p:cNvPr id="59" name="TextBox 58"/>
          <p:cNvSpPr txBox="1"/>
          <p:nvPr/>
        </p:nvSpPr>
        <p:spPr>
          <a:xfrm>
            <a:off x="5913747" y="3685031"/>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60" name="Rectangle 59"/>
          <p:cNvSpPr/>
          <p:nvPr/>
        </p:nvSpPr>
        <p:spPr>
          <a:xfrm>
            <a:off x="630936" y="3968496"/>
            <a:ext cx="5797296" cy="32918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13231" y="4014215"/>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Backdoor trigger</a:t>
            </a:r>
          </a:p>
        </p:txBody>
      </p:sp>
      <p:sp>
        <p:nvSpPr>
          <p:cNvPr id="62" name="TextBox 61"/>
          <p:cNvSpPr txBox="1"/>
          <p:nvPr/>
        </p:nvSpPr>
        <p:spPr>
          <a:xfrm>
            <a:off x="2503573" y="4014215"/>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0.666</a:t>
            </a:r>
          </a:p>
        </p:txBody>
      </p:sp>
      <p:sp>
        <p:nvSpPr>
          <p:cNvPr id="63" name="TextBox 62"/>
          <p:cNvSpPr txBox="1"/>
          <p:nvPr/>
        </p:nvSpPr>
        <p:spPr>
          <a:xfrm>
            <a:off x="3441371" y="4014215"/>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64" name="TextBox 63"/>
          <p:cNvSpPr txBox="1"/>
          <p:nvPr/>
        </p:nvSpPr>
        <p:spPr>
          <a:xfrm>
            <a:off x="4592305" y="4014215"/>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backdoor</a:t>
            </a:r>
          </a:p>
        </p:txBody>
      </p:sp>
      <p:sp>
        <p:nvSpPr>
          <p:cNvPr id="65" name="TextBox 64"/>
          <p:cNvSpPr txBox="1"/>
          <p:nvPr/>
        </p:nvSpPr>
        <p:spPr>
          <a:xfrm>
            <a:off x="5913747" y="4014215"/>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66" name="Rectangle 65"/>
          <p:cNvSpPr/>
          <p:nvPr/>
        </p:nvSpPr>
        <p:spPr>
          <a:xfrm>
            <a:off x="630936" y="4297680"/>
            <a:ext cx="5797296" cy="329184"/>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713231" y="4343400"/>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Sybil flood (8 shards)</a:t>
            </a:r>
          </a:p>
        </p:txBody>
      </p:sp>
      <p:sp>
        <p:nvSpPr>
          <p:cNvPr id="68" name="TextBox 67"/>
          <p:cNvSpPr txBox="1"/>
          <p:nvPr/>
        </p:nvSpPr>
        <p:spPr>
          <a:xfrm>
            <a:off x="2503573" y="4343400"/>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0.673–0.730</a:t>
            </a:r>
          </a:p>
        </p:txBody>
      </p:sp>
      <p:sp>
        <p:nvSpPr>
          <p:cNvPr id="69" name="TextBox 68"/>
          <p:cNvSpPr txBox="1"/>
          <p:nvPr/>
        </p:nvSpPr>
        <p:spPr>
          <a:xfrm>
            <a:off x="3441371" y="4343400"/>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70" name="TextBox 69"/>
          <p:cNvSpPr txBox="1"/>
          <p:nvPr/>
        </p:nvSpPr>
        <p:spPr>
          <a:xfrm>
            <a:off x="4592305" y="4343400"/>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sybil</a:t>
            </a:r>
          </a:p>
        </p:txBody>
      </p:sp>
      <p:sp>
        <p:nvSpPr>
          <p:cNvPr id="71" name="TextBox 70"/>
          <p:cNvSpPr txBox="1"/>
          <p:nvPr/>
        </p:nvSpPr>
        <p:spPr>
          <a:xfrm>
            <a:off x="5913747" y="4343400"/>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72" name="Rectangle 71"/>
          <p:cNvSpPr/>
          <p:nvPr/>
        </p:nvSpPr>
        <p:spPr>
          <a:xfrm>
            <a:off x="630936" y="4626864"/>
            <a:ext cx="5797296" cy="329184"/>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713231" y="4672584"/>
            <a:ext cx="1625749" cy="256031"/>
          </a:xfrm>
          <a:prstGeom prst="rect">
            <a:avLst/>
          </a:prstGeom>
          <a:noFill/>
        </p:spPr>
        <p:txBody>
          <a:bodyPr wrap="square" lIns="0" rIns="0" tIns="0" bIns="0" anchor="t">
            <a:spAutoFit/>
          </a:bodyPr>
          <a:lstStyle/>
          <a:p>
            <a:pPr algn="l">
              <a:lnSpc>
                <a:spcPct val="92000"/>
              </a:lnSpc>
              <a:spcAft>
                <a:spcPts val="0"/>
              </a:spcAft>
            </a:pPr>
            <a:r>
              <a:rPr sz="1200" b="1" i="0">
                <a:solidFill>
                  <a:srgbClr val="1F2A44"/>
                </a:solidFill>
                <a:latin typeface="Times New Roman"/>
              </a:rPr>
              <a:t>Clean-label poisoning</a:t>
            </a:r>
          </a:p>
        </p:txBody>
      </p:sp>
      <p:sp>
        <p:nvSpPr>
          <p:cNvPr id="74" name="TextBox 73"/>
          <p:cNvSpPr txBox="1"/>
          <p:nvPr/>
        </p:nvSpPr>
        <p:spPr>
          <a:xfrm>
            <a:off x="2503573" y="4672584"/>
            <a:ext cx="773205"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0.734</a:t>
            </a:r>
          </a:p>
        </p:txBody>
      </p:sp>
      <p:sp>
        <p:nvSpPr>
          <p:cNvPr id="75" name="TextBox 74"/>
          <p:cNvSpPr txBox="1"/>
          <p:nvPr/>
        </p:nvSpPr>
        <p:spPr>
          <a:xfrm>
            <a:off x="3441371" y="4672584"/>
            <a:ext cx="986341" cy="256031"/>
          </a:xfrm>
          <a:prstGeom prst="rect">
            <a:avLst/>
          </a:prstGeom>
          <a:noFill/>
        </p:spPr>
        <p:txBody>
          <a:bodyPr wrap="square" lIns="0" rIns="0" tIns="0" bIns="0" anchor="t">
            <a:spAutoFit/>
          </a:bodyPr>
          <a:lstStyle/>
          <a:p>
            <a:pPr algn="l">
              <a:lnSpc>
                <a:spcPct val="92000"/>
              </a:lnSpc>
              <a:spcAft>
                <a:spcPts val="0"/>
              </a:spcAft>
            </a:pPr>
            <a:r>
              <a:rPr sz="1200" b="1" i="0">
                <a:solidFill>
                  <a:srgbClr val="C0392B"/>
                </a:solidFill>
                <a:latin typeface="Times New Roman"/>
              </a:rPr>
              <a:t>QUARANTINED</a:t>
            </a:r>
          </a:p>
        </p:txBody>
      </p:sp>
      <p:sp>
        <p:nvSpPr>
          <p:cNvPr id="76" name="TextBox 75"/>
          <p:cNvSpPr txBox="1"/>
          <p:nvPr/>
        </p:nvSpPr>
        <p:spPr>
          <a:xfrm>
            <a:off x="4592305" y="4672584"/>
            <a:ext cx="1156850"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clean_label</a:t>
            </a:r>
          </a:p>
        </p:txBody>
      </p:sp>
      <p:sp>
        <p:nvSpPr>
          <p:cNvPr id="77" name="TextBox 76"/>
          <p:cNvSpPr txBox="1"/>
          <p:nvPr/>
        </p:nvSpPr>
        <p:spPr>
          <a:xfrm>
            <a:off x="5913747" y="4672584"/>
            <a:ext cx="432188" cy="256031"/>
          </a:xfrm>
          <a:prstGeom prst="rect">
            <a:avLst/>
          </a:prstGeom>
          <a:noFill/>
        </p:spPr>
        <p:txBody>
          <a:bodyPr wrap="square" lIns="0" rIns="0" tIns="0" bIns="0" anchor="t">
            <a:spAutoFit/>
          </a:bodyPr>
          <a:lstStyle/>
          <a:p>
            <a:pPr algn="l">
              <a:lnSpc>
                <a:spcPct val="92000"/>
              </a:lnSpc>
              <a:spcAft>
                <a:spcPts val="0"/>
              </a:spcAft>
            </a:pPr>
            <a:r>
              <a:rPr sz="1200" b="0" i="0">
                <a:solidFill>
                  <a:srgbClr val="55617A"/>
                </a:solidFill>
                <a:latin typeface="Times New Roman"/>
              </a:rPr>
              <a:t>Yes</a:t>
            </a:r>
          </a:p>
        </p:txBody>
      </p:sp>
      <p:sp>
        <p:nvSpPr>
          <p:cNvPr id="78" name="TextBox 77"/>
          <p:cNvSpPr txBox="1"/>
          <p:nvPr/>
        </p:nvSpPr>
        <p:spPr>
          <a:xfrm>
            <a:off x="6711696" y="2450592"/>
            <a:ext cx="484632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POISON RESISTANCE  ·  REHEARSED PER STRATEGY</a:t>
            </a:r>
          </a:p>
        </p:txBody>
      </p:sp>
      <p:sp>
        <p:nvSpPr>
          <p:cNvPr id="79" name="Rectangle 78"/>
          <p:cNvSpPr/>
          <p:nvPr/>
        </p:nvSpPr>
        <p:spPr>
          <a:xfrm>
            <a:off x="6711696" y="2706624"/>
            <a:ext cx="4846320" cy="274320"/>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6821424" y="2743200"/>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Label flipping</a:t>
            </a:r>
          </a:p>
        </p:txBody>
      </p:sp>
      <p:sp>
        <p:nvSpPr>
          <p:cNvPr id="81" name="Rectangle 80"/>
          <p:cNvSpPr/>
          <p:nvPr/>
        </p:nvSpPr>
        <p:spPr>
          <a:xfrm>
            <a:off x="9784080" y="2807208"/>
            <a:ext cx="1244315"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119104" y="2734056"/>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97.2%</a:t>
            </a:r>
          </a:p>
        </p:txBody>
      </p:sp>
      <p:sp>
        <p:nvSpPr>
          <p:cNvPr id="83" name="Rectangle 82"/>
          <p:cNvSpPr/>
          <p:nvPr/>
        </p:nvSpPr>
        <p:spPr>
          <a:xfrm>
            <a:off x="6711696" y="3017520"/>
            <a:ext cx="4846320" cy="274320"/>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6821424" y="3054096"/>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Gradual poisoning</a:t>
            </a:r>
          </a:p>
        </p:txBody>
      </p:sp>
      <p:sp>
        <p:nvSpPr>
          <p:cNvPr id="85" name="Rectangle 84"/>
          <p:cNvSpPr/>
          <p:nvPr/>
        </p:nvSpPr>
        <p:spPr>
          <a:xfrm>
            <a:off x="9784080" y="3118103"/>
            <a:ext cx="1280160"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119104" y="3044951"/>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100.0%</a:t>
            </a:r>
          </a:p>
        </p:txBody>
      </p:sp>
      <p:sp>
        <p:nvSpPr>
          <p:cNvPr id="87" name="Rectangle 86"/>
          <p:cNvSpPr/>
          <p:nvPr/>
        </p:nvSpPr>
        <p:spPr>
          <a:xfrm>
            <a:off x="6711696" y="3328416"/>
            <a:ext cx="4846320" cy="274320"/>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TextBox 87"/>
          <p:cNvSpPr txBox="1"/>
          <p:nvPr/>
        </p:nvSpPr>
        <p:spPr>
          <a:xfrm>
            <a:off x="6821424" y="3364992"/>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Backdoor trigger</a:t>
            </a:r>
          </a:p>
        </p:txBody>
      </p:sp>
      <p:sp>
        <p:nvSpPr>
          <p:cNvPr id="89" name="Rectangle 88"/>
          <p:cNvSpPr/>
          <p:nvPr/>
        </p:nvSpPr>
        <p:spPr>
          <a:xfrm>
            <a:off x="9784080" y="3429000"/>
            <a:ext cx="1244315"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119104" y="3355848"/>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97.2%</a:t>
            </a:r>
          </a:p>
        </p:txBody>
      </p:sp>
      <p:sp>
        <p:nvSpPr>
          <p:cNvPr id="91" name="Rectangle 90"/>
          <p:cNvSpPr/>
          <p:nvPr/>
        </p:nvSpPr>
        <p:spPr>
          <a:xfrm>
            <a:off x="6711696" y="3639312"/>
            <a:ext cx="4846320" cy="274320"/>
          </a:xfrm>
          <a:prstGeom prst="rect">
            <a:avLst/>
          </a:prstGeom>
          <a:solidFill>
            <a:srgbClr val="EEF2F8"/>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TextBox 91"/>
          <p:cNvSpPr txBox="1"/>
          <p:nvPr/>
        </p:nvSpPr>
        <p:spPr>
          <a:xfrm>
            <a:off x="6821424" y="3675887"/>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Sybil flood</a:t>
            </a:r>
          </a:p>
        </p:txBody>
      </p:sp>
      <p:sp>
        <p:nvSpPr>
          <p:cNvPr id="93" name="Rectangle 92"/>
          <p:cNvSpPr/>
          <p:nvPr/>
        </p:nvSpPr>
        <p:spPr>
          <a:xfrm>
            <a:off x="9784080" y="3739896"/>
            <a:ext cx="1268638"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119104" y="3666744"/>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99.1%</a:t>
            </a:r>
          </a:p>
        </p:txBody>
      </p:sp>
      <p:sp>
        <p:nvSpPr>
          <p:cNvPr id="95" name="Rectangle 94"/>
          <p:cNvSpPr/>
          <p:nvPr/>
        </p:nvSpPr>
        <p:spPr>
          <a:xfrm>
            <a:off x="6711696" y="3950208"/>
            <a:ext cx="4846320" cy="274320"/>
          </a:xfrm>
          <a:prstGeom prst="rect">
            <a:avLst/>
          </a:prstGeom>
          <a:solidFill>
            <a:srgbClr val="FFFFFF"/>
          </a:solidFill>
          <a:ln w="6350">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6821424" y="3986784"/>
            <a:ext cx="2926080" cy="219456"/>
          </a:xfrm>
          <a:prstGeom prst="rect">
            <a:avLst/>
          </a:prstGeom>
          <a:noFill/>
        </p:spPr>
        <p:txBody>
          <a:bodyPr wrap="square" lIns="0" rIns="0" tIns="0" bIns="0" anchor="t">
            <a:spAutoFit/>
          </a:bodyPr>
          <a:lstStyle/>
          <a:p>
            <a:pPr algn="l">
              <a:spcAft>
                <a:spcPts val="0"/>
              </a:spcAft>
            </a:pPr>
            <a:r>
              <a:rPr sz="1200" b="0" i="0">
                <a:solidFill>
                  <a:srgbClr val="1F2A44"/>
                </a:solidFill>
                <a:latin typeface="Times New Roman"/>
              </a:rPr>
              <a:t>Clean-label</a:t>
            </a:r>
          </a:p>
        </p:txBody>
      </p:sp>
      <p:sp>
        <p:nvSpPr>
          <p:cNvPr id="97" name="Rectangle 96"/>
          <p:cNvSpPr/>
          <p:nvPr/>
        </p:nvSpPr>
        <p:spPr>
          <a:xfrm>
            <a:off x="9784080" y="4050792"/>
            <a:ext cx="1207190" cy="914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119104" y="3977640"/>
            <a:ext cx="365760" cy="219456"/>
          </a:xfrm>
          <a:prstGeom prst="rect">
            <a:avLst/>
          </a:prstGeom>
          <a:noFill/>
        </p:spPr>
        <p:txBody>
          <a:bodyPr wrap="square" lIns="0" rIns="0" tIns="0" bIns="0" anchor="t">
            <a:spAutoFit/>
          </a:bodyPr>
          <a:lstStyle/>
          <a:p>
            <a:pPr algn="r">
              <a:spcAft>
                <a:spcPts val="0"/>
              </a:spcAft>
            </a:pPr>
            <a:r>
              <a:rPr sz="1200" b="1" i="0">
                <a:solidFill>
                  <a:srgbClr val="1F2A44"/>
                </a:solidFill>
                <a:latin typeface="Times New Roman"/>
              </a:rPr>
              <a:t>94.3%</a:t>
            </a:r>
          </a:p>
        </p:txBody>
      </p:sp>
      <p:sp>
        <p:nvSpPr>
          <p:cNvPr id="99" name="TextBox 98"/>
          <p:cNvSpPr txBox="1"/>
          <p:nvPr/>
        </p:nvSpPr>
        <p:spPr>
          <a:xfrm>
            <a:off x="6711696" y="4297680"/>
            <a:ext cx="4846320" cy="219456"/>
          </a:xfrm>
          <a:prstGeom prst="rect">
            <a:avLst/>
          </a:prstGeom>
          <a:noFill/>
        </p:spPr>
        <p:txBody>
          <a:bodyPr wrap="square" lIns="0" rIns="0" tIns="0" bIns="0" anchor="t">
            <a:spAutoFit/>
          </a:bodyPr>
          <a:lstStyle/>
          <a:p>
            <a:pPr algn="l">
              <a:spcAft>
                <a:spcPts val="0"/>
              </a:spcAft>
            </a:pPr>
            <a:r>
              <a:rPr sz="1300" b="1" i="0">
                <a:solidFill>
                  <a:srgbClr val="1F2A44"/>
                </a:solidFill>
                <a:latin typeface="Times New Roman"/>
              </a:rPr>
              <a:t>Overall 0.976</a:t>
            </a:r>
            <a:r>
              <a:rPr sz="1300" b="0" i="0">
                <a:solidFill>
                  <a:srgbClr val="55617A"/>
                </a:solidFill>
                <a:latin typeface="Times New Roman"/>
              </a:rPr>
              <a:t>   against a promotion gate of 0.78; weakest against clean-label.</a:t>
            </a:r>
          </a:p>
        </p:txBody>
      </p:sp>
      <p:sp>
        <p:nvSpPr>
          <p:cNvPr id="100" name="TextBox 99"/>
          <p:cNvSpPr txBox="1"/>
          <p:nvPr/>
        </p:nvSpPr>
        <p:spPr>
          <a:xfrm>
            <a:off x="630936" y="4992624"/>
            <a:ext cx="548640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TWIN CONSISTENCY SEPARATION</a:t>
            </a:r>
          </a:p>
        </p:txBody>
      </p:sp>
      <p:sp>
        <p:nvSpPr>
          <p:cNvPr id="101" name="Rounded Rectangle 100"/>
          <p:cNvSpPr/>
          <p:nvPr/>
        </p:nvSpPr>
        <p:spPr>
          <a:xfrm>
            <a:off x="630936" y="5212080"/>
            <a:ext cx="5797296" cy="512064"/>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795528" y="5285232"/>
            <a:ext cx="5486400" cy="384048"/>
          </a:xfrm>
          <a:prstGeom prst="rect">
            <a:avLst/>
          </a:prstGeom>
          <a:noFill/>
        </p:spPr>
        <p:txBody>
          <a:bodyPr wrap="square" lIns="0" rIns="0" tIns="0" bIns="0" anchor="t">
            <a:spAutoFit/>
          </a:bodyPr>
          <a:lstStyle/>
          <a:p>
            <a:pPr algn="l">
              <a:lnSpc>
                <a:spcPct val="108000"/>
              </a:lnSpc>
              <a:spcAft>
                <a:spcPts val="0"/>
              </a:spcAft>
            </a:pPr>
            <a:r>
              <a:rPr sz="1300" b="0" i="0">
                <a:solidFill>
                  <a:srgbClr val="1F2A44"/>
                </a:solidFill>
                <a:latin typeface="Times New Roman"/>
              </a:rPr>
              <a:t>Never below 0.358 on healthy traffic against a 0.35 flag threshold — zero false alarms; attacks collapsed to 0.000.</a:t>
            </a:r>
          </a:p>
        </p:txBody>
      </p:sp>
      <p:sp>
        <p:nvSpPr>
          <p:cNvPr id="103" name="Rounded Rectangle 102"/>
          <p:cNvSpPr/>
          <p:nvPr/>
        </p:nvSpPr>
        <p:spPr>
          <a:xfrm>
            <a:off x="6711696" y="4626864"/>
            <a:ext cx="4846320" cy="109728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TextBox 103"/>
          <p:cNvSpPr txBox="1"/>
          <p:nvPr/>
        </p:nvSpPr>
        <p:spPr>
          <a:xfrm>
            <a:off x="6876288" y="4718304"/>
            <a:ext cx="4517136" cy="201168"/>
          </a:xfrm>
          <a:prstGeom prst="rect">
            <a:avLst/>
          </a:prstGeom>
          <a:noFill/>
        </p:spPr>
        <p:txBody>
          <a:bodyPr wrap="square" lIns="0" rIns="0" tIns="0" bIns="0" anchor="t">
            <a:spAutoFit/>
          </a:bodyPr>
          <a:lstStyle/>
          <a:p>
            <a:pPr algn="l">
              <a:spcAft>
                <a:spcPts val="0"/>
              </a:spcAft>
            </a:pPr>
            <a:r>
              <a:rPr sz="1250" b="1" i="0">
                <a:solidFill>
                  <a:srgbClr val="0E8C79"/>
                </a:solidFill>
                <a:latin typeface="Times New Roman"/>
              </a:rPr>
              <a:t>COST AND REPRODUCIBILITY</a:t>
            </a:r>
          </a:p>
        </p:txBody>
      </p:sp>
      <p:sp>
        <p:nvSpPr>
          <p:cNvPr id="105" name="TextBox 104"/>
          <p:cNvSpPr txBox="1"/>
          <p:nvPr/>
        </p:nvSpPr>
        <p:spPr>
          <a:xfrm>
            <a:off x="6876288" y="4974336"/>
            <a:ext cx="4517136" cy="219456"/>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Validation latency   </a:t>
            </a:r>
            <a:r>
              <a:rPr sz="1250" b="0" i="0">
                <a:solidFill>
                  <a:srgbClr val="55617A"/>
                </a:solidFill>
                <a:latin typeface="Times New Roman"/>
              </a:rPr>
              <a:t>412 ms per update</a:t>
            </a:r>
          </a:p>
        </p:txBody>
      </p:sp>
      <p:sp>
        <p:nvSpPr>
          <p:cNvPr id="106" name="TextBox 105"/>
          <p:cNvSpPr txBox="1"/>
          <p:nvPr/>
        </p:nvSpPr>
        <p:spPr>
          <a:xfrm>
            <a:off x="6876288" y="5212080"/>
            <a:ext cx="4517136" cy="219456"/>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Full pipeline run   </a:t>
            </a:r>
            <a:r>
              <a:rPr sz="1250" b="0" i="0">
                <a:solidFill>
                  <a:srgbClr val="55617A"/>
                </a:solidFill>
                <a:latin typeface="Times New Roman"/>
              </a:rPr>
              <a:t>≈15 s, CPU only</a:t>
            </a:r>
          </a:p>
        </p:txBody>
      </p:sp>
      <p:sp>
        <p:nvSpPr>
          <p:cNvPr id="107" name="TextBox 106"/>
          <p:cNvSpPr txBox="1"/>
          <p:nvPr/>
        </p:nvSpPr>
        <p:spPr>
          <a:xfrm>
            <a:off x="6876288" y="5449824"/>
            <a:ext cx="4517136" cy="219456"/>
          </a:xfrm>
          <a:prstGeom prst="rect">
            <a:avLst/>
          </a:prstGeom>
          <a:noFill/>
        </p:spPr>
        <p:txBody>
          <a:bodyPr wrap="square" lIns="0" rIns="0" tIns="0" bIns="0" anchor="t">
            <a:spAutoFit/>
          </a:bodyPr>
          <a:lstStyle/>
          <a:p>
            <a:pPr algn="l">
              <a:spcAft>
                <a:spcPts val="0"/>
              </a:spcAft>
            </a:pPr>
            <a:r>
              <a:rPr sz="1250" b="1" i="0">
                <a:solidFill>
                  <a:srgbClr val="1F2A44"/>
                </a:solidFill>
                <a:latin typeface="Times New Roman"/>
              </a:rPr>
              <a:t>Automated tests   </a:t>
            </a:r>
            <a:r>
              <a:rPr sz="1250" b="0" i="0">
                <a:solidFill>
                  <a:srgbClr val="55617A"/>
                </a:solidFill>
                <a:latin typeface="Times New Roman"/>
              </a:rPr>
              <a:t>64 passing</a:t>
            </a:r>
          </a:p>
        </p:txBody>
      </p:sp>
      <p:sp>
        <p:nvSpPr>
          <p:cNvPr id="108" name="Rounded Rectangle 107"/>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The decisive case:  </a:t>
            </a:r>
            <a:r>
              <a:rPr sz="1600" b="0" i="0">
                <a:solidFill>
                  <a:srgbClr val="1F2A44"/>
                </a:solidFill>
                <a:latin typeface="Times New Roman"/>
              </a:rPr>
              <a:t>clean-label poisoning carries a label shift below 0.10 and is invisible to every distributional check — it was still quarantined, on the label-agreement component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11</a:t>
            </a:r>
            <a:r>
              <a:rPr sz="1550" b="0" i="0">
                <a:solidFill>
                  <a:srgbClr val="D7DEE9"/>
                </a:solidFill>
                <a:latin typeface="Times New Roman"/>
              </a:rPr>
              <a:t>   ·   </a:t>
            </a:r>
            <a:r>
              <a:rPr sz="1550" b="1" i="0">
                <a:solidFill>
                  <a:srgbClr val="55617A"/>
                </a:solidFill>
                <a:latin typeface="Times New Roman"/>
              </a:rPr>
              <a:t>SYNTHESIS</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Novelty and Conclusion</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What is genuinely new, and what remains before Review-3</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15 / 16</a:t>
            </a:r>
          </a:p>
        </p:txBody>
      </p:sp>
      <p:sp>
        <p:nvSpPr>
          <p:cNvPr id="10" name="TextBox 9"/>
          <p:cNvSpPr txBox="1"/>
          <p:nvPr/>
        </p:nvSpPr>
        <p:spPr>
          <a:xfrm>
            <a:off x="630936" y="1463040"/>
            <a:ext cx="548640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THREE NOVEL CONTRIBUTIONS</a:t>
            </a:r>
          </a:p>
        </p:txBody>
      </p:sp>
      <p:sp>
        <p:nvSpPr>
          <p:cNvPr id="11" name="Rounded Rectangle 10"/>
          <p:cNvSpPr/>
          <p:nvPr/>
        </p:nvSpPr>
        <p:spPr>
          <a:xfrm>
            <a:off x="630936" y="1700784"/>
            <a:ext cx="5797296" cy="12252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777240" y="1828800"/>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77240" y="1847088"/>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01</a:t>
            </a:r>
          </a:p>
        </p:txBody>
      </p:sp>
      <p:sp>
        <p:nvSpPr>
          <p:cNvPr id="14" name="TextBox 13"/>
          <p:cNvSpPr txBox="1"/>
          <p:nvPr/>
        </p:nvSpPr>
        <p:spPr>
          <a:xfrm>
            <a:off x="1252728" y="1801368"/>
            <a:ext cx="502920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Counterfactual Validation</a:t>
            </a:r>
          </a:p>
        </p:txBody>
      </p:sp>
      <p:sp>
        <p:nvSpPr>
          <p:cNvPr id="15" name="TextBox 14"/>
          <p:cNvSpPr txBox="1"/>
          <p:nvPr/>
        </p:nvSpPr>
        <p:spPr>
          <a:xfrm>
            <a:off x="777240" y="2121408"/>
            <a:ext cx="5504688" cy="749808"/>
          </a:xfrm>
          <a:prstGeom prst="rect">
            <a:avLst/>
          </a:prstGeom>
          <a:noFill/>
        </p:spPr>
        <p:txBody>
          <a:bodyPr wrap="square" lIns="0" rIns="0" tIns="0" bIns="0" anchor="t">
            <a:spAutoFit/>
          </a:bodyPr>
          <a:lstStyle/>
          <a:p>
            <a:pPr algn="l">
              <a:lnSpc>
                <a:spcPct val="108000"/>
              </a:lnSpc>
              <a:spcAft>
                <a:spcPts val="0"/>
              </a:spcAft>
            </a:pPr>
            <a:r>
              <a:rPr sz="1300" b="0" i="0">
                <a:solidFill>
                  <a:srgbClr val="55617A"/>
                </a:solidFill>
                <a:latin typeface="Times New Roman"/>
              </a:rPr>
              <a:t>A retraining update is judged by what it would cost against futures the twin committed to before the update existed — not by whether it resembles past traffic. Half the audit bank is attack-conditioned, so the question asked is whether tomorrow's attack would still be caught.</a:t>
            </a:r>
          </a:p>
        </p:txBody>
      </p:sp>
      <p:sp>
        <p:nvSpPr>
          <p:cNvPr id="16" name="Rounded Rectangle 15"/>
          <p:cNvSpPr/>
          <p:nvPr/>
        </p:nvSpPr>
        <p:spPr>
          <a:xfrm>
            <a:off x="630936" y="3035808"/>
            <a:ext cx="5797296" cy="12252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777240" y="3163824"/>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77240" y="3182112"/>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02</a:t>
            </a:r>
          </a:p>
        </p:txBody>
      </p:sp>
      <p:sp>
        <p:nvSpPr>
          <p:cNvPr id="19" name="TextBox 18"/>
          <p:cNvSpPr txBox="1"/>
          <p:nvPr/>
        </p:nvSpPr>
        <p:spPr>
          <a:xfrm>
            <a:off x="1252728" y="3136392"/>
            <a:ext cx="502920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Predictive Immunization</a:t>
            </a:r>
          </a:p>
        </p:txBody>
      </p:sp>
      <p:sp>
        <p:nvSpPr>
          <p:cNvPr id="20" name="TextBox 19"/>
          <p:cNvSpPr txBox="1"/>
          <p:nvPr/>
        </p:nvSpPr>
        <p:spPr>
          <a:xfrm>
            <a:off x="777240" y="3456432"/>
            <a:ext cx="5504688" cy="749808"/>
          </a:xfrm>
          <a:prstGeom prst="rect">
            <a:avLst/>
          </a:prstGeom>
          <a:noFill/>
        </p:spPr>
        <p:txBody>
          <a:bodyPr wrap="square" lIns="0" rIns="0" tIns="0" bIns="0" anchor="t">
            <a:spAutoFit/>
          </a:bodyPr>
          <a:lstStyle/>
          <a:p>
            <a:pPr algn="l">
              <a:lnSpc>
                <a:spcPct val="108000"/>
              </a:lnSpc>
              <a:spcAft>
                <a:spcPts val="0"/>
              </a:spcAft>
            </a:pPr>
            <a:r>
              <a:rPr sz="1300" b="0" i="0">
                <a:solidFill>
                  <a:srgbClr val="55617A"/>
                </a:solidFill>
                <a:latin typeface="Times New Roman"/>
              </a:rPr>
              <a:t>Vaccines are synthesised from that fleet's own committed futures and folded into retraining before any real attack. The trigger vaccine deliberately does not use the attacker's trigger — it teaches that pinning arbitrary constants does not make a row benign.</a:t>
            </a:r>
          </a:p>
        </p:txBody>
      </p:sp>
      <p:sp>
        <p:nvSpPr>
          <p:cNvPr id="21" name="Rounded Rectangle 20"/>
          <p:cNvSpPr/>
          <p:nvPr/>
        </p:nvSpPr>
        <p:spPr>
          <a:xfrm>
            <a:off x="630936" y="4370832"/>
            <a:ext cx="5797296" cy="1225296"/>
          </a:xfrm>
          <a:prstGeom prst="roundRect">
            <a:avLst>
              <a:gd name="adj" fmla="val 6000"/>
            </a:avLst>
          </a:prstGeom>
          <a:solidFill>
            <a:srgbClr val="FFFFFF"/>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777240" y="4498848"/>
            <a:ext cx="384048" cy="237744"/>
          </a:xfrm>
          <a:prstGeom prst="roundRect">
            <a:avLst>
              <a:gd name="adj" fmla="val 6000"/>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4517136"/>
            <a:ext cx="384048" cy="237744"/>
          </a:xfrm>
          <a:prstGeom prst="rect">
            <a:avLst/>
          </a:prstGeom>
          <a:noFill/>
        </p:spPr>
        <p:txBody>
          <a:bodyPr wrap="square" lIns="0" rIns="0" tIns="0" bIns="0" anchor="t">
            <a:spAutoFit/>
          </a:bodyPr>
          <a:lstStyle/>
          <a:p>
            <a:pPr algn="ctr">
              <a:spcAft>
                <a:spcPts val="0"/>
              </a:spcAft>
            </a:pPr>
            <a:r>
              <a:rPr sz="1250" b="1" i="0">
                <a:solidFill>
                  <a:srgbClr val="FFFFFF"/>
                </a:solidFill>
                <a:latin typeface="Times New Roman"/>
              </a:rPr>
              <a:t>03</a:t>
            </a:r>
          </a:p>
        </p:txBody>
      </p:sp>
      <p:sp>
        <p:nvSpPr>
          <p:cNvPr id="24" name="TextBox 23"/>
          <p:cNvSpPr txBox="1"/>
          <p:nvPr/>
        </p:nvSpPr>
        <p:spPr>
          <a:xfrm>
            <a:off x="1252728" y="4471416"/>
            <a:ext cx="5029200" cy="256032"/>
          </a:xfrm>
          <a:prstGeom prst="rect">
            <a:avLst/>
          </a:prstGeom>
          <a:noFill/>
        </p:spPr>
        <p:txBody>
          <a:bodyPr wrap="square" lIns="0" rIns="0" tIns="0" bIns="0" anchor="t">
            <a:spAutoFit/>
          </a:bodyPr>
          <a:lstStyle/>
          <a:p>
            <a:pPr algn="l">
              <a:spcAft>
                <a:spcPts val="0"/>
              </a:spcAft>
            </a:pPr>
            <a:r>
              <a:rPr sz="1600" b="1" i="0">
                <a:solidFill>
                  <a:srgbClr val="1F2A44"/>
                </a:solidFill>
                <a:latin typeface="Times New Roman"/>
              </a:rPr>
              <a:t>Twin-Assisted Security Decisions</a:t>
            </a:r>
          </a:p>
        </p:txBody>
      </p:sp>
      <p:sp>
        <p:nvSpPr>
          <p:cNvPr id="25" name="TextBox 24"/>
          <p:cNvSpPr txBox="1"/>
          <p:nvPr/>
        </p:nvSpPr>
        <p:spPr>
          <a:xfrm>
            <a:off x="777240" y="4791456"/>
            <a:ext cx="5504688" cy="749808"/>
          </a:xfrm>
          <a:prstGeom prst="rect">
            <a:avLst/>
          </a:prstGeom>
          <a:noFill/>
        </p:spPr>
        <p:txBody>
          <a:bodyPr wrap="square" lIns="0" rIns="0" tIns="0" bIns="0" anchor="t">
            <a:spAutoFit/>
          </a:bodyPr>
          <a:lstStyle/>
          <a:p>
            <a:pPr algn="l">
              <a:lnSpc>
                <a:spcPct val="108000"/>
              </a:lnSpc>
              <a:spcAft>
                <a:spcPts val="0"/>
              </a:spcAft>
            </a:pPr>
            <a:r>
              <a:rPr sz="1300" b="0" i="0">
                <a:solidFill>
                  <a:srgbClr val="55617A"/>
                </a:solidFill>
                <a:latin typeface="Times New Roman"/>
              </a:rPr>
              <a:t>The twin participates in the accept/quarantine decision rather than mirroring the device, and defends itself: any observation either detector distrusts is refused entry to the twin's own history.</a:t>
            </a:r>
          </a:p>
        </p:txBody>
      </p:sp>
      <p:sp>
        <p:nvSpPr>
          <p:cNvPr id="26" name="TextBox 25"/>
          <p:cNvSpPr txBox="1"/>
          <p:nvPr/>
        </p:nvSpPr>
        <p:spPr>
          <a:xfrm>
            <a:off x="6711696" y="1463040"/>
            <a:ext cx="484632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ONE-LINE NOVELTY STATEMENT</a:t>
            </a:r>
          </a:p>
        </p:txBody>
      </p:sp>
      <p:sp>
        <p:nvSpPr>
          <p:cNvPr id="27" name="Rounded Rectangle 26"/>
          <p:cNvSpPr/>
          <p:nvPr/>
        </p:nvSpPr>
        <p:spPr>
          <a:xfrm>
            <a:off x="6711696" y="1700784"/>
            <a:ext cx="4846320" cy="100584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711696" y="1700784"/>
            <a:ext cx="45720" cy="100584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4" y="1810512"/>
            <a:ext cx="4572000" cy="822960"/>
          </a:xfrm>
          <a:prstGeom prst="rect">
            <a:avLst/>
          </a:prstGeom>
          <a:noFill/>
        </p:spPr>
        <p:txBody>
          <a:bodyPr wrap="square" lIns="0" rIns="0" tIns="0" bIns="0" anchor="t">
            <a:spAutoFit/>
          </a:bodyPr>
          <a:lstStyle/>
          <a:p>
            <a:pPr algn="l">
              <a:lnSpc>
                <a:spcPct val="110000"/>
              </a:lnSpc>
              <a:spcAft>
                <a:spcPts val="0"/>
              </a:spcAft>
            </a:pPr>
            <a:r>
              <a:rPr sz="1450" b="0" i="1">
                <a:solidFill>
                  <a:srgbClr val="1F2A44"/>
                </a:solidFill>
                <a:latin typeface="Times New Roman"/>
              </a:rPr>
              <a:t>Using a digital twin's set of plausible future states as a counterfactual security test before accepting an AI model update, followed by predictive immunization of the edge model against simulated future attacks.</a:t>
            </a:r>
          </a:p>
        </p:txBody>
      </p:sp>
      <p:sp>
        <p:nvSpPr>
          <p:cNvPr id="30" name="TextBox 29"/>
          <p:cNvSpPr txBox="1"/>
          <p:nvPr/>
        </p:nvSpPr>
        <p:spPr>
          <a:xfrm>
            <a:off x="6711696" y="2834640"/>
            <a:ext cx="4846320" cy="201168"/>
          </a:xfrm>
          <a:prstGeom prst="rect">
            <a:avLst/>
          </a:prstGeom>
          <a:noFill/>
        </p:spPr>
        <p:txBody>
          <a:bodyPr wrap="square" lIns="0" rIns="0" tIns="0" bIns="0" anchor="t">
            <a:spAutoFit/>
          </a:bodyPr>
          <a:lstStyle/>
          <a:p>
            <a:pPr algn="l">
              <a:spcAft>
                <a:spcPts val="0"/>
              </a:spcAft>
            </a:pPr>
            <a:r>
              <a:rPr sz="1300" b="1" i="0">
                <a:solidFill>
                  <a:srgbClr val="0E8C79"/>
                </a:solidFill>
                <a:latin typeface="Times New Roman"/>
              </a:rPr>
              <a:t>CONCLUSION</a:t>
            </a:r>
          </a:p>
        </p:txBody>
      </p:sp>
      <p:sp>
        <p:nvSpPr>
          <p:cNvPr id="31" name="TextBox 30"/>
          <p:cNvSpPr txBox="1"/>
          <p:nvPr/>
        </p:nvSpPr>
        <p:spPr>
          <a:xfrm>
            <a:off x="6711696" y="3090672"/>
            <a:ext cx="4846320" cy="512064"/>
          </a:xfrm>
          <a:prstGeom prst="rect">
            <a:avLst/>
          </a:prstGeom>
          <a:noFill/>
        </p:spPr>
        <p:txBody>
          <a:bodyPr wrap="square" lIns="0" rIns="0" tIns="0" bIns="0" anchor="t">
            <a:spAutoFit/>
          </a:bodyPr>
          <a:lstStyle/>
          <a:p>
            <a:pPr algn="l">
              <a:lnSpc>
                <a:spcPct val="106000"/>
              </a:lnSpc>
              <a:spcAft>
                <a:spcPts val="0"/>
              </a:spcAft>
            </a:pPr>
            <a:r>
              <a:rPr sz="1300" b="1" i="0">
                <a:solidFill>
                  <a:srgbClr val="D7DEE9"/>
                </a:solidFill>
                <a:latin typeface="Times New Roman"/>
              </a:rPr>
              <a:t>—  </a:t>
            </a:r>
            <a:r>
              <a:rPr sz="1300" b="0" i="0">
                <a:solidFill>
                  <a:srgbClr val="1F2A44"/>
                </a:solidFill>
                <a:latin typeface="Times New Roman"/>
              </a:rPr>
              <a:t>Poisoning is prevented at the gate rather than repaired after the model has already been damaged.</a:t>
            </a:r>
          </a:p>
        </p:txBody>
      </p:sp>
      <p:sp>
        <p:nvSpPr>
          <p:cNvPr id="32" name="TextBox 31"/>
          <p:cNvSpPr txBox="1"/>
          <p:nvPr/>
        </p:nvSpPr>
        <p:spPr>
          <a:xfrm>
            <a:off x="6711696" y="3639312"/>
            <a:ext cx="4846320" cy="512064"/>
          </a:xfrm>
          <a:prstGeom prst="rect">
            <a:avLst/>
          </a:prstGeom>
          <a:noFill/>
        </p:spPr>
        <p:txBody>
          <a:bodyPr wrap="square" lIns="0" rIns="0" tIns="0" bIns="0" anchor="t">
            <a:spAutoFit/>
          </a:bodyPr>
          <a:lstStyle/>
          <a:p>
            <a:pPr algn="l">
              <a:lnSpc>
                <a:spcPct val="106000"/>
              </a:lnSpc>
              <a:spcAft>
                <a:spcPts val="0"/>
              </a:spcAft>
            </a:pPr>
            <a:r>
              <a:rPr sz="1300" b="1" i="0">
                <a:solidFill>
                  <a:srgbClr val="D7DEE9"/>
                </a:solidFill>
                <a:latin typeface="Times New Roman"/>
              </a:rPr>
              <a:t>—  </a:t>
            </a:r>
            <a:r>
              <a:rPr sz="1300" b="0" i="0">
                <a:solidFill>
                  <a:srgbClr val="1F2A44"/>
                </a:solidFill>
                <a:latin typeface="Times New Roman"/>
              </a:rPr>
              <a:t>The defence is fleet-adaptive: the accept threshold is calibrated from honest traffic on the deployed network, not hard-coded.</a:t>
            </a:r>
          </a:p>
        </p:txBody>
      </p:sp>
      <p:sp>
        <p:nvSpPr>
          <p:cNvPr id="33" name="TextBox 32"/>
          <p:cNvSpPr txBox="1"/>
          <p:nvPr/>
        </p:nvSpPr>
        <p:spPr>
          <a:xfrm>
            <a:off x="6711696" y="4187952"/>
            <a:ext cx="4846320" cy="512064"/>
          </a:xfrm>
          <a:prstGeom prst="rect">
            <a:avLst/>
          </a:prstGeom>
          <a:noFill/>
        </p:spPr>
        <p:txBody>
          <a:bodyPr wrap="square" lIns="0" rIns="0" tIns="0" bIns="0" anchor="t">
            <a:spAutoFit/>
          </a:bodyPr>
          <a:lstStyle/>
          <a:p>
            <a:pPr algn="l">
              <a:lnSpc>
                <a:spcPct val="106000"/>
              </a:lnSpc>
              <a:spcAft>
                <a:spcPts val="0"/>
              </a:spcAft>
            </a:pPr>
            <a:r>
              <a:rPr sz="1300" b="1" i="0">
                <a:solidFill>
                  <a:srgbClr val="D7DEE9"/>
                </a:solidFill>
                <a:latin typeface="Times New Roman"/>
              </a:rPr>
              <a:t>—  </a:t>
            </a:r>
            <a:r>
              <a:rPr sz="1300" b="0" i="0">
                <a:solidFill>
                  <a:srgbClr val="1F2A44"/>
                </a:solidFill>
                <a:latin typeface="Times New Roman"/>
              </a:rPr>
              <a:t>Every decision is inspectable and overridable — a security control an operator cannot countermand is an oracle, not a control.</a:t>
            </a:r>
          </a:p>
        </p:txBody>
      </p:sp>
      <p:sp>
        <p:nvSpPr>
          <p:cNvPr id="34" name="Rounded Rectangle 33"/>
          <p:cNvSpPr/>
          <p:nvPr/>
        </p:nvSpPr>
        <p:spPr>
          <a:xfrm>
            <a:off x="6711696" y="4754880"/>
            <a:ext cx="4846320" cy="932688"/>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711696" y="4754880"/>
            <a:ext cx="4846320" cy="36576"/>
          </a:xfrm>
          <a:prstGeom prst="rect">
            <a:avLst/>
          </a:prstGeom>
          <a:solidFill>
            <a:srgbClr val="B87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76288" y="4882896"/>
            <a:ext cx="4517136" cy="201168"/>
          </a:xfrm>
          <a:prstGeom prst="rect">
            <a:avLst/>
          </a:prstGeom>
          <a:noFill/>
        </p:spPr>
        <p:txBody>
          <a:bodyPr wrap="square" lIns="0" rIns="0" tIns="0" bIns="0" anchor="t">
            <a:spAutoFit/>
          </a:bodyPr>
          <a:lstStyle/>
          <a:p>
            <a:pPr algn="l">
              <a:spcAft>
                <a:spcPts val="0"/>
              </a:spcAft>
            </a:pPr>
            <a:r>
              <a:rPr sz="1250" b="1" i="0">
                <a:solidFill>
                  <a:srgbClr val="B8720A"/>
                </a:solidFill>
                <a:latin typeface="Times New Roman"/>
              </a:rPr>
              <a:t>NEXT STEPS TO REVIEW-3</a:t>
            </a:r>
          </a:p>
        </p:txBody>
      </p:sp>
      <p:sp>
        <p:nvSpPr>
          <p:cNvPr id="37" name="TextBox 36"/>
          <p:cNvSpPr txBox="1"/>
          <p:nvPr/>
        </p:nvSpPr>
        <p:spPr>
          <a:xfrm>
            <a:off x="6876288" y="5102352"/>
            <a:ext cx="4517136" cy="530352"/>
          </a:xfrm>
          <a:prstGeom prst="rect">
            <a:avLst/>
          </a:prstGeom>
          <a:noFill/>
        </p:spPr>
        <p:txBody>
          <a:bodyPr wrap="square" lIns="0" rIns="0" tIns="0" bIns="0" anchor="t">
            <a:spAutoFit/>
          </a:bodyPr>
          <a:lstStyle/>
          <a:p>
            <a:pPr algn="l">
              <a:lnSpc>
                <a:spcPct val="106000"/>
              </a:lnSpc>
              <a:spcAft>
                <a:spcPts val="0"/>
              </a:spcAft>
            </a:pPr>
            <a:r>
              <a:rPr sz="1250" b="0" i="0">
                <a:solidFill>
                  <a:srgbClr val="1F2A44"/>
                </a:solidFill>
                <a:latin typeface="Times New Roman"/>
              </a:rPr>
              <a:t>Benchmark against the three reactive baselines, run the poisoning-rate sweep, and prepare the patent filing on the counterfactual validation mechanism.</a:t>
            </a:r>
          </a:p>
        </p:txBody>
      </p:sp>
      <p:sp>
        <p:nvSpPr>
          <p:cNvPr id="38" name="Rounded Rectangle 37"/>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Positioning:  </a:t>
            </a:r>
            <a:r>
              <a:rPr sz="1600" b="0" i="0">
                <a:solidFill>
                  <a:srgbClr val="1F2A44"/>
                </a:solidFill>
                <a:latin typeface="Times New Roman"/>
              </a:rPr>
              <a:t>digital twins, AI threat detection and poisoning defence are each well studied — the contribution is the security decision mechanism that combines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1183112" cy="219456"/>
          </a:xfrm>
          <a:prstGeom prst="rect">
            <a:avLst/>
          </a:prstGeom>
          <a:noFill/>
        </p:spPr>
        <p:txBody>
          <a:bodyPr wrap="square" lIns="0" rIns="0" tIns="0" bIns="0" anchor="t">
            <a:spAutoFit/>
          </a:bodyPr>
          <a:lstStyle/>
          <a:p>
            <a:pPr algn="l">
              <a:spcAft>
                <a:spcPts val="0"/>
              </a:spcAft>
            </a:pPr>
            <a:r>
              <a:rPr sz="1550" b="1" i="0">
                <a:solidFill>
                  <a:srgbClr val="0E8C79"/>
                </a:solidFill>
                <a:latin typeface="Times New Roman"/>
              </a:rPr>
              <a:t>12</a:t>
            </a:r>
            <a:r>
              <a:rPr sz="1550" b="0" i="0">
                <a:solidFill>
                  <a:srgbClr val="D7DEE9"/>
                </a:solidFill>
                <a:latin typeface="Times New Roman"/>
              </a:rPr>
              <a:t>   ·   </a:t>
            </a:r>
            <a:r>
              <a:rPr sz="1550" b="1" i="0">
                <a:solidFill>
                  <a:srgbClr val="55617A"/>
                </a:solidFill>
                <a:latin typeface="Times New Roman"/>
              </a:rPr>
              <a:t>BIBLIOGRAPHY</a:t>
            </a:r>
          </a:p>
        </p:txBody>
      </p:sp>
      <p:sp>
        <p:nvSpPr>
          <p:cNvPr id="3" name="TextBox 2"/>
          <p:cNvSpPr txBox="1"/>
          <p:nvPr/>
        </p:nvSpPr>
        <p:spPr>
          <a:xfrm>
            <a:off x="502920" y="530352"/>
            <a:ext cx="9601200" cy="475488"/>
          </a:xfrm>
          <a:prstGeom prst="rect">
            <a:avLst/>
          </a:prstGeom>
          <a:noFill/>
        </p:spPr>
        <p:txBody>
          <a:bodyPr wrap="square" lIns="0" rIns="0" tIns="0" bIns="0" anchor="t">
            <a:spAutoFit/>
          </a:bodyPr>
          <a:lstStyle/>
          <a:p>
            <a:pPr algn="l">
              <a:spcAft>
                <a:spcPts val="0"/>
              </a:spcAft>
            </a:pPr>
            <a:r>
              <a:rPr sz="3150" b="1" i="0">
                <a:solidFill>
                  <a:srgbClr val="0E1729"/>
                </a:solidFill>
                <a:latin typeface="Times New Roman"/>
              </a:rPr>
              <a:t>References</a:t>
            </a:r>
          </a:p>
        </p:txBody>
      </p:sp>
      <p:sp>
        <p:nvSpPr>
          <p:cNvPr id="4" name="TextBox 3"/>
          <p:cNvSpPr txBox="1"/>
          <p:nvPr/>
        </p:nvSpPr>
        <p:spPr>
          <a:xfrm>
            <a:off x="502920" y="1042415"/>
            <a:ext cx="10515600" cy="237744"/>
          </a:xfrm>
          <a:prstGeom prst="rect">
            <a:avLst/>
          </a:prstGeom>
          <a:noFill/>
        </p:spPr>
        <p:txBody>
          <a:bodyPr wrap="square" lIns="0" rIns="0" tIns="0" bIns="0" anchor="t">
            <a:spAutoFit/>
          </a:bodyPr>
          <a:lstStyle/>
          <a:p>
            <a:pPr algn="l">
              <a:spcAft>
                <a:spcPts val="0"/>
              </a:spcAft>
            </a:pPr>
            <a:r>
              <a:rPr sz="1650" b="0" i="0">
                <a:solidFill>
                  <a:srgbClr val="55617A"/>
                </a:solidFill>
                <a:latin typeface="Times New Roman"/>
              </a:rPr>
              <a:t>IEEE format  ·  verify every volume, issue and page range against the publisher before submission</a:t>
            </a:r>
          </a:p>
        </p:txBody>
      </p:sp>
      <p:sp>
        <p:nvSpPr>
          <p:cNvPr id="5" name="Rectangle 4"/>
          <p:cNvSpPr/>
          <p:nvPr/>
        </p:nvSpPr>
        <p:spPr>
          <a:xfrm>
            <a:off x="502920" y="1335024"/>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6391656"/>
            <a:ext cx="11183112" cy="10972"/>
          </a:xfrm>
          <a:prstGeom prst="rect">
            <a:avLst/>
          </a:prstGeom>
          <a:solidFill>
            <a:srgbClr val="D7D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1828800" cy="201168"/>
          </a:xfrm>
          <a:prstGeom prst="rect">
            <a:avLst/>
          </a:prstGeom>
          <a:noFill/>
        </p:spPr>
        <p:txBody>
          <a:bodyPr wrap="square" lIns="0" rIns="0" tIns="0" bIns="0" anchor="t">
            <a:spAutoFit/>
          </a:bodyPr>
          <a:lstStyle/>
          <a:p>
            <a:pPr algn="l">
              <a:spcAft>
                <a:spcPts val="0"/>
              </a:spcAft>
            </a:pPr>
            <a:r>
              <a:rPr sz="1400" b="0" i="0">
                <a:solidFill>
                  <a:srgbClr val="55617A"/>
                </a:solidFill>
                <a:latin typeface="Times New Roman"/>
              </a:rPr>
              <a:t>04-09-2026</a:t>
            </a:r>
          </a:p>
        </p:txBody>
      </p:sp>
      <p:sp>
        <p:nvSpPr>
          <p:cNvPr id="8" name="TextBox 7"/>
          <p:cNvSpPr txBox="1"/>
          <p:nvPr/>
        </p:nvSpPr>
        <p:spPr>
          <a:xfrm>
            <a:off x="4754880" y="6455664"/>
            <a:ext cx="2651760" cy="201168"/>
          </a:xfrm>
          <a:prstGeom prst="rect">
            <a:avLst/>
          </a:prstGeom>
          <a:noFill/>
        </p:spPr>
        <p:txBody>
          <a:bodyPr wrap="square" lIns="0" rIns="0" tIns="0" bIns="0" anchor="t">
            <a:spAutoFit/>
          </a:bodyPr>
          <a:lstStyle/>
          <a:p>
            <a:pPr algn="ctr">
              <a:spcAft>
                <a:spcPts val="0"/>
              </a:spcAft>
            </a:pPr>
            <a:r>
              <a:rPr sz="1400" b="0" i="0">
                <a:solidFill>
                  <a:srgbClr val="55617A"/>
                </a:solidFill>
                <a:latin typeface="Times New Roman"/>
              </a:rPr>
              <a:t>SCOPE  ·  VIT</a:t>
            </a:r>
          </a:p>
        </p:txBody>
      </p:sp>
      <p:sp>
        <p:nvSpPr>
          <p:cNvPr id="9" name="TextBox 8"/>
          <p:cNvSpPr txBox="1"/>
          <p:nvPr/>
        </p:nvSpPr>
        <p:spPr>
          <a:xfrm>
            <a:off x="9857232" y="6455664"/>
            <a:ext cx="1828800" cy="201168"/>
          </a:xfrm>
          <a:prstGeom prst="rect">
            <a:avLst/>
          </a:prstGeom>
          <a:noFill/>
        </p:spPr>
        <p:txBody>
          <a:bodyPr wrap="square" lIns="0" rIns="0" tIns="0" bIns="0" anchor="t">
            <a:spAutoFit/>
          </a:bodyPr>
          <a:lstStyle/>
          <a:p>
            <a:pPr algn="r">
              <a:spcAft>
                <a:spcPts val="0"/>
              </a:spcAft>
            </a:pPr>
            <a:r>
              <a:rPr sz="1400" b="0" i="0">
                <a:solidFill>
                  <a:srgbClr val="55617A"/>
                </a:solidFill>
                <a:latin typeface="Times New Roman"/>
              </a:rPr>
              <a:t>16 / 16</a:t>
            </a:r>
          </a:p>
        </p:txBody>
      </p:sp>
      <p:sp>
        <p:nvSpPr>
          <p:cNvPr id="10" name="TextBox 9"/>
          <p:cNvSpPr txBox="1"/>
          <p:nvPr/>
        </p:nvSpPr>
        <p:spPr>
          <a:xfrm>
            <a:off x="630936" y="148132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  </a:t>
            </a:r>
            <a:r>
              <a:rPr sz="1250" b="0" i="0">
                <a:solidFill>
                  <a:srgbClr val="1F2A44"/>
                </a:solidFill>
                <a:latin typeface="Times New Roman"/>
              </a:rPr>
              <a:t>C. Alcaraz and J. Lopez, “Digital twin: A comprehensive survey of security threats,” IEEE Communications Surveys &amp; Tutorials, vol. 24, no. 3, pp. 1475–1503, 2022.</a:t>
            </a:r>
          </a:p>
        </p:txBody>
      </p:sp>
      <p:sp>
        <p:nvSpPr>
          <p:cNvPr id="11" name="TextBox 10"/>
          <p:cNvSpPr txBox="1"/>
          <p:nvPr/>
        </p:nvSpPr>
        <p:spPr>
          <a:xfrm>
            <a:off x="6236208" y="148132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[2]  </a:t>
            </a:r>
            <a:r>
              <a:rPr sz="1250" b="0" i="0">
                <a:solidFill>
                  <a:srgbClr val="1F2A44"/>
                </a:solidFill>
                <a:latin typeface="Times New Roman"/>
              </a:rPr>
              <a:t>Z. Tian, L. Cui, J. Liang, and S. Yu, “A comprehensive survey on poisoning attacks and countermeasures in machine learning,” ACM Computing Surveys, vol. 55, no. 8, pp. 1–35, 2022.</a:t>
            </a:r>
          </a:p>
        </p:txBody>
      </p:sp>
      <p:sp>
        <p:nvSpPr>
          <p:cNvPr id="12" name="TextBox 11"/>
          <p:cNvSpPr txBox="1"/>
          <p:nvPr/>
        </p:nvSpPr>
        <p:spPr>
          <a:xfrm>
            <a:off x="630936" y="202996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[3]  </a:t>
            </a:r>
            <a:r>
              <a:rPr sz="1250" b="0" i="0">
                <a:solidFill>
                  <a:srgbClr val="1F2A44"/>
                </a:solidFill>
                <a:latin typeface="Times New Roman"/>
              </a:rPr>
              <a:t>R. Yang, H. He, Y. Wang, Y. Qu, and W. Zhang, “Dependable federated learning for IoT intrusion detection against poisoning attacks,” Computers &amp; Security, vol. 132, art. no. 103381, 2023.</a:t>
            </a:r>
          </a:p>
        </p:txBody>
      </p:sp>
      <p:sp>
        <p:nvSpPr>
          <p:cNvPr id="13" name="TextBox 12"/>
          <p:cNvSpPr txBox="1"/>
          <p:nvPr/>
        </p:nvSpPr>
        <p:spPr>
          <a:xfrm>
            <a:off x="6236208" y="202996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[4]  </a:t>
            </a:r>
            <a:r>
              <a:rPr sz="1250" b="0" i="0">
                <a:solidFill>
                  <a:srgbClr val="1F2A44"/>
                </a:solidFill>
                <a:latin typeface="Times New Roman"/>
              </a:rPr>
              <a:t>T. D. Nguyen et al., “DÏoT: A federated self-learning anomaly detection system for IoT,” in Proc. IEEE Int. Conf. Distributed Computing Systems (ICDCS), 2019, pp. 756–767.</a:t>
            </a:r>
          </a:p>
        </p:txBody>
      </p:sp>
      <p:sp>
        <p:nvSpPr>
          <p:cNvPr id="14" name="TextBox 13"/>
          <p:cNvSpPr txBox="1"/>
          <p:nvPr/>
        </p:nvSpPr>
        <p:spPr>
          <a:xfrm>
            <a:off x="630936" y="257860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[5]  </a:t>
            </a:r>
            <a:r>
              <a:rPr sz="1250" b="0" i="0">
                <a:solidFill>
                  <a:srgbClr val="1F2A44"/>
                </a:solidFill>
                <a:latin typeface="Times New Roman"/>
              </a:rPr>
              <a:t>D. Sulem et al., “Diverse counterfactual explanations for anomaly detection in time series,” arXiv:2203.11103, 2022.</a:t>
            </a:r>
          </a:p>
        </p:txBody>
      </p:sp>
      <p:sp>
        <p:nvSpPr>
          <p:cNvPr id="15" name="TextBox 14"/>
          <p:cNvSpPr txBox="1"/>
          <p:nvPr/>
        </p:nvSpPr>
        <p:spPr>
          <a:xfrm>
            <a:off x="6236208" y="257860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[6]  </a:t>
            </a:r>
            <a:r>
              <a:rPr sz="1250" b="0" i="0">
                <a:solidFill>
                  <a:srgbClr val="1F2A44"/>
                </a:solidFill>
                <a:latin typeface="Times New Roman"/>
              </a:rPr>
              <a:t>A. Madry, A. Makelov, L. Schmidt, D. Tsipras, and A. Vladu, “Towards deep learning models resistant to adversarial attacks,” in Proc. Int. Conf. Learning Representations (ICLR), Vancouver, Canada, 2018.</a:t>
            </a:r>
          </a:p>
        </p:txBody>
      </p:sp>
      <p:sp>
        <p:nvSpPr>
          <p:cNvPr id="16" name="TextBox 15"/>
          <p:cNvSpPr txBox="1"/>
          <p:nvPr/>
        </p:nvSpPr>
        <p:spPr>
          <a:xfrm>
            <a:off x="630936" y="312724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[7]  </a:t>
            </a:r>
            <a:r>
              <a:rPr sz="1250" b="0" i="0">
                <a:solidFill>
                  <a:srgbClr val="1F2A44"/>
                </a:solidFill>
                <a:latin typeface="Times New Roman"/>
              </a:rPr>
              <a:t>A. Shafahi et al., “Poison frogs! Targeted clean-label poisoning attacks on neural networks,” in Advances in Neural Information Processing Systems (NeurIPS), 2018.</a:t>
            </a:r>
          </a:p>
        </p:txBody>
      </p:sp>
      <p:sp>
        <p:nvSpPr>
          <p:cNvPr id="17" name="TextBox 16"/>
          <p:cNvSpPr txBox="1"/>
          <p:nvPr/>
        </p:nvSpPr>
        <p:spPr>
          <a:xfrm>
            <a:off x="6236208" y="312724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[8]  </a:t>
            </a:r>
            <a:r>
              <a:rPr sz="1250" b="0" i="0">
                <a:solidFill>
                  <a:srgbClr val="1F2A44"/>
                </a:solidFill>
                <a:latin typeface="Times New Roman"/>
              </a:rPr>
              <a:t>T. Gu, B. Dolan-Gavitt, and S. Garg, “BadNets: Identifying vulnerabilities in the machine learning model supply chain,” arXiv:1708.06733, 2017.</a:t>
            </a:r>
          </a:p>
        </p:txBody>
      </p:sp>
      <p:sp>
        <p:nvSpPr>
          <p:cNvPr id="18" name="TextBox 17"/>
          <p:cNvSpPr txBox="1"/>
          <p:nvPr/>
        </p:nvSpPr>
        <p:spPr>
          <a:xfrm>
            <a:off x="630936" y="3675887"/>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[9]  </a:t>
            </a:r>
            <a:r>
              <a:rPr sz="1250" b="0" i="0">
                <a:solidFill>
                  <a:srgbClr val="1F2A44"/>
                </a:solidFill>
                <a:latin typeface="Times New Roman"/>
              </a:rPr>
              <a:t>P. Blanchard et al., “Machine learning with adversaries: Byzantine tolerant gradient descent,” in Advances in Neural Information Processing Systems (NeurIPS), 2017.</a:t>
            </a:r>
          </a:p>
        </p:txBody>
      </p:sp>
      <p:sp>
        <p:nvSpPr>
          <p:cNvPr id="19" name="TextBox 18"/>
          <p:cNvSpPr txBox="1"/>
          <p:nvPr/>
        </p:nvSpPr>
        <p:spPr>
          <a:xfrm>
            <a:off x="6236208" y="3675887"/>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[10]  </a:t>
            </a:r>
            <a:r>
              <a:rPr sz="1250" b="0" i="0">
                <a:solidFill>
                  <a:srgbClr val="1F2A44"/>
                </a:solidFill>
                <a:latin typeface="Times New Roman"/>
              </a:rPr>
              <a:t>E. Bagdasaryan et al., “How to backdoor federated learning,” in Proc. Int. Conf. Artificial Intelligence and Statistics (AISTATS), 2020, pp. 2938–2948.</a:t>
            </a:r>
          </a:p>
        </p:txBody>
      </p:sp>
      <p:sp>
        <p:nvSpPr>
          <p:cNvPr id="20" name="TextBox 19"/>
          <p:cNvSpPr txBox="1"/>
          <p:nvPr/>
        </p:nvSpPr>
        <p:spPr>
          <a:xfrm>
            <a:off x="630936" y="422452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[11]  </a:t>
            </a:r>
            <a:r>
              <a:rPr sz="1250" b="0" i="0">
                <a:solidFill>
                  <a:srgbClr val="1F2A44"/>
                </a:solidFill>
                <a:latin typeface="Times New Roman"/>
              </a:rPr>
              <a:t>V. Tolpegin, S. Truex, M. E. Gursoy, and L. Liu, “Data poisoning attacks against federated learning systems,” in Proc. European Symp. Research in Computer Security (ESORICS), 2020, pp. 480–501.</a:t>
            </a:r>
          </a:p>
        </p:txBody>
      </p:sp>
      <p:sp>
        <p:nvSpPr>
          <p:cNvPr id="21" name="TextBox 20"/>
          <p:cNvSpPr txBox="1"/>
          <p:nvPr/>
        </p:nvSpPr>
        <p:spPr>
          <a:xfrm>
            <a:off x="6236208" y="422452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[12]  </a:t>
            </a:r>
            <a:r>
              <a:rPr sz="1250" b="0" i="0">
                <a:solidFill>
                  <a:srgbClr val="1F2A44"/>
                </a:solidFill>
                <a:latin typeface="Times New Roman"/>
              </a:rPr>
              <a:t>C. Fung, C. J. M. Yoon, and I. Beschastnikh, “The limitations of federated learning in Sybil settings,” in Proc. 23rd Int. Symp. Research in Attacks, Intrusions and Defenses (RAID), 2020, pp. 301–316.</a:t>
            </a:r>
          </a:p>
        </p:txBody>
      </p:sp>
      <p:sp>
        <p:nvSpPr>
          <p:cNvPr id="22" name="TextBox 21"/>
          <p:cNvSpPr txBox="1"/>
          <p:nvPr/>
        </p:nvSpPr>
        <p:spPr>
          <a:xfrm>
            <a:off x="630936" y="477316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[13]  </a:t>
            </a:r>
            <a:r>
              <a:rPr sz="1250" b="0" i="0">
                <a:solidFill>
                  <a:srgbClr val="1F2A44"/>
                </a:solidFill>
                <a:latin typeface="Times New Roman"/>
              </a:rPr>
              <a:t>B. Biggio and F. Roli, “Wild patterns: Ten years after the rise of adversarial machine learning,” Pattern Recognition, vol. 84, pp. 317–331, 2018.</a:t>
            </a:r>
          </a:p>
        </p:txBody>
      </p:sp>
      <p:sp>
        <p:nvSpPr>
          <p:cNvPr id="23" name="TextBox 22"/>
          <p:cNvSpPr txBox="1"/>
          <p:nvPr/>
        </p:nvSpPr>
        <p:spPr>
          <a:xfrm>
            <a:off x="6236208" y="477316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[14]  </a:t>
            </a:r>
            <a:r>
              <a:rPr sz="1250" b="0" i="0">
                <a:solidFill>
                  <a:srgbClr val="1F2A44"/>
                </a:solidFill>
                <a:latin typeface="Times New Roman"/>
              </a:rPr>
              <a:t>M. Antonakakis et al., “Understanding the Mirai botnet,” in Proc. 26th USENIX Security Symposium, Vancouver, Canada, 2017, pp. 1093–1110.</a:t>
            </a:r>
          </a:p>
        </p:txBody>
      </p:sp>
      <p:sp>
        <p:nvSpPr>
          <p:cNvPr id="24" name="TextBox 23"/>
          <p:cNvSpPr txBox="1"/>
          <p:nvPr/>
        </p:nvSpPr>
        <p:spPr>
          <a:xfrm>
            <a:off x="630936" y="5321808"/>
            <a:ext cx="5321808" cy="512064"/>
          </a:xfrm>
          <a:prstGeom prst="rect">
            <a:avLst/>
          </a:prstGeom>
          <a:noFill/>
        </p:spPr>
        <p:txBody>
          <a:bodyPr wrap="square" lIns="0" rIns="0" tIns="0" bIns="0" anchor="t">
            <a:spAutoFit/>
          </a:bodyPr>
          <a:lstStyle/>
          <a:p>
            <a:pPr algn="l">
              <a:lnSpc>
                <a:spcPct val="104000"/>
              </a:lnSpc>
              <a:spcAft>
                <a:spcPts val="0"/>
              </a:spcAft>
            </a:pPr>
            <a:r>
              <a:rPr sz="1250" b="1" i="0">
                <a:solidFill>
                  <a:srgbClr val="0E8C79"/>
                </a:solidFill>
                <a:latin typeface="Times New Roman"/>
              </a:rPr>
              <a:t>[15]  </a:t>
            </a:r>
            <a:r>
              <a:rPr sz="1250" b="0" i="0">
                <a:solidFill>
                  <a:srgbClr val="1F2A44"/>
                </a:solidFill>
                <a:latin typeface="Times New Roman"/>
              </a:rPr>
              <a:t>Y. Meidan et al., “N-BaIoT: Network-based detection of IoT botnet attacks using deep autoencoders,” IEEE Pervasive Computing, vol. 17, no. 3, pp. 12–22, 2018.</a:t>
            </a:r>
          </a:p>
        </p:txBody>
      </p:sp>
      <p:sp>
        <p:nvSpPr>
          <p:cNvPr id="25" name="Rounded Rectangle 24"/>
          <p:cNvSpPr/>
          <p:nvPr/>
        </p:nvSpPr>
        <p:spPr>
          <a:xfrm>
            <a:off x="630936" y="5852160"/>
            <a:ext cx="10927080" cy="457200"/>
          </a:xfrm>
          <a:prstGeom prst="roundRect">
            <a:avLst>
              <a:gd name="adj" fmla="val 6000"/>
            </a:avLst>
          </a:prstGeom>
          <a:solidFill>
            <a:srgbClr val="EEF2F8"/>
          </a:solidFill>
          <a:ln w="9525">
            <a:solidFill>
              <a:srgbClr val="D7DE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30936" y="5852160"/>
            <a:ext cx="45720" cy="457200"/>
          </a:xfrm>
          <a:prstGeom prst="rect">
            <a:avLst/>
          </a:prstGeom>
          <a:solidFill>
            <a:srgbClr val="0E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943600"/>
            <a:ext cx="10607040" cy="310896"/>
          </a:xfrm>
          <a:prstGeom prst="rect">
            <a:avLst/>
          </a:prstGeom>
          <a:noFill/>
        </p:spPr>
        <p:txBody>
          <a:bodyPr wrap="square" lIns="0" rIns="0" tIns="0" bIns="0" anchor="t">
            <a:spAutoFit/>
          </a:bodyPr>
          <a:lstStyle/>
          <a:p>
            <a:pPr algn="l">
              <a:lnSpc>
                <a:spcPct val="102000"/>
              </a:lnSpc>
              <a:spcAft>
                <a:spcPts val="0"/>
              </a:spcAft>
            </a:pPr>
            <a:r>
              <a:rPr sz="1600" b="1" i="0">
                <a:solidFill>
                  <a:srgbClr val="0E8C79"/>
                </a:solidFill>
                <a:latin typeface="Times New Roman"/>
              </a:rPr>
              <a:t>Before submission:  </a:t>
            </a:r>
            <a:r>
              <a:rPr sz="1600" b="0" i="0">
                <a:solidFill>
                  <a:srgbClr val="1F2A44"/>
                </a:solidFill>
                <a:latin typeface="Times New Roman"/>
              </a:rPr>
              <a:t>references [7] to [15] were added for Review-2 and their page ranges have not yet been checked against the publisher record — verify each one, then delete this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and Method for Counterfactual-Driven Adaptive Security Control and Verified Model Updating in Edge-Deployed Digital Twins for Consumer Internet of Things Networks</dc:title>
  <dc:subject>BCSE497J Project-I</dc:subject>
  <dc:creator>T V Sai Susanth</dc:creator>
  <cp:keywords/>
  <dc:description/>
  <cp:lastModifiedBy>T V Sai Susanth</cp:lastModifiedBy>
  <cp:revision>1</cp:revision>
  <dcterms:created xsi:type="dcterms:W3CDTF">2013-01-27T09:14:16Z</dcterms:created>
  <dcterms:modified xsi:type="dcterms:W3CDTF">2013-01-27T09:15:58Z</dcterms:modified>
  <cp:category/>
</cp:coreProperties>
</file>