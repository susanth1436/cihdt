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4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859536"/>
            <a:ext cx="10104120" cy="274320"/>
          </a:xfrm>
          <a:prstGeom prst="rect">
            <a:avLst/>
          </a:prstGeom>
          <a:noFill/>
        </p:spPr>
        <p:txBody>
          <a:bodyPr wrap="square" lIns="0" rIns="0" tIns="0" bIns="0">
            <a:spAutoFit/>
          </a:bodyPr>
          <a:lstStyle/>
          <a:p>
            <a:pPr algn="l">
              <a:lnSpc>
                <a:spcPct val="118000"/>
              </a:lnSpc>
              <a:spcBef>
                <a:spcPts val="0"/>
              </a:spcBef>
              <a:spcAft>
                <a:spcPts val="0"/>
              </a:spcAft>
            </a:pPr>
            <a:r>
              <a:rPr sz="1100" b="1" i="0">
                <a:solidFill>
                  <a:srgbClr val="007EBD"/>
                </a:solidFill>
                <a:latin typeface="Segoe UI"/>
              </a:rPr>
              <a:t>B.TECH.  ·  BCSE497J — PROJECT-I  ·  COMPUTER SCIENCE AND ENGINEERING</a:t>
            </a:r>
          </a:p>
        </p:txBody>
      </p:sp>
      <p:sp>
        <p:nvSpPr>
          <p:cNvPr id="5" name="TextBox 4"/>
          <p:cNvSpPr txBox="1"/>
          <p:nvPr/>
        </p:nvSpPr>
        <p:spPr>
          <a:xfrm>
            <a:off x="1042416" y="1225296"/>
            <a:ext cx="10104120" cy="1737360"/>
          </a:xfrm>
          <a:prstGeom prst="rect">
            <a:avLst/>
          </a:prstGeom>
          <a:noFill/>
        </p:spPr>
        <p:txBody>
          <a:bodyPr wrap="square" lIns="0" rIns="0" tIns="0" bIns="0">
            <a:spAutoFit/>
          </a:bodyPr>
          <a:lstStyle/>
          <a:p>
            <a:pPr algn="l">
              <a:lnSpc>
                <a:spcPct val="114000"/>
              </a:lnSpc>
              <a:spcBef>
                <a:spcPts val="0"/>
              </a:spcBef>
              <a:spcAft>
                <a:spcPts val="0"/>
              </a:spcAft>
            </a:pPr>
            <a:r>
              <a:rPr sz="2300" b="1" i="0">
                <a:solidFill>
                  <a:srgbClr val="000000"/>
                </a:solidFill>
                <a:latin typeface="Georgia"/>
              </a:rPr>
              <a:t>System and Method for Counterfactual-Driven Adaptive Security Control and Verified Model Updating in Edge-Deployed Digital Twins for Consumer Internet of Things Networks</a:t>
            </a:r>
          </a:p>
        </p:txBody>
      </p:sp>
      <p:sp>
        <p:nvSpPr>
          <p:cNvPr id="6" name="Rectangle 5"/>
          <p:cNvSpPr/>
          <p:nvPr/>
        </p:nvSpPr>
        <p:spPr>
          <a:xfrm>
            <a:off x="1042416" y="2724912"/>
            <a:ext cx="1371600" cy="33020"/>
          </a:xfrm>
          <a:prstGeom prst="rect">
            <a:avLst/>
          </a:prstGeom>
          <a:solidFill>
            <a:srgbClr val="007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2999232"/>
            <a:ext cx="5394960" cy="2194560"/>
          </a:xfrm>
          <a:prstGeom prst="rect">
            <a:avLst/>
          </a:prstGeom>
          <a:noFill/>
        </p:spPr>
        <p:txBody>
          <a:bodyPr wrap="square" lIns="0" rIns="0" tIns="0" bIns="0">
            <a:spAutoFit/>
          </a:bodyPr>
          <a:lstStyle/>
          <a:p>
            <a:pPr algn="l">
              <a:lnSpc>
                <a:spcPct val="118000"/>
              </a:lnSpc>
              <a:spcBef>
                <a:spcPts val="0"/>
              </a:spcBef>
              <a:spcAft>
                <a:spcPts val="700"/>
              </a:spcAft>
            </a:pPr>
            <a:r>
              <a:rPr sz="1050" b="1" i="0">
                <a:solidFill>
                  <a:srgbClr val="007EBD"/>
                </a:solidFill>
                <a:latin typeface="Segoe UI"/>
              </a:rPr>
              <a:t>TEAM MEMBERS</a:t>
            </a:r>
          </a:p>
          <a:p>
            <a:pPr algn="l">
              <a:lnSpc>
                <a:spcPct val="118000"/>
              </a:lnSpc>
              <a:spcBef>
                <a:spcPts val="0"/>
              </a:spcBef>
              <a:spcAft>
                <a:spcPts val="500"/>
              </a:spcAft>
            </a:pPr>
            <a:r>
              <a:rPr sz="1450" b="1" i="0">
                <a:solidFill>
                  <a:srgbClr val="000000"/>
                </a:solidFill>
                <a:latin typeface="Georgia"/>
              </a:rPr>
              <a:t>ATRIK</a:t>
            </a:r>
            <a:r>
              <a:rPr sz="1300" b="0" i="0">
                <a:solidFill>
                  <a:srgbClr val="66666B"/>
                </a:solidFill>
                <a:latin typeface="Segoe UI"/>
              </a:rPr>
              <a:t>   (23BAI0136)</a:t>
            </a:r>
          </a:p>
          <a:p>
            <a:pPr algn="l">
              <a:lnSpc>
                <a:spcPct val="118000"/>
              </a:lnSpc>
              <a:spcBef>
                <a:spcPts val="0"/>
              </a:spcBef>
              <a:spcAft>
                <a:spcPts val="500"/>
              </a:spcAft>
            </a:pPr>
            <a:r>
              <a:rPr sz="1450" b="1" i="0">
                <a:solidFill>
                  <a:srgbClr val="000000"/>
                </a:solidFill>
                <a:latin typeface="Georgia"/>
              </a:rPr>
              <a:t>T V SAI SUSANTH</a:t>
            </a:r>
            <a:r>
              <a:rPr sz="1300" b="0" i="0">
                <a:solidFill>
                  <a:srgbClr val="66666B"/>
                </a:solidFill>
                <a:latin typeface="Segoe UI"/>
              </a:rPr>
              <a:t>   (23BCI0231)</a:t>
            </a:r>
          </a:p>
          <a:p>
            <a:pPr algn="l">
              <a:lnSpc>
                <a:spcPct val="118000"/>
              </a:lnSpc>
              <a:spcBef>
                <a:spcPts val="0"/>
              </a:spcBef>
              <a:spcAft>
                <a:spcPts val="500"/>
              </a:spcAft>
            </a:pPr>
            <a:r>
              <a:rPr sz="1450" b="1" i="0">
                <a:solidFill>
                  <a:srgbClr val="000000"/>
                </a:solidFill>
                <a:latin typeface="Georgia"/>
              </a:rPr>
              <a:t>PUSHPAK</a:t>
            </a:r>
            <a:r>
              <a:rPr sz="1300" b="0" i="0">
                <a:solidFill>
                  <a:srgbClr val="66666B"/>
                </a:solidFill>
                <a:latin typeface="Segoe UI"/>
              </a:rPr>
              <a:t>   (23BCT0129)</a:t>
            </a:r>
          </a:p>
        </p:txBody>
      </p:sp>
      <p:sp>
        <p:nvSpPr>
          <p:cNvPr id="8" name="TextBox 7"/>
          <p:cNvSpPr txBox="1"/>
          <p:nvPr/>
        </p:nvSpPr>
        <p:spPr>
          <a:xfrm>
            <a:off x="6803136" y="2999232"/>
            <a:ext cx="4389120" cy="2194560"/>
          </a:xfrm>
          <a:prstGeom prst="rect">
            <a:avLst/>
          </a:prstGeom>
          <a:noFill/>
        </p:spPr>
        <p:txBody>
          <a:bodyPr wrap="square" lIns="0" rIns="0" tIns="0" bIns="0">
            <a:spAutoFit/>
          </a:bodyPr>
          <a:lstStyle/>
          <a:p>
            <a:pPr algn="l">
              <a:lnSpc>
                <a:spcPct val="118000"/>
              </a:lnSpc>
              <a:spcBef>
                <a:spcPts val="0"/>
              </a:spcBef>
              <a:spcAft>
                <a:spcPts val="700"/>
              </a:spcAft>
            </a:pPr>
            <a:r>
              <a:rPr sz="1050" b="1" i="0">
                <a:solidFill>
                  <a:srgbClr val="007EBD"/>
                </a:solidFill>
                <a:latin typeface="Segoe UI"/>
              </a:rPr>
              <a:t>FACULTY GUIDE</a:t>
            </a:r>
          </a:p>
          <a:p>
            <a:pPr algn="l">
              <a:lnSpc>
                <a:spcPct val="118000"/>
              </a:lnSpc>
              <a:spcBef>
                <a:spcPts val="0"/>
              </a:spcBef>
              <a:spcAft>
                <a:spcPts val="300"/>
              </a:spcAft>
            </a:pPr>
            <a:r>
              <a:rPr sz="1450" b="1" i="0">
                <a:solidFill>
                  <a:srgbClr val="000000"/>
                </a:solidFill>
                <a:latin typeface="Georgia"/>
              </a:rPr>
              <a:t>Dr. JIM SOLOMON RAJA</a:t>
            </a:r>
          </a:p>
          <a:p>
            <a:pPr algn="l">
              <a:lnSpc>
                <a:spcPct val="118000"/>
              </a:lnSpc>
              <a:spcBef>
                <a:spcPts val="0"/>
              </a:spcBef>
              <a:spcAft>
                <a:spcPts val="1400"/>
              </a:spcAft>
            </a:pPr>
            <a:r>
              <a:rPr sz="1200" b="0" i="0">
                <a:solidFill>
                  <a:srgbClr val="66666B"/>
                </a:solidFill>
                <a:latin typeface="Segoe UI"/>
              </a:rPr>
              <a:t>Employee ID: 22533 — SCOPE</a:t>
            </a:r>
          </a:p>
          <a:p>
            <a:pPr algn="l">
              <a:lnSpc>
                <a:spcPct val="118000"/>
              </a:lnSpc>
              <a:spcBef>
                <a:spcPts val="0"/>
              </a:spcBef>
              <a:spcAft>
                <a:spcPts val="300"/>
              </a:spcAft>
            </a:pPr>
            <a:r>
              <a:rPr sz="1200" b="0" i="0">
                <a:solidFill>
                  <a:srgbClr val="272525"/>
                </a:solidFill>
                <a:latin typeface="Segoe UI"/>
              </a:rPr>
              <a:t>School of Computer Science and Engineering</a:t>
            </a:r>
          </a:p>
          <a:p>
            <a:pPr algn="l">
              <a:lnSpc>
                <a:spcPct val="118000"/>
              </a:lnSpc>
              <a:spcBef>
                <a:spcPts val="0"/>
              </a:spcBef>
              <a:spcAft>
                <a:spcPts val="0"/>
              </a:spcAft>
            </a:pPr>
            <a:r>
              <a:rPr sz="1200" b="0" i="0">
                <a:solidFill>
                  <a:srgbClr val="272525"/>
                </a:solidFill>
                <a:latin typeface="Segoe UI"/>
              </a:rPr>
              <a:t>Vellore Institute of Technology, Vellore</a:t>
            </a:r>
          </a:p>
        </p:txBody>
      </p:sp>
      <p:sp>
        <p:nvSpPr>
          <p:cNvPr id="9" name="TextBox 8"/>
          <p:cNvSpPr txBox="1"/>
          <p:nvPr/>
        </p:nvSpPr>
        <p:spPr>
          <a:xfrm>
            <a:off x="1042416" y="5577840"/>
            <a:ext cx="10104120" cy="274320"/>
          </a:xfrm>
          <a:prstGeom prst="rect">
            <a:avLst/>
          </a:prstGeom>
          <a:noFill/>
        </p:spPr>
        <p:txBody>
          <a:bodyPr wrap="square" lIns="0" rIns="0" tIns="0" bIns="0">
            <a:spAutoFit/>
          </a:bodyPr>
          <a:lstStyle/>
          <a:p>
            <a:pPr algn="l">
              <a:lnSpc>
                <a:spcPct val="118000"/>
              </a:lnSpc>
              <a:spcBef>
                <a:spcPts val="0"/>
              </a:spcBef>
              <a:spcAft>
                <a:spcPts val="0"/>
              </a:spcAft>
            </a:pPr>
            <a:r>
              <a:rPr sz="1100" b="1" i="0">
                <a:solidFill>
                  <a:srgbClr val="000000"/>
                </a:solidFill>
                <a:latin typeface="Segoe UI"/>
              </a:rPr>
              <a:t>Review-3</a:t>
            </a:r>
            <a:r>
              <a:rPr sz="1100" b="0" i="0">
                <a:solidFill>
                  <a:srgbClr val="66666B"/>
                </a:solidFill>
                <a:latin typeface="Segoe UI"/>
              </a:rPr>
              <a:t>   ·   28 October 2026   ·   Fall Semester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REVIEW-3</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Approval Mail From Guide</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645920"/>
            <a:ext cx="10104120" cy="731520"/>
          </a:xfrm>
          <a:prstGeom prst="rect">
            <a:avLst/>
          </a:prstGeom>
          <a:noFill/>
        </p:spPr>
        <p:txBody>
          <a:bodyPr wrap="square" lIns="0" rIns="0" tIns="0" bIns="0">
            <a:spAutoFit/>
          </a:bodyPr>
          <a:lstStyle/>
          <a:p>
            <a:pPr algn="l">
              <a:lnSpc>
                <a:spcPct val="118000"/>
              </a:lnSpc>
              <a:spcBef>
                <a:spcPts val="0"/>
              </a:spcBef>
              <a:spcAft>
                <a:spcPts val="0"/>
              </a:spcAft>
            </a:pPr>
            <a:r>
              <a:rPr sz="1400" b="0" i="0">
                <a:solidFill>
                  <a:srgbClr val="272525"/>
                </a:solidFill>
                <a:latin typeface="Segoe UI"/>
              </a:rPr>
              <a:t>Approval for the following aspects was obtained from the project guide by e-mail before 21-10-2026. All points raised have been addressed and updated by the project team.</a:t>
            </a:r>
          </a:p>
        </p:txBody>
      </p:sp>
      <p:sp>
        <p:nvSpPr>
          <p:cNvPr id="8" name="TextBox 7"/>
          <p:cNvSpPr txBox="1"/>
          <p:nvPr/>
        </p:nvSpPr>
        <p:spPr>
          <a:xfrm>
            <a:off x="1042416" y="2304288"/>
            <a:ext cx="6309360" cy="3017520"/>
          </a:xfrm>
          <a:prstGeom prst="rect">
            <a:avLst/>
          </a:prstGeom>
          <a:noFill/>
        </p:spPr>
        <p:txBody>
          <a:bodyPr wrap="square" lIns="0" rIns="0" tIns="0" bIns="0">
            <a:spAutoFit/>
          </a:bodyPr>
          <a:lstStyle/>
          <a:p>
            <a:pPr marL="274320" indent="-274320">
              <a:lnSpc>
                <a:spcPct val="116000"/>
              </a:lnSpc>
              <a:spcBef>
                <a:spcPts val="0"/>
              </a:spcBef>
              <a:spcAft>
                <a:spcPts val="900"/>
              </a:spcAft>
            </a:pPr>
            <a:r>
              <a:rPr sz="806" b="1" i="0">
                <a:solidFill>
                  <a:srgbClr val="007EBD"/>
                </a:solidFill>
                <a:latin typeface="Segoe UI"/>
              </a:rPr>
              <a:t>●  </a:t>
            </a:r>
            <a:r>
              <a:rPr sz="1300" b="1" i="0">
                <a:solidFill>
                  <a:srgbClr val="000000"/>
                </a:solidFill>
                <a:latin typeface="Segoe UI"/>
              </a:rPr>
              <a:t>Project title  —  </a:t>
            </a:r>
            <a:r>
              <a:rPr sz="1300" b="0" i="0">
                <a:solidFill>
                  <a:srgbClr val="272525"/>
                </a:solidFill>
                <a:latin typeface="Segoe UI"/>
              </a:rPr>
              <a:t>Retained as filed in the patent application; no change requested.</a:t>
            </a:r>
          </a:p>
          <a:p>
            <a:pPr marL="274320" indent="-274320">
              <a:lnSpc>
                <a:spcPct val="116000"/>
              </a:lnSpc>
              <a:spcBef>
                <a:spcPts val="0"/>
              </a:spcBef>
              <a:spcAft>
                <a:spcPts val="900"/>
              </a:spcAft>
            </a:pPr>
            <a:r>
              <a:rPr sz="806" b="1" i="0">
                <a:solidFill>
                  <a:srgbClr val="007EBD"/>
                </a:solidFill>
                <a:latin typeface="Segoe UI"/>
              </a:rPr>
              <a:t>●  </a:t>
            </a:r>
            <a:r>
              <a:rPr sz="1300" b="1" i="0">
                <a:solidFill>
                  <a:srgbClr val="000000"/>
                </a:solidFill>
                <a:latin typeface="Segoe UI"/>
              </a:rPr>
              <a:t>Problem statement and objectives  —  </a:t>
            </a:r>
            <a:r>
              <a:rPr sz="1300" b="0" i="0">
                <a:solidFill>
                  <a:srgbClr val="272525"/>
                </a:solidFill>
                <a:latin typeface="Segoe UI"/>
              </a:rPr>
              <a:t>Seven objectives, O1–O6 complete, O7 delivered in Phase II.</a:t>
            </a:r>
          </a:p>
          <a:p>
            <a:pPr marL="274320" indent="-274320">
              <a:lnSpc>
                <a:spcPct val="116000"/>
              </a:lnSpc>
              <a:spcBef>
                <a:spcPts val="0"/>
              </a:spcBef>
              <a:spcAft>
                <a:spcPts val="900"/>
              </a:spcAft>
            </a:pPr>
            <a:r>
              <a:rPr sz="806" b="1" i="0">
                <a:solidFill>
                  <a:srgbClr val="007EBD"/>
                </a:solidFill>
                <a:latin typeface="Segoe UI"/>
              </a:rPr>
              <a:t>●  </a:t>
            </a:r>
            <a:r>
              <a:rPr sz="1300" b="1" i="0">
                <a:solidFill>
                  <a:srgbClr val="000000"/>
                </a:solidFill>
                <a:latin typeface="Segoe UI"/>
              </a:rPr>
              <a:t>Architecture and modules  —  </a:t>
            </a:r>
            <a:r>
              <a:rPr sz="1300" b="0" i="0">
                <a:solidFill>
                  <a:srgbClr val="272525"/>
                </a:solidFill>
                <a:latin typeface="Segoe UI"/>
              </a:rPr>
              <a:t>Eleven-module pipeline and the edge-node block diagram approved.</a:t>
            </a:r>
          </a:p>
          <a:p>
            <a:pPr marL="274320" indent="-274320">
              <a:lnSpc>
                <a:spcPct val="116000"/>
              </a:lnSpc>
              <a:spcBef>
                <a:spcPts val="0"/>
              </a:spcBef>
              <a:spcAft>
                <a:spcPts val="900"/>
              </a:spcAft>
            </a:pPr>
            <a:r>
              <a:rPr sz="806" b="1" i="0">
                <a:solidFill>
                  <a:srgbClr val="007EBD"/>
                </a:solidFill>
                <a:latin typeface="Segoe UI"/>
              </a:rPr>
              <a:t>●  </a:t>
            </a:r>
            <a:r>
              <a:rPr sz="1300" b="1" i="0">
                <a:solidFill>
                  <a:srgbClr val="000000"/>
                </a:solidFill>
                <a:latin typeface="Segoe UI"/>
              </a:rPr>
              <a:t>Results and validation  —  </a:t>
            </a:r>
            <a:r>
              <a:rPr sz="1300" b="0" i="0">
                <a:solidFill>
                  <a:srgbClr val="272525"/>
                </a:solidFill>
                <a:latin typeface="Segoe UI"/>
              </a:rPr>
              <a:t>13 of 13 validation decisions verified in a live demonstration.</a:t>
            </a:r>
          </a:p>
          <a:p>
            <a:pPr marL="274320" indent="-274320">
              <a:lnSpc>
                <a:spcPct val="116000"/>
              </a:lnSpc>
              <a:spcBef>
                <a:spcPts val="0"/>
              </a:spcBef>
              <a:spcAft>
                <a:spcPts val="900"/>
              </a:spcAft>
            </a:pPr>
            <a:r>
              <a:rPr sz="806" b="1" i="0">
                <a:solidFill>
                  <a:srgbClr val="007EBD"/>
                </a:solidFill>
                <a:latin typeface="Segoe UI"/>
              </a:rPr>
              <a:t>●  </a:t>
            </a:r>
            <a:r>
              <a:rPr sz="1300" b="1" i="0">
                <a:solidFill>
                  <a:srgbClr val="000000"/>
                </a:solidFill>
                <a:latin typeface="Segoe UI"/>
              </a:rPr>
              <a:t>Outcome  —  </a:t>
            </a:r>
            <a:r>
              <a:rPr sz="1300" b="0" i="0">
                <a:solidFill>
                  <a:srgbClr val="272525"/>
                </a:solidFill>
                <a:latin typeface="Segoe UI"/>
              </a:rPr>
              <a:t>Patent route confirmed in place of conference or journal publication.</a:t>
            </a:r>
          </a:p>
        </p:txBody>
      </p:sp>
      <p:sp>
        <p:nvSpPr>
          <p:cNvPr id="9" name="Rounded Rectangle 8"/>
          <p:cNvSpPr/>
          <p:nvPr/>
        </p:nvSpPr>
        <p:spPr>
          <a:xfrm>
            <a:off x="7671816" y="2304288"/>
            <a:ext cx="3493008" cy="2286000"/>
          </a:xfrm>
          <a:prstGeom prst="roundRect">
            <a:avLst>
              <a:gd name="adj" fmla="val 8000"/>
            </a:avLst>
          </a:prstGeom>
          <a:solidFill>
            <a:srgbClr val="FBF7E8"/>
          </a:solidFill>
          <a:ln w="9525">
            <a:solidFill>
              <a:srgbClr val="B47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250" b="1" i="0">
                <a:solidFill>
                  <a:srgbClr val="B47300"/>
                </a:solidFill>
                <a:latin typeface="Georgia"/>
              </a:rPr>
              <a:t>Approval mail — screenshot</a:t>
            </a:r>
          </a:p>
          <a:p>
            <a:pPr algn="l">
              <a:lnSpc>
                <a:spcPct val="112000"/>
              </a:lnSpc>
              <a:spcAft>
                <a:spcPts val="0"/>
              </a:spcAft>
            </a:pPr>
            <a:r>
              <a:rPr sz="1150" b="0" i="0">
                <a:solidFill>
                  <a:srgbClr val="272525"/>
                </a:solidFill>
                <a:latin typeface="Segoe UI"/>
              </a:rPr>
              <a:t>Paste the guide's approval e-mail here before the review. Keep the sender address, subject line and date visible in the capture.</a:t>
            </a:r>
          </a:p>
        </p:txBody>
      </p:sp>
      <p:sp>
        <p:nvSpPr>
          <p:cNvPr id="10" name="Rounded Rectangle 9"/>
          <p:cNvSpPr/>
          <p:nvPr/>
        </p:nvSpPr>
        <p:spPr>
          <a:xfrm>
            <a:off x="7671816" y="4773168"/>
            <a:ext cx="3493008" cy="786384"/>
          </a:xfrm>
          <a:prstGeom prst="roundRect">
            <a:avLst>
              <a:gd name="adj" fmla="val 8000"/>
            </a:avLst>
          </a:prstGeom>
          <a:solidFill>
            <a:srgbClr val="EFF8EF"/>
          </a:solidFill>
          <a:ln w="9525">
            <a:solidFill>
              <a:srgbClr val="2C8C2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250" b="1" i="0">
                <a:solidFill>
                  <a:srgbClr val="2C8C2C"/>
                </a:solidFill>
                <a:latin typeface="Georgia"/>
              </a:rPr>
              <a:t>Status</a:t>
            </a:r>
          </a:p>
          <a:p>
            <a:pPr algn="l">
              <a:lnSpc>
                <a:spcPct val="112000"/>
              </a:lnSpc>
              <a:spcAft>
                <a:spcPts val="0"/>
              </a:spcAft>
            </a:pPr>
            <a:r>
              <a:rPr sz="1150" b="0" i="0">
                <a:solidFill>
                  <a:srgbClr val="272525"/>
                </a:solidFill>
                <a:latin typeface="Segoe UI"/>
              </a:rPr>
              <a:t>Approved · all review points closed</a:t>
            </a:r>
          </a:p>
        </p:txBody>
      </p:sp>
      <p:sp>
        <p:nvSpPr>
          <p:cNvPr id="11" name="TextBox 10"/>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2" name="TextBox 11"/>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OBJECTIVE OF THE WORK</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Aim</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737360"/>
            <a:ext cx="10104120" cy="1371600"/>
          </a:xfrm>
          <a:prstGeom prst="rect">
            <a:avLst/>
          </a:prstGeom>
          <a:noFill/>
        </p:spPr>
        <p:txBody>
          <a:bodyPr wrap="square" lIns="0" rIns="0" tIns="0" bIns="0">
            <a:spAutoFit/>
          </a:bodyPr>
          <a:lstStyle/>
          <a:p>
            <a:pPr algn="l">
              <a:lnSpc>
                <a:spcPct val="130000"/>
              </a:lnSpc>
              <a:spcBef>
                <a:spcPts val="0"/>
              </a:spcBef>
              <a:spcAft>
                <a:spcPts val="0"/>
              </a:spcAft>
            </a:pPr>
            <a:r>
              <a:rPr sz="1900" b="0" i="0">
                <a:solidFill>
                  <a:srgbClr val="000000"/>
                </a:solidFill>
                <a:latin typeface="Georgia"/>
              </a:rPr>
              <a:t>To decide whether a retraining update for an edge-deployed IoT threat detector is safe to accept </a:t>
            </a:r>
            <a:r>
              <a:rPr sz="1900" b="1" i="1">
                <a:solidFill>
                  <a:srgbClr val="007EBD"/>
                </a:solidFill>
                <a:latin typeface="Georgia"/>
              </a:rPr>
              <a:t>before</a:t>
            </a:r>
            <a:r>
              <a:rPr sz="1900" b="0" i="0">
                <a:solidFill>
                  <a:srgbClr val="000000"/>
                </a:solidFill>
                <a:latin typeface="Georgia"/>
              </a:rPr>
              <a:t> it is accepted — by testing what the update would do to futures the system committed to in advance, rather than by testing what the update looks like.</a:t>
            </a:r>
          </a:p>
        </p:txBody>
      </p:sp>
      <p:sp>
        <p:nvSpPr>
          <p:cNvPr id="8" name="Rounded Rectangle 7"/>
          <p:cNvSpPr/>
          <p:nvPr/>
        </p:nvSpPr>
        <p:spPr>
          <a:xfrm>
            <a:off x="1042416" y="3273552"/>
            <a:ext cx="2382012" cy="1572768"/>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400" b="1" i="0">
                <a:solidFill>
                  <a:srgbClr val="007EBD"/>
                </a:solidFill>
                <a:latin typeface="Georgia"/>
              </a:rPr>
              <a:t>Predict</a:t>
            </a:r>
          </a:p>
          <a:p>
            <a:pPr algn="l">
              <a:lnSpc>
                <a:spcPct val="112000"/>
              </a:lnSpc>
              <a:spcAft>
                <a:spcPts val="0"/>
              </a:spcAft>
            </a:pPr>
            <a:r>
              <a:rPr sz="1100" b="0" i="0">
                <a:solidFill>
                  <a:srgbClr val="272525"/>
                </a:solidFill>
                <a:latin typeface="Segoe UI"/>
              </a:rPr>
              <a:t>Mirror every device with a holographic digital twin and commit 20 counterfactual futures before the observation that will judge them exists.</a:t>
            </a:r>
          </a:p>
        </p:txBody>
      </p:sp>
      <p:sp>
        <p:nvSpPr>
          <p:cNvPr id="9" name="Rounded Rectangle 8"/>
          <p:cNvSpPr/>
          <p:nvPr/>
        </p:nvSpPr>
        <p:spPr>
          <a:xfrm>
            <a:off x="3616452" y="3273552"/>
            <a:ext cx="2382012" cy="1572768"/>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400" b="1" i="0">
                <a:solidFill>
                  <a:srgbClr val="007EBD"/>
                </a:solidFill>
                <a:latin typeface="Georgia"/>
              </a:rPr>
              <a:t>Validate</a:t>
            </a:r>
          </a:p>
          <a:p>
            <a:pPr algn="l">
              <a:lnSpc>
                <a:spcPct val="112000"/>
              </a:lnSpc>
              <a:spcAft>
                <a:spcPts val="0"/>
              </a:spcAft>
            </a:pPr>
            <a:r>
              <a:rPr sz="1100" b="0" i="0">
                <a:solidFill>
                  <a:srgbClr val="272525"/>
                </a:solidFill>
                <a:latin typeface="Segoe UI"/>
              </a:rPr>
              <a:t>Graft each update onto a trusted core, train a shadow model, and score it on six weighted components against the committed futures.</a:t>
            </a:r>
          </a:p>
        </p:txBody>
      </p:sp>
      <p:sp>
        <p:nvSpPr>
          <p:cNvPr id="10" name="Rounded Rectangle 9"/>
          <p:cNvSpPr/>
          <p:nvPr/>
        </p:nvSpPr>
        <p:spPr>
          <a:xfrm>
            <a:off x="6190488" y="3273552"/>
            <a:ext cx="2382012" cy="1572768"/>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400" b="1" i="0">
                <a:solidFill>
                  <a:srgbClr val="007EBD"/>
                </a:solidFill>
                <a:latin typeface="Georgia"/>
              </a:rPr>
              <a:t>Immunize</a:t>
            </a:r>
          </a:p>
          <a:p>
            <a:pPr algn="l">
              <a:lnSpc>
                <a:spcPct val="112000"/>
              </a:lnSpc>
              <a:spcAft>
                <a:spcPts val="0"/>
              </a:spcAft>
            </a:pPr>
            <a:r>
              <a:rPr sz="1100" b="0" i="0">
                <a:solidFill>
                  <a:srgbClr val="272525"/>
                </a:solidFill>
                <a:latin typeface="Segoe UI"/>
              </a:rPr>
              <a:t>Synthesise vaccine rows from those same futures so resistance to a poisoning strategy exists before the strategy is ever attempted.</a:t>
            </a:r>
          </a:p>
        </p:txBody>
      </p:sp>
      <p:sp>
        <p:nvSpPr>
          <p:cNvPr id="11" name="Rounded Rectangle 10"/>
          <p:cNvSpPr/>
          <p:nvPr/>
        </p:nvSpPr>
        <p:spPr>
          <a:xfrm>
            <a:off x="8764524" y="3273552"/>
            <a:ext cx="2382012" cy="1572768"/>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400" b="1" i="0">
                <a:solidFill>
                  <a:srgbClr val="007EBD"/>
                </a:solidFill>
                <a:latin typeface="Georgia"/>
              </a:rPr>
              <a:t>Self-heal</a:t>
            </a:r>
          </a:p>
          <a:p>
            <a:pPr algn="l">
              <a:lnSpc>
                <a:spcPct val="112000"/>
              </a:lnSpc>
              <a:spcAft>
                <a:spcPts val="0"/>
              </a:spcAft>
            </a:pPr>
            <a:r>
              <a:rPr sz="1100" b="0" i="0">
                <a:solidFill>
                  <a:srgbClr val="272525"/>
                </a:solidFill>
                <a:latin typeface="Segoe UI"/>
              </a:rPr>
              <a:t>Restore the last trusted model and purge the offending contributor's rows if degradation occurs despite the gate.</a:t>
            </a:r>
          </a:p>
        </p:txBody>
      </p:sp>
      <p:sp>
        <p:nvSpPr>
          <p:cNvPr id="12" name="TextBox 11"/>
          <p:cNvSpPr txBox="1"/>
          <p:nvPr/>
        </p:nvSpPr>
        <p:spPr>
          <a:xfrm>
            <a:off x="1042416" y="5102352"/>
            <a:ext cx="10104120" cy="457200"/>
          </a:xfrm>
          <a:prstGeom prst="rect">
            <a:avLst/>
          </a:prstGeom>
          <a:noFill/>
        </p:spPr>
        <p:txBody>
          <a:bodyPr wrap="square" lIns="0" rIns="0" tIns="0" bIns="0">
            <a:spAutoFit/>
          </a:bodyPr>
          <a:lstStyle/>
          <a:p>
            <a:pPr algn="l">
              <a:lnSpc>
                <a:spcPct val="118000"/>
              </a:lnSpc>
              <a:spcBef>
                <a:spcPts val="0"/>
              </a:spcBef>
              <a:spcAft>
                <a:spcPts val="0"/>
              </a:spcAft>
            </a:pPr>
            <a:r>
              <a:rPr sz="1300" b="1" i="0">
                <a:solidFill>
                  <a:srgbClr val="007EBD"/>
                </a:solidFill>
                <a:latin typeface="Segoe UI"/>
              </a:rPr>
              <a:t>Deliverable:  </a:t>
            </a:r>
            <a:r>
              <a:rPr sz="1300" b="0" i="0">
                <a:solidFill>
                  <a:srgbClr val="272525"/>
                </a:solidFill>
                <a:latin typeface="Segoe UI"/>
              </a:rPr>
              <a:t>a working edge-gateway console in which all twelve stages of this cycle are operator-driven, inspectable and reproducible, on simulated devices and on live USB hardware alike.</a:t>
            </a:r>
          </a:p>
        </p:txBody>
      </p:sp>
      <p:sp>
        <p:nvSpPr>
          <p:cNvPr id="13" name="TextBox 12"/>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4" name="TextBox 13"/>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SUMMARY</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Abstract</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645920"/>
            <a:ext cx="6903720" cy="3931920"/>
          </a:xfrm>
          <a:prstGeom prst="rect">
            <a:avLst/>
          </a:prstGeom>
          <a:noFill/>
        </p:spPr>
        <p:txBody>
          <a:bodyPr wrap="square" lIns="0" rIns="0" tIns="0" bIns="0">
            <a:spAutoFit/>
          </a:bodyPr>
          <a:lstStyle/>
          <a:p>
            <a:pPr algn="just">
              <a:lnSpc>
                <a:spcPct val="116000"/>
              </a:lnSpc>
              <a:spcBef>
                <a:spcPts val="0"/>
              </a:spcBef>
              <a:spcAft>
                <a:spcPts val="900"/>
              </a:spcAft>
            </a:pPr>
            <a:r>
              <a:rPr sz="1250" b="0" i="0">
                <a:solidFill>
                  <a:srgbClr val="272525"/>
                </a:solidFill>
                <a:latin typeface="Segoe UI"/>
              </a:rPr>
              <a:t>Consumer IoT networks are increasingly defended by AI models that run on a local edge gateway and retrain continuously on the telemetry they collect. That retraining keeps the detector current — and is also its most exposed surface: an adversary who can introduce falsified or mislabelled training data can steer the model into accepting hostile behaviour as ordinary.</a:t>
            </a:r>
          </a:p>
          <a:p>
            <a:pPr algn="just">
              <a:lnSpc>
                <a:spcPct val="116000"/>
              </a:lnSpc>
              <a:spcBef>
                <a:spcPts val="0"/>
              </a:spcBef>
              <a:spcAft>
                <a:spcPts val="900"/>
              </a:spcAft>
            </a:pPr>
            <a:r>
              <a:rPr sz="1250" b="0" i="0">
                <a:solidFill>
                  <a:srgbClr val="272525"/>
                </a:solidFill>
                <a:latin typeface="Segoe UI"/>
              </a:rPr>
              <a:t>Existing poisoning defences are reactive. Anomaly filtering, trust and reputation scoring and robust aggregation each inspect a contribution only after submission, and judge it only against present or historical observations — so a contribution engineered to resemble ordinary traffic passes unchallenged.</a:t>
            </a:r>
          </a:p>
          <a:p>
            <a:pPr algn="just">
              <a:lnSpc>
                <a:spcPct val="116000"/>
              </a:lnSpc>
              <a:spcBef>
                <a:spcPts val="0"/>
              </a:spcBef>
              <a:spcAft>
                <a:spcPts val="900"/>
              </a:spcAft>
            </a:pPr>
            <a:r>
              <a:rPr sz="1250" b="0" i="0">
                <a:solidFill>
                  <a:srgbClr val="272525"/>
                </a:solidFill>
                <a:latin typeface="Segoe UI"/>
              </a:rPr>
              <a:t>This project develops a proactive alternative. Every device is mirrored by a holographic digital twin that models it as five behavioural planes and commits in advance to twenty counterfactual futures. An incoming update is grafted onto a trusted core, a shadow model is trained, and its behaviour on that audit bank yields a Counterfactual Consistency Score judged against a threshold calibrated from honest traffic on that specific fleet.</a:t>
            </a:r>
          </a:p>
          <a:p>
            <a:pPr algn="just">
              <a:lnSpc>
                <a:spcPct val="116000"/>
              </a:lnSpc>
              <a:spcBef>
                <a:spcPts val="0"/>
              </a:spcBef>
              <a:spcAft>
                <a:spcPts val="900"/>
              </a:spcAft>
            </a:pPr>
            <a:r>
              <a:rPr sz="1250" b="0" i="0">
                <a:solidFill>
                  <a:srgbClr val="272525"/>
                </a:solidFill>
                <a:latin typeface="Segoe UI"/>
              </a:rPr>
              <a:t>The framework is implemented end to end and evaluated on a simulated eight-device network and on live USB hardware against five poisoning strategies, including clean-label poisoning that carries no label shift and is therefore invisible to distributional defences.</a:t>
            </a:r>
          </a:p>
        </p:txBody>
      </p:sp>
      <p:sp>
        <p:nvSpPr>
          <p:cNvPr id="8" name="Rounded Rectangle 7"/>
          <p:cNvSpPr/>
          <p:nvPr/>
        </p:nvSpPr>
        <p:spPr>
          <a:xfrm>
            <a:off x="8311896" y="1645920"/>
            <a:ext cx="2852928" cy="1188720"/>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250" b="1" i="0">
                <a:solidFill>
                  <a:srgbClr val="007EBD"/>
                </a:solidFill>
                <a:latin typeface="Georgia"/>
              </a:rPr>
              <a:t>The core idea</a:t>
            </a:r>
          </a:p>
          <a:p>
            <a:pPr algn="l">
              <a:lnSpc>
                <a:spcPct val="112000"/>
              </a:lnSpc>
              <a:spcAft>
                <a:spcPts val="0"/>
              </a:spcAft>
            </a:pPr>
            <a:r>
              <a:rPr sz="1150" b="0" i="0">
                <a:solidFill>
                  <a:srgbClr val="272525"/>
                </a:solidFill>
                <a:latin typeface="Segoe UI"/>
              </a:rPr>
              <a:t>Judge an update by its consequence on committed futures, not by its resemblance to the present.</a:t>
            </a:r>
          </a:p>
        </p:txBody>
      </p:sp>
      <p:sp>
        <p:nvSpPr>
          <p:cNvPr id="9" name="TextBox 8"/>
          <p:cNvSpPr txBox="1"/>
          <p:nvPr/>
        </p:nvSpPr>
        <p:spPr>
          <a:xfrm>
            <a:off x="8311896" y="3035808"/>
            <a:ext cx="2852928" cy="713232"/>
          </a:xfrm>
          <a:prstGeom prst="rect">
            <a:avLst/>
          </a:prstGeom>
          <a:noFill/>
        </p:spPr>
        <p:txBody>
          <a:bodyPr wrap="square" lIns="0" rIns="0" tIns="0" bIns="0">
            <a:spAutoFit/>
          </a:bodyPr>
          <a:lstStyle/>
          <a:p>
            <a:pPr algn="ctr">
              <a:lnSpc>
                <a:spcPct val="100000"/>
              </a:lnSpc>
              <a:spcBef>
                <a:spcPts val="0"/>
              </a:spcBef>
              <a:spcAft>
                <a:spcPts val="100"/>
              </a:spcAft>
            </a:pPr>
            <a:r>
              <a:rPr sz="2500" b="1" i="0">
                <a:solidFill>
                  <a:srgbClr val="007EBD"/>
                </a:solidFill>
                <a:latin typeface="Georgia"/>
              </a:rPr>
              <a:t>0.9565</a:t>
            </a:r>
          </a:p>
          <a:p>
            <a:pPr algn="ctr">
              <a:lnSpc>
                <a:spcPct val="105000"/>
              </a:lnSpc>
              <a:spcBef>
                <a:spcPts val="0"/>
              </a:spcBef>
              <a:spcAft>
                <a:spcPts val="0"/>
              </a:spcAft>
            </a:pPr>
            <a:r>
              <a:rPr sz="1000" b="0" i="0">
                <a:solidFill>
                  <a:srgbClr val="66666B"/>
                </a:solidFill>
                <a:latin typeface="Segoe UI"/>
              </a:rPr>
              <a:t>Detection accuracy</a:t>
            </a:r>
          </a:p>
        </p:txBody>
      </p:sp>
      <p:sp>
        <p:nvSpPr>
          <p:cNvPr id="10" name="TextBox 9"/>
          <p:cNvSpPr txBox="1"/>
          <p:nvPr/>
        </p:nvSpPr>
        <p:spPr>
          <a:xfrm>
            <a:off x="8311896" y="3803904"/>
            <a:ext cx="2852928" cy="713232"/>
          </a:xfrm>
          <a:prstGeom prst="rect">
            <a:avLst/>
          </a:prstGeom>
          <a:noFill/>
        </p:spPr>
        <p:txBody>
          <a:bodyPr wrap="square" lIns="0" rIns="0" tIns="0" bIns="0">
            <a:spAutoFit/>
          </a:bodyPr>
          <a:lstStyle/>
          <a:p>
            <a:pPr algn="ctr">
              <a:lnSpc>
                <a:spcPct val="100000"/>
              </a:lnSpc>
              <a:spcBef>
                <a:spcPts val="0"/>
              </a:spcBef>
              <a:spcAft>
                <a:spcPts val="100"/>
              </a:spcAft>
            </a:pPr>
            <a:r>
              <a:rPr sz="2500" b="1" i="0">
                <a:solidFill>
                  <a:srgbClr val="007EBD"/>
                </a:solidFill>
                <a:latin typeface="Georgia"/>
              </a:rPr>
              <a:t>13 / 13</a:t>
            </a:r>
          </a:p>
          <a:p>
            <a:pPr algn="ctr">
              <a:lnSpc>
                <a:spcPct val="105000"/>
              </a:lnSpc>
              <a:spcBef>
                <a:spcPts val="0"/>
              </a:spcBef>
              <a:spcAft>
                <a:spcPts val="0"/>
              </a:spcAft>
            </a:pPr>
            <a:r>
              <a:rPr sz="1000" b="0" i="0">
                <a:solidFill>
                  <a:srgbClr val="66666B"/>
                </a:solidFill>
                <a:latin typeface="Segoe UI"/>
              </a:rPr>
              <a:t>Correct decisions</a:t>
            </a:r>
          </a:p>
        </p:txBody>
      </p:sp>
      <p:sp>
        <p:nvSpPr>
          <p:cNvPr id="11" name="TextBox 10"/>
          <p:cNvSpPr txBox="1"/>
          <p:nvPr/>
        </p:nvSpPr>
        <p:spPr>
          <a:xfrm>
            <a:off x="8311896" y="4572000"/>
            <a:ext cx="2852928" cy="713232"/>
          </a:xfrm>
          <a:prstGeom prst="rect">
            <a:avLst/>
          </a:prstGeom>
          <a:noFill/>
        </p:spPr>
        <p:txBody>
          <a:bodyPr wrap="square" lIns="0" rIns="0" tIns="0" bIns="0">
            <a:spAutoFit/>
          </a:bodyPr>
          <a:lstStyle/>
          <a:p>
            <a:pPr algn="ctr">
              <a:lnSpc>
                <a:spcPct val="100000"/>
              </a:lnSpc>
              <a:spcBef>
                <a:spcPts val="0"/>
              </a:spcBef>
              <a:spcAft>
                <a:spcPts val="100"/>
              </a:spcAft>
            </a:pPr>
            <a:r>
              <a:rPr sz="2500" b="1" i="0">
                <a:solidFill>
                  <a:srgbClr val="007EBD"/>
                </a:solidFill>
                <a:latin typeface="Georgia"/>
              </a:rPr>
              <a:t>0.9736</a:t>
            </a:r>
          </a:p>
          <a:p>
            <a:pPr algn="ctr">
              <a:lnSpc>
                <a:spcPct val="105000"/>
              </a:lnSpc>
              <a:spcBef>
                <a:spcPts val="0"/>
              </a:spcBef>
              <a:spcAft>
                <a:spcPts val="0"/>
              </a:spcAft>
            </a:pPr>
            <a:r>
              <a:rPr sz="1000" b="0" i="0">
                <a:solidFill>
                  <a:srgbClr val="66666B"/>
                </a:solidFill>
                <a:latin typeface="Segoe UI"/>
              </a:rPr>
              <a:t>Poison resistance</a:t>
            </a:r>
          </a:p>
        </p:txBody>
      </p:sp>
      <p:sp>
        <p:nvSpPr>
          <p:cNvPr id="12" name="TextBox 11"/>
          <p:cNvSpPr txBox="1"/>
          <p:nvPr/>
        </p:nvSpPr>
        <p:spPr>
          <a:xfrm>
            <a:off x="1042416" y="5577840"/>
            <a:ext cx="6903720" cy="457200"/>
          </a:xfrm>
          <a:prstGeom prst="rect">
            <a:avLst/>
          </a:prstGeom>
          <a:noFill/>
        </p:spPr>
        <p:txBody>
          <a:bodyPr wrap="square" lIns="0" rIns="0" tIns="0" bIns="0">
            <a:spAutoFit/>
          </a:bodyPr>
          <a:lstStyle/>
          <a:p>
            <a:pPr algn="l">
              <a:lnSpc>
                <a:spcPct val="118000"/>
              </a:lnSpc>
              <a:spcBef>
                <a:spcPts val="0"/>
              </a:spcBef>
              <a:spcAft>
                <a:spcPts val="0"/>
              </a:spcAft>
            </a:pPr>
            <a:r>
              <a:rPr sz="1100" b="1" i="0">
                <a:solidFill>
                  <a:srgbClr val="007EBD"/>
                </a:solidFill>
                <a:latin typeface="Segoe UI"/>
              </a:rPr>
              <a:t>Keywords — </a:t>
            </a:r>
            <a:r>
              <a:rPr sz="1100" b="0" i="1">
                <a:solidFill>
                  <a:srgbClr val="66666B"/>
                </a:solidFill>
                <a:latin typeface="Segoe UI"/>
              </a:rPr>
              <a:t>Digital Twin · Counterfactual Validation · Model Poisoning · Edge AI · Consumer IoT Security · Predictive Immunization · Self-Healing Systems</a:t>
            </a:r>
          </a:p>
        </p:txBody>
      </p:sp>
      <p:sp>
        <p:nvSpPr>
          <p:cNvPr id="13" name="TextBox 12"/>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4" name="TextBox 13"/>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PRIOR WORK</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Literature Review</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042416" y="1645920"/>
          <a:ext cx="10149840" cy="3419856"/>
        </p:xfrm>
        <a:graphic>
          <a:graphicData uri="http://schemas.openxmlformats.org/drawingml/2006/table">
            <a:tbl>
              <a:tblPr firstRow="0" bandRow="0">
                <a:tableStyleId>{5C22544A-7EE6-4342-B048-85BDC9FD1C3A}</a:tableStyleId>
              </a:tblPr>
              <a:tblGrid>
                <a:gridCol w="2103120"/>
                <a:gridCol w="3886200"/>
                <a:gridCol w="4160520"/>
              </a:tblGrid>
              <a:tr h="347472">
                <a:tc>
                  <a:txBody>
                    <a:bodyPr wrap="square"/>
                    <a:lstStyle/>
                    <a:p>
                      <a:pPr algn="l">
                        <a:lnSpc>
                          <a:spcPct val="106000"/>
                        </a:lnSpc>
                        <a:spcBef>
                          <a:spcPts val="0"/>
                        </a:spcBef>
                        <a:spcAft>
                          <a:spcPts val="0"/>
                        </a:spcAft>
                      </a:pPr>
                      <a:r>
                        <a:rPr sz="1150" b="1" i="0">
                          <a:solidFill>
                            <a:srgbClr val="000000"/>
                          </a:solidFill>
                          <a:latin typeface="Segoe UI"/>
                        </a:rPr>
                        <a:t>Work</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nSpc>
                          <a:spcPct val="106000"/>
                        </a:lnSpc>
                        <a:spcBef>
                          <a:spcPts val="0"/>
                        </a:spcBef>
                        <a:spcAft>
                          <a:spcPts val="0"/>
                        </a:spcAft>
                      </a:pPr>
                      <a:r>
                        <a:rPr sz="1150" b="1" i="0">
                          <a:solidFill>
                            <a:srgbClr val="000000"/>
                          </a:solidFill>
                          <a:latin typeface="Segoe UI"/>
                        </a:rPr>
                        <a:t>Contribution</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nSpc>
                          <a:spcPct val="106000"/>
                        </a:lnSpc>
                        <a:spcBef>
                          <a:spcPts val="0"/>
                        </a:spcBef>
                        <a:spcAft>
                          <a:spcPts val="0"/>
                        </a:spcAft>
                      </a:pPr>
                      <a:r>
                        <a:rPr sz="1150" b="1" i="0">
                          <a:solidFill>
                            <a:srgbClr val="000000"/>
                          </a:solidFill>
                          <a:latin typeface="Segoe UI"/>
                        </a:rPr>
                        <a:t>Limitation for this problem</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r>
              <a:tr h="512064">
                <a:tc>
                  <a:txBody>
                    <a:bodyPr wrap="square"/>
                    <a:lstStyle/>
                    <a:p>
                      <a:pPr algn="l">
                        <a:lnSpc>
                          <a:spcPct val="106000"/>
                        </a:lnSpc>
                        <a:spcBef>
                          <a:spcPts val="0"/>
                        </a:spcBef>
                        <a:spcAft>
                          <a:spcPts val="0"/>
                        </a:spcAft>
                      </a:pPr>
                      <a:r>
                        <a:rPr sz="1050" b="0" i="0">
                          <a:solidFill>
                            <a:srgbClr val="272525"/>
                          </a:solidFill>
                          <a:latin typeface="Segoe UI"/>
                        </a:rPr>
                        <a:t>Alcaraz &amp; Lopez, 2022
IEEE COMST</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Comprehensive survey of digital-twin security threats.</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Treats the twin as an asset to protect, never as a validator.</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512064">
                <a:tc>
                  <a:txBody>
                    <a:bodyPr wrap="square"/>
                    <a:lstStyle/>
                    <a:p>
                      <a:pPr algn="l">
                        <a:lnSpc>
                          <a:spcPct val="106000"/>
                        </a:lnSpc>
                        <a:spcBef>
                          <a:spcPts val="0"/>
                        </a:spcBef>
                        <a:spcAft>
                          <a:spcPts val="0"/>
                        </a:spcAft>
                      </a:pPr>
                      <a:r>
                        <a:rPr sz="1050" b="0" i="0">
                          <a:solidFill>
                            <a:srgbClr val="272525"/>
                          </a:solidFill>
                          <a:latin typeface="Segoe UI"/>
                        </a:rPr>
                        <a:t>Tian et al., 2022
ACM Comput. Surv.</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Taxonomy of poisoning attacks and countermeasures.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Every countermeasure surveyed acts after submission.</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512064">
                <a:tc>
                  <a:txBody>
                    <a:bodyPr wrap="square"/>
                    <a:lstStyle/>
                    <a:p>
                      <a:pPr algn="l">
                        <a:lnSpc>
                          <a:spcPct val="106000"/>
                        </a:lnSpc>
                        <a:spcBef>
                          <a:spcPts val="0"/>
                        </a:spcBef>
                        <a:spcAft>
                          <a:spcPts val="0"/>
                        </a:spcAft>
                      </a:pPr>
                      <a:r>
                        <a:rPr sz="1050" b="0" i="0">
                          <a:solidFill>
                            <a:srgbClr val="272525"/>
                          </a:solidFill>
                          <a:latin typeface="Segoe UI"/>
                        </a:rPr>
                        <a:t>Nguyen et al., 2019
ICDCS — DÏoT</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Federated self-learning anomaly detection for IoT.</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Aggregation assumes most contributors are honest.</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512064">
                <a:tc>
                  <a:txBody>
                    <a:bodyPr wrap="square"/>
                    <a:lstStyle/>
                    <a:p>
                      <a:pPr algn="l">
                        <a:lnSpc>
                          <a:spcPct val="106000"/>
                        </a:lnSpc>
                        <a:spcBef>
                          <a:spcPts val="0"/>
                        </a:spcBef>
                        <a:spcAft>
                          <a:spcPts val="0"/>
                        </a:spcAft>
                      </a:pPr>
                      <a:r>
                        <a:rPr sz="1050" b="0" i="0">
                          <a:solidFill>
                            <a:srgbClr val="272525"/>
                          </a:solidFill>
                          <a:latin typeface="Segoe UI"/>
                        </a:rPr>
                        <a:t>Shafahi et al., 2018
NeurIPS — Poison Frogs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Clean-label poisoning with no label shift at all.</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Defeats the whole family of distributional defences.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512064">
                <a:tc>
                  <a:txBody>
                    <a:bodyPr wrap="square"/>
                    <a:lstStyle/>
                    <a:p>
                      <a:pPr algn="l">
                        <a:lnSpc>
                          <a:spcPct val="106000"/>
                        </a:lnSpc>
                        <a:spcBef>
                          <a:spcPts val="0"/>
                        </a:spcBef>
                        <a:spcAft>
                          <a:spcPts val="0"/>
                        </a:spcAft>
                      </a:pPr>
                      <a:r>
                        <a:rPr sz="1050" b="0" i="0">
                          <a:solidFill>
                            <a:srgbClr val="272525"/>
                          </a:solidFill>
                          <a:latin typeface="Segoe UI"/>
                        </a:rPr>
                        <a:t>Fung et al., 2020
RAID</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Limits of federated learning under Sybil pressure.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Identifies the failure; proposes no forward-looking gate.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512064">
                <a:tc>
                  <a:txBody>
                    <a:bodyPr wrap="square"/>
                    <a:lstStyle/>
                    <a:p>
                      <a:pPr algn="l">
                        <a:lnSpc>
                          <a:spcPct val="106000"/>
                        </a:lnSpc>
                        <a:spcBef>
                          <a:spcPts val="0"/>
                        </a:spcBef>
                        <a:spcAft>
                          <a:spcPts val="0"/>
                        </a:spcAft>
                      </a:pPr>
                      <a:r>
                        <a:rPr sz="1050" b="0" i="0">
                          <a:solidFill>
                            <a:srgbClr val="272525"/>
                          </a:solidFill>
                          <a:latin typeface="Segoe UI"/>
                        </a:rPr>
                        <a:t>Sulem et al., 2022
arXiv:2203.11103</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Counterfactual explanations for time-series anomalies.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1050" b="0" i="0">
                          <a:solidFill>
                            <a:srgbClr val="272525"/>
                          </a:solidFill>
                          <a:latin typeface="Segoe UI"/>
                        </a:rPr>
                        <a:t>Explains a past decision; does not gate a future one.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bl>
          </a:graphicData>
        </a:graphic>
      </p:graphicFrame>
      <p:sp>
        <p:nvSpPr>
          <p:cNvPr id="8" name="TextBox 7"/>
          <p:cNvSpPr txBox="1"/>
          <p:nvPr/>
        </p:nvSpPr>
        <p:spPr>
          <a:xfrm>
            <a:off x="1042416" y="5212080"/>
            <a:ext cx="10104120" cy="731520"/>
          </a:xfrm>
          <a:prstGeom prst="rect">
            <a:avLst/>
          </a:prstGeom>
          <a:noFill/>
        </p:spPr>
        <p:txBody>
          <a:bodyPr wrap="square" lIns="0" rIns="0" tIns="0" bIns="0">
            <a:spAutoFit/>
          </a:bodyPr>
          <a:lstStyle/>
          <a:p>
            <a:pPr algn="l">
              <a:lnSpc>
                <a:spcPct val="118000"/>
              </a:lnSpc>
              <a:spcBef>
                <a:spcPts val="0"/>
              </a:spcBef>
              <a:spcAft>
                <a:spcPts val="0"/>
              </a:spcAft>
            </a:pPr>
            <a:r>
              <a:rPr sz="1250" b="1" i="0">
                <a:solidFill>
                  <a:srgbClr val="007EBD"/>
                </a:solidFill>
                <a:latin typeface="Segoe UI"/>
              </a:rPr>
              <a:t>Reading across the field:  </a:t>
            </a:r>
            <a:r>
              <a:rPr sz="1250" b="0" i="0">
                <a:solidFill>
                  <a:srgbClr val="272525"/>
                </a:solidFill>
                <a:latin typeface="Segoe UI"/>
              </a:rPr>
              <a:t>digital twins are used for monitoring, counterfactuals for explanation, and poisoning defences for filtering — but no work joins them into a decision mechanism that validates a model update against futures committed before the update existed.</a:t>
            </a:r>
          </a:p>
        </p:txBody>
      </p:sp>
      <p:sp>
        <p:nvSpPr>
          <p:cNvPr id="9" name="TextBox 8"/>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0" name="TextBox 9"/>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WHAT IS MISSING</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Research Gap</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645920"/>
            <a:ext cx="4937760" cy="3108960"/>
          </a:xfrm>
          <a:prstGeom prst="rect">
            <a:avLst/>
          </a:prstGeom>
          <a:noFill/>
        </p:spPr>
        <p:txBody>
          <a:bodyPr wrap="square" lIns="0" rIns="0" tIns="0" bIns="0">
            <a:spAutoFit/>
          </a:bodyPr>
          <a:lstStyle/>
          <a:p>
            <a:pPr marL="274320" indent="-274320">
              <a:lnSpc>
                <a:spcPct val="116000"/>
              </a:lnSpc>
              <a:spcBef>
                <a:spcPts val="0"/>
              </a:spcBef>
              <a:spcAft>
                <a:spcPts val="1000"/>
              </a:spcAft>
            </a:pPr>
            <a:r>
              <a:rPr sz="744" b="1" i="0">
                <a:solidFill>
                  <a:srgbClr val="007EBD"/>
                </a:solidFill>
                <a:latin typeface="Segoe UI"/>
              </a:rPr>
              <a:t>●  </a:t>
            </a:r>
            <a:r>
              <a:rPr sz="1200" b="1" i="0">
                <a:solidFill>
                  <a:srgbClr val="000000"/>
                </a:solidFill>
                <a:latin typeface="Segoe UI"/>
              </a:rPr>
              <a:t>G1  Validation against the current state only.  </a:t>
            </a:r>
            <a:r>
              <a:rPr sz="1200" b="0" i="0">
                <a:solidFill>
                  <a:srgbClr val="272525"/>
                </a:solidFill>
                <a:latin typeface="Segoe UI"/>
              </a:rPr>
              <a:t>Trust, reputation and robust aggregation compare an update with the present or the past. None tests it against where the device is expected to go next.</a:t>
            </a:r>
          </a:p>
          <a:p>
            <a:pPr marL="274320" indent="-274320">
              <a:lnSpc>
                <a:spcPct val="116000"/>
              </a:lnSpc>
              <a:spcBef>
                <a:spcPts val="0"/>
              </a:spcBef>
              <a:spcAft>
                <a:spcPts val="1000"/>
              </a:spcAft>
            </a:pPr>
            <a:r>
              <a:rPr sz="744" b="1" i="0">
                <a:solidFill>
                  <a:srgbClr val="007EBD"/>
                </a:solidFill>
                <a:latin typeface="Segoe UI"/>
              </a:rPr>
              <a:t>●  </a:t>
            </a:r>
            <a:r>
              <a:rPr sz="1200" b="1" i="0">
                <a:solidFill>
                  <a:srgbClr val="000000"/>
                </a:solidFill>
                <a:latin typeface="Segoe UI"/>
              </a:rPr>
              <a:t>G2  Twins and counterfactuals are never combined.  </a:t>
            </a:r>
            <a:r>
              <a:rPr sz="1200" b="0" i="0">
                <a:solidFill>
                  <a:srgbClr val="272525"/>
                </a:solidFill>
                <a:latin typeface="Segoe UI"/>
              </a:rPr>
              <a:t>Each has been applied separately; neither has been joined into a gate on model updates.</a:t>
            </a:r>
          </a:p>
          <a:p>
            <a:pPr marL="274320" indent="-274320">
              <a:lnSpc>
                <a:spcPct val="116000"/>
              </a:lnSpc>
              <a:spcBef>
                <a:spcPts val="0"/>
              </a:spcBef>
              <a:spcAft>
                <a:spcPts val="1000"/>
              </a:spcAft>
            </a:pPr>
            <a:r>
              <a:rPr sz="744" b="1" i="0">
                <a:solidFill>
                  <a:srgbClr val="007EBD"/>
                </a:solidFill>
                <a:latin typeface="Segoe UI"/>
              </a:rPr>
              <a:t>●  </a:t>
            </a:r>
            <a:r>
              <a:rPr sz="1200" b="1" i="0">
                <a:solidFill>
                  <a:srgbClr val="000000"/>
                </a:solidFill>
                <a:latin typeface="Segoe UI"/>
              </a:rPr>
              <a:t>G3  Attack simulation does not close the loop.  </a:t>
            </a:r>
            <a:r>
              <a:rPr sz="1200" b="0" i="0">
                <a:solidFill>
                  <a:srgbClr val="272525"/>
                </a:solidFill>
                <a:latin typeface="Segoe UI"/>
              </a:rPr>
              <a:t>Simulation measures accuracy, then stops. It is rarely carried on to synthesise training rows and retrain.</a:t>
            </a:r>
          </a:p>
          <a:p>
            <a:pPr marL="274320" indent="-274320">
              <a:lnSpc>
                <a:spcPct val="116000"/>
              </a:lnSpc>
              <a:spcBef>
                <a:spcPts val="0"/>
              </a:spcBef>
              <a:spcAft>
                <a:spcPts val="1000"/>
              </a:spcAft>
            </a:pPr>
            <a:r>
              <a:rPr sz="744" b="1" i="0">
                <a:solidFill>
                  <a:srgbClr val="007EBD"/>
                </a:solidFill>
                <a:latin typeface="Segoe UI"/>
              </a:rPr>
              <a:t>●  </a:t>
            </a:r>
            <a:r>
              <a:rPr sz="1200" b="1" i="0">
                <a:solidFill>
                  <a:srgbClr val="000000"/>
                </a:solidFill>
                <a:latin typeface="Segoe UI"/>
              </a:rPr>
              <a:t>G4  Twins monitor rather than immunize.  </a:t>
            </a:r>
            <a:r>
              <a:rPr sz="1200" b="0" i="0">
                <a:solidFill>
                  <a:srgbClr val="272525"/>
                </a:solidFill>
                <a:latin typeface="Segoe UI"/>
              </a:rPr>
              <a:t>Twin research targets visualisation and fault prediction, not active prediction of behaviour under attack.</a:t>
            </a:r>
          </a:p>
        </p:txBody>
      </p:sp>
      <p:sp>
        <p:nvSpPr>
          <p:cNvPr id="8" name="TextBox 7"/>
          <p:cNvSpPr txBox="1"/>
          <p:nvPr/>
        </p:nvSpPr>
        <p:spPr>
          <a:xfrm>
            <a:off x="6254496" y="1645920"/>
            <a:ext cx="4937760" cy="3108960"/>
          </a:xfrm>
          <a:prstGeom prst="rect">
            <a:avLst/>
          </a:prstGeom>
          <a:noFill/>
        </p:spPr>
        <p:txBody>
          <a:bodyPr wrap="square" lIns="0" rIns="0" tIns="0" bIns="0">
            <a:spAutoFit/>
          </a:bodyPr>
          <a:lstStyle/>
          <a:p>
            <a:pPr marL="274320" indent="-274320">
              <a:lnSpc>
                <a:spcPct val="116000"/>
              </a:lnSpc>
              <a:spcBef>
                <a:spcPts val="0"/>
              </a:spcBef>
              <a:spcAft>
                <a:spcPts val="1000"/>
              </a:spcAft>
            </a:pPr>
            <a:r>
              <a:rPr sz="744" b="1" i="0">
                <a:solidFill>
                  <a:srgbClr val="007EBD"/>
                </a:solidFill>
                <a:latin typeface="Segoe UI"/>
              </a:rPr>
              <a:t>●  </a:t>
            </a:r>
            <a:r>
              <a:rPr sz="1200" b="1" i="0">
                <a:solidFill>
                  <a:srgbClr val="000000"/>
                </a:solidFill>
                <a:latin typeface="Segoe UI"/>
              </a:rPr>
              <a:t>G5  Detection remains reactive.  </a:t>
            </a:r>
            <a:r>
              <a:rPr sz="1200" b="0" i="0">
                <a:solidFill>
                  <a:srgbClr val="272525"/>
                </a:solidFill>
                <a:latin typeface="Segoe UI"/>
              </a:rPr>
              <a:t>Attack → collect → detect → alert. Prediction is seldom tied to proactive adaptation at the edge.</a:t>
            </a:r>
          </a:p>
          <a:p>
            <a:pPr marL="274320" indent="-274320">
              <a:lnSpc>
                <a:spcPct val="116000"/>
              </a:lnSpc>
              <a:spcBef>
                <a:spcPts val="0"/>
              </a:spcBef>
              <a:spcAft>
                <a:spcPts val="1000"/>
              </a:spcAft>
            </a:pPr>
            <a:r>
              <a:rPr sz="744" b="1" i="0">
                <a:solidFill>
                  <a:srgbClr val="007EBD"/>
                </a:solidFill>
                <a:latin typeface="Segoe UI"/>
              </a:rPr>
              <a:t>●  </a:t>
            </a:r>
            <a:r>
              <a:rPr sz="1200" b="1" i="0">
                <a:solidFill>
                  <a:srgbClr val="000000"/>
                </a:solidFill>
                <a:latin typeface="Segoe UI"/>
              </a:rPr>
              <a:t>G6  Clean-label poisoning passes everything.  </a:t>
            </a:r>
            <a:r>
              <a:rPr sz="1200" b="0" i="0">
                <a:solidFill>
                  <a:srgbClr val="272525"/>
                </a:solidFill>
                <a:latin typeface="Segoe UI"/>
              </a:rPr>
              <a:t>Defences that filter on label distribution cannot see an attack that alters no label.</a:t>
            </a:r>
          </a:p>
          <a:p>
            <a:pPr marL="274320" indent="-274320">
              <a:lnSpc>
                <a:spcPct val="116000"/>
              </a:lnSpc>
              <a:spcBef>
                <a:spcPts val="0"/>
              </a:spcBef>
              <a:spcAft>
                <a:spcPts val="1000"/>
              </a:spcAft>
            </a:pPr>
            <a:r>
              <a:rPr sz="744" b="1" i="0">
                <a:solidFill>
                  <a:srgbClr val="007EBD"/>
                </a:solidFill>
                <a:latin typeface="Segoe UI"/>
              </a:rPr>
              <a:t>●  </a:t>
            </a:r>
            <a:r>
              <a:rPr sz="1200" b="1" i="0">
                <a:solidFill>
                  <a:srgbClr val="000000"/>
                </a:solidFill>
                <a:latin typeface="Segoe UI"/>
              </a:rPr>
              <a:t>G7  Retraining forces a security trade-off.  </a:t>
            </a:r>
            <a:r>
              <a:rPr sz="1200" b="0" i="0">
                <a:solidFill>
                  <a:srgbClr val="272525"/>
                </a:solidFill>
                <a:latin typeface="Segoe UI"/>
              </a:rPr>
              <a:t>Frequent retraining adapts but widens exposure; infrequent is safer but stale. Choosing a frequency resolves neither.</a:t>
            </a:r>
          </a:p>
          <a:p>
            <a:pPr marL="274320" indent="-274320">
              <a:lnSpc>
                <a:spcPct val="116000"/>
              </a:lnSpc>
              <a:spcBef>
                <a:spcPts val="0"/>
              </a:spcBef>
              <a:spcAft>
                <a:spcPts val="1000"/>
              </a:spcAft>
            </a:pPr>
            <a:r>
              <a:rPr sz="744" b="1" i="0">
                <a:solidFill>
                  <a:srgbClr val="007EBD"/>
                </a:solidFill>
                <a:latin typeface="Segoe UI"/>
              </a:rPr>
              <a:t>●  </a:t>
            </a:r>
            <a:r>
              <a:rPr sz="1200" b="1" i="0">
                <a:solidFill>
                  <a:srgbClr val="000000"/>
                </a:solidFill>
                <a:latin typeface="Segoe UI"/>
              </a:rPr>
              <a:t>G8  Recovery is manual and total.  </a:t>
            </a:r>
            <a:r>
              <a:rPr sz="1200" b="0" i="0">
                <a:solidFill>
                  <a:srgbClr val="272525"/>
                </a:solidFill>
                <a:latin typeface="Segoe UI"/>
              </a:rPr>
              <a:t>Restoring a clean model is an operator task, and the usual remedy discards the entire training pool.</a:t>
            </a:r>
          </a:p>
        </p:txBody>
      </p:sp>
      <p:sp>
        <p:nvSpPr>
          <p:cNvPr id="9" name="TextBox 8"/>
          <p:cNvSpPr txBox="1"/>
          <p:nvPr/>
        </p:nvSpPr>
        <p:spPr>
          <a:xfrm>
            <a:off x="1042416" y="4773168"/>
            <a:ext cx="10104120" cy="822960"/>
          </a:xfrm>
          <a:prstGeom prst="rect">
            <a:avLst/>
          </a:prstGeom>
          <a:noFill/>
        </p:spPr>
        <p:txBody>
          <a:bodyPr wrap="square" lIns="0" rIns="0" tIns="0" bIns="0">
            <a:spAutoFit/>
          </a:bodyPr>
          <a:lstStyle/>
          <a:p>
            <a:pPr algn="just">
              <a:lnSpc>
                <a:spcPct val="118000"/>
              </a:lnSpc>
              <a:spcBef>
                <a:spcPts val="0"/>
              </a:spcBef>
              <a:spcAft>
                <a:spcPts val="0"/>
              </a:spcAft>
            </a:pPr>
            <a:r>
              <a:rPr sz="1250" b="1" i="0">
                <a:solidFill>
                  <a:srgbClr val="007EBD"/>
                </a:solidFill>
                <a:latin typeface="Segoe UI"/>
              </a:rPr>
              <a:t>Stated as one gap:  </a:t>
            </a:r>
            <a:r>
              <a:rPr sz="1250" b="0" i="0">
                <a:solidFill>
                  <a:srgbClr val="272525"/>
                </a:solidFill>
                <a:latin typeface="Segoe UI"/>
              </a:rPr>
              <a:t>there is no integrated framework that uses counterfactual twin states to validate machine-learning updates against multiple plausible future behaviours, quarantines the inconsistent ones, and proactively immunizes the edge model against threats it has not yet met.</a:t>
            </a:r>
          </a:p>
        </p:txBody>
      </p:sp>
      <p:sp>
        <p:nvSpPr>
          <p:cNvPr id="10" name="TextBox 9"/>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1" name="TextBox 10"/>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SEVEN, EACH WITH A GATE</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Objectives</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042416" y="1645920"/>
          <a:ext cx="8769096" cy="2519172"/>
        </p:xfrm>
        <a:graphic>
          <a:graphicData uri="http://schemas.openxmlformats.org/drawingml/2006/table">
            <a:tbl>
              <a:tblPr firstRow="0" bandRow="0">
                <a:tableStyleId>{5C22544A-7EE6-4342-B048-85BDC9FD1C3A}</a:tableStyleId>
              </a:tblPr>
              <a:tblGrid>
                <a:gridCol w="384048"/>
                <a:gridCol w="3840480"/>
                <a:gridCol w="475488"/>
                <a:gridCol w="3246120"/>
                <a:gridCol w="822960"/>
              </a:tblGrid>
              <a:tr h="310896">
                <a:tc>
                  <a:txBody>
                    <a:bodyPr wrap="square"/>
                    <a:lstStyle/>
                    <a:p>
                      <a:pPr algn="l">
                        <a:lnSpc>
                          <a:spcPct val="106000"/>
                        </a:lnSpc>
                        <a:spcBef>
                          <a:spcPts val="0"/>
                        </a:spcBef>
                        <a:spcAft>
                          <a:spcPts val="0"/>
                        </a:spcAft>
                      </a:pPr>
                      <a:r>
                        <a:rPr sz="1050" b="1" i="0">
                          <a:solidFill>
                            <a:srgbClr val="000000"/>
                          </a:solidFill>
                          <a:latin typeface="Segoe UI"/>
                        </a:rPr>
                        <a:t>#</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nSpc>
                          <a:spcPct val="106000"/>
                        </a:lnSpc>
                        <a:spcBef>
                          <a:spcPts val="0"/>
                        </a:spcBef>
                        <a:spcAft>
                          <a:spcPts val="0"/>
                        </a:spcAft>
                      </a:pPr>
                      <a:r>
                        <a:rPr sz="1050" b="1" i="0">
                          <a:solidFill>
                            <a:srgbClr val="000000"/>
                          </a:solidFill>
                          <a:latin typeface="Segoe UI"/>
                        </a:rPr>
                        <a:t>Objective</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nSpc>
                          <a:spcPct val="106000"/>
                        </a:lnSpc>
                        <a:spcBef>
                          <a:spcPts val="0"/>
                        </a:spcBef>
                        <a:spcAft>
                          <a:spcPts val="0"/>
                        </a:spcAft>
                      </a:pPr>
                      <a:r>
                        <a:rPr sz="1050" b="1" i="0">
                          <a:solidFill>
                            <a:srgbClr val="000000"/>
                          </a:solidFill>
                          <a:latin typeface="Segoe UI"/>
                        </a:rPr>
                        <a:t>Gap</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nSpc>
                          <a:spcPct val="106000"/>
                        </a:lnSpc>
                        <a:spcBef>
                          <a:spcPts val="0"/>
                        </a:spcBef>
                        <a:spcAft>
                          <a:spcPts val="0"/>
                        </a:spcAft>
                      </a:pPr>
                      <a:r>
                        <a:rPr sz="1050" b="1" i="0">
                          <a:solidFill>
                            <a:srgbClr val="000000"/>
                          </a:solidFill>
                          <a:latin typeface="Segoe UI"/>
                        </a:rPr>
                        <a:t>Measurable criterion</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nSpc>
                          <a:spcPct val="106000"/>
                        </a:lnSpc>
                        <a:spcBef>
                          <a:spcPts val="0"/>
                        </a:spcBef>
                        <a:spcAft>
                          <a:spcPts val="0"/>
                        </a:spcAft>
                      </a:pPr>
                      <a:r>
                        <a:rPr sz="1050" b="1" i="0">
                          <a:solidFill>
                            <a:srgbClr val="000000"/>
                          </a:solidFill>
                          <a:latin typeface="Segoe UI"/>
                        </a:rPr>
                        <a:t>Status</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r>
              <a:tr h="315468">
                <a:tc>
                  <a:txBody>
                    <a:bodyPr wrap="square"/>
                    <a:lstStyle/>
                    <a:p>
                      <a:pPr algn="ctr">
                        <a:lnSpc>
                          <a:spcPct val="106000"/>
                        </a:lnSpc>
                        <a:spcBef>
                          <a:spcPts val="0"/>
                        </a:spcBef>
                        <a:spcAft>
                          <a:spcPts val="0"/>
                        </a:spcAft>
                      </a:pPr>
                      <a:r>
                        <a:rPr sz="980" b="0" i="0">
                          <a:solidFill>
                            <a:srgbClr val="272525"/>
                          </a:solidFill>
                          <a:latin typeface="Segoe UI"/>
                        </a:rPr>
                        <a:t>O1</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Simulate a heterogeneous consumer IoT fleet and an on-demand edge gateway.</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0" i="0">
                          <a:solidFill>
                            <a:srgbClr val="272525"/>
                          </a:solidFill>
                          <a:latin typeface="Segoe UI"/>
                        </a:rPr>
                        <a:t>G4</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Six device types separable on baseline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1" i="0">
                          <a:solidFill>
                            <a:srgbClr val="2C8C2C"/>
                          </a:solidFill>
                          <a:latin typeface="Segoe UI"/>
                        </a:rPr>
                        <a:t>Complete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315468">
                <a:tc>
                  <a:txBody>
                    <a:bodyPr wrap="square"/>
                    <a:lstStyle/>
                    <a:p>
                      <a:pPr algn="ctr">
                        <a:lnSpc>
                          <a:spcPct val="106000"/>
                        </a:lnSpc>
                        <a:spcBef>
                          <a:spcPts val="0"/>
                        </a:spcBef>
                        <a:spcAft>
                          <a:spcPts val="0"/>
                        </a:spcAft>
                      </a:pPr>
                      <a:r>
                        <a:rPr sz="980" b="0" i="0">
                          <a:solidFill>
                            <a:srgbClr val="272525"/>
                          </a:solidFill>
                          <a:latin typeface="Segoe UI"/>
                        </a:rPr>
                        <a:t>O2</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Build a holographic twin per device across five behavioural planes.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0" i="0">
                          <a:solidFill>
                            <a:srgbClr val="272525"/>
                          </a:solidFill>
                          <a:latin typeface="Segoe UI"/>
                        </a:rPr>
                        <a:t>G4</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Zero false flags on healthy traffic</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1" i="0">
                          <a:solidFill>
                            <a:srgbClr val="2C8C2C"/>
                          </a:solidFill>
                          <a:latin typeface="Segoe UI"/>
                        </a:rPr>
                        <a:t>Complete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315468">
                <a:tc>
                  <a:txBody>
                    <a:bodyPr wrap="square"/>
                    <a:lstStyle/>
                    <a:p>
                      <a:pPr algn="ctr">
                        <a:lnSpc>
                          <a:spcPct val="106000"/>
                        </a:lnSpc>
                        <a:spcBef>
                          <a:spcPts val="0"/>
                        </a:spcBef>
                        <a:spcAft>
                          <a:spcPts val="0"/>
                        </a:spcAft>
                      </a:pPr>
                      <a:r>
                        <a:rPr sz="980" b="0" i="0">
                          <a:solidFill>
                            <a:srgbClr val="272525"/>
                          </a:solidFill>
                          <a:latin typeface="Segoe UI"/>
                        </a:rPr>
                        <a:t>O3</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Commit counterfactual futures before the observation they judge exists.</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0" i="0">
                          <a:solidFill>
                            <a:srgbClr val="272525"/>
                          </a:solidFill>
                          <a:latin typeface="Segoe UI"/>
                        </a:rPr>
                        <a:t>G1</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20 futures × 5-tick horizon, in advance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1" i="0">
                          <a:solidFill>
                            <a:srgbClr val="2C8C2C"/>
                          </a:solidFill>
                          <a:latin typeface="Segoe UI"/>
                        </a:rPr>
                        <a:t>Complete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315468">
                <a:tc>
                  <a:txBody>
                    <a:bodyPr wrap="square"/>
                    <a:lstStyle/>
                    <a:p>
                      <a:pPr algn="ctr">
                        <a:lnSpc>
                          <a:spcPct val="106000"/>
                        </a:lnSpc>
                        <a:spcBef>
                          <a:spcPts val="0"/>
                        </a:spcBef>
                        <a:spcAft>
                          <a:spcPts val="0"/>
                        </a:spcAft>
                      </a:pPr>
                      <a:r>
                        <a:rPr sz="980" b="0" i="0">
                          <a:solidFill>
                            <a:srgbClr val="272525"/>
                          </a:solidFill>
                          <a:latin typeface="Segoe UI"/>
                        </a:rPr>
                        <a:t>O4</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Design a Counterfactual Consistency Score gating every retraining update.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0" i="0">
                          <a:solidFill>
                            <a:srgbClr val="272525"/>
                          </a:solidFill>
                          <a:latin typeface="Segoe UI"/>
                        </a:rPr>
                        <a:t>G2</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Separation of honest from poisoned scores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1" i="0">
                          <a:solidFill>
                            <a:srgbClr val="2C8C2C"/>
                          </a:solidFill>
                          <a:latin typeface="Segoe UI"/>
                        </a:rPr>
                        <a:t>Complete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315468">
                <a:tc>
                  <a:txBody>
                    <a:bodyPr wrap="square"/>
                    <a:lstStyle/>
                    <a:p>
                      <a:pPr algn="ctr">
                        <a:lnSpc>
                          <a:spcPct val="106000"/>
                        </a:lnSpc>
                        <a:spcBef>
                          <a:spcPts val="0"/>
                        </a:spcBef>
                        <a:spcAft>
                          <a:spcPts val="0"/>
                        </a:spcAft>
                      </a:pPr>
                      <a:r>
                        <a:rPr sz="980" b="0" i="0">
                          <a:solidFill>
                            <a:srgbClr val="272525"/>
                          </a:solidFill>
                          <a:latin typeface="Segoe UI"/>
                        </a:rPr>
                        <a:t>O5</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Detect clean-label poisoning carrying no label shift.</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0" i="0">
                          <a:solidFill>
                            <a:srgbClr val="272525"/>
                          </a:solidFill>
                          <a:latin typeface="Segoe UI"/>
                        </a:rPr>
                        <a:t>G6</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Quarantined at label shift below 0.10</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1" i="0">
                          <a:solidFill>
                            <a:srgbClr val="2C8C2C"/>
                          </a:solidFill>
                          <a:latin typeface="Segoe UI"/>
                        </a:rPr>
                        <a:t>Complete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315468">
                <a:tc>
                  <a:txBody>
                    <a:bodyPr wrap="square"/>
                    <a:lstStyle/>
                    <a:p>
                      <a:pPr algn="ctr">
                        <a:lnSpc>
                          <a:spcPct val="106000"/>
                        </a:lnSpc>
                        <a:spcBef>
                          <a:spcPts val="0"/>
                        </a:spcBef>
                        <a:spcAft>
                          <a:spcPts val="0"/>
                        </a:spcAft>
                      </a:pPr>
                      <a:r>
                        <a:rPr sz="980" b="0" i="0">
                          <a:solidFill>
                            <a:srgbClr val="272525"/>
                          </a:solidFill>
                          <a:latin typeface="Segoe UI"/>
                        </a:rPr>
                        <a:t>O6</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Immunize the detector against synthesised poisoning before real attacks.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0" i="0">
                          <a:solidFill>
                            <a:srgbClr val="272525"/>
                          </a:solidFill>
                          <a:latin typeface="Segoe UI"/>
                        </a:rPr>
                        <a:t>G3</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Resistance measured across five strategies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1" i="0">
                          <a:solidFill>
                            <a:srgbClr val="2C8C2C"/>
                          </a:solidFill>
                          <a:latin typeface="Segoe UI"/>
                        </a:rPr>
                        <a:t>Complete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315468">
                <a:tc>
                  <a:txBody>
                    <a:bodyPr wrap="square"/>
                    <a:lstStyle/>
                    <a:p>
                      <a:pPr algn="ctr">
                        <a:lnSpc>
                          <a:spcPct val="106000"/>
                        </a:lnSpc>
                        <a:spcBef>
                          <a:spcPts val="0"/>
                        </a:spcBef>
                        <a:spcAft>
                          <a:spcPts val="0"/>
                        </a:spcAft>
                      </a:pPr>
                      <a:r>
                        <a:rPr sz="980" b="0" i="0">
                          <a:solidFill>
                            <a:srgbClr val="272525"/>
                          </a:solidFill>
                          <a:latin typeface="Segoe UI"/>
                        </a:rPr>
                        <a:t>O7</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Benchmark against reactive baselines across poisoning rates.</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0" i="0">
                          <a:solidFill>
                            <a:srgbClr val="272525"/>
                          </a:solidFill>
                          <a:latin typeface="Segoe UI"/>
                        </a:rPr>
                        <a:t>G1</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Attack success rate vs. each baseline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80" b="1" i="0">
                          <a:solidFill>
                            <a:srgbClr val="B47300"/>
                          </a:solidFill>
                          <a:latin typeface="Segoe UI"/>
                        </a:rPr>
                        <a:t>Phase II</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bl>
          </a:graphicData>
        </a:graphic>
      </p:graphicFrame>
      <p:sp>
        <p:nvSpPr>
          <p:cNvPr id="8" name="Rounded Rectangle 7"/>
          <p:cNvSpPr/>
          <p:nvPr/>
        </p:nvSpPr>
        <p:spPr>
          <a:xfrm>
            <a:off x="1042416" y="4352544"/>
            <a:ext cx="4937760" cy="1170432"/>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300" b="1" i="0">
                <a:solidFill>
                  <a:srgbClr val="007EBD"/>
                </a:solidFill>
                <a:latin typeface="Georgia"/>
              </a:rPr>
              <a:t>Sustainable Development Goals</a:t>
            </a:r>
          </a:p>
          <a:p>
            <a:pPr algn="l">
              <a:lnSpc>
                <a:spcPct val="112000"/>
              </a:lnSpc>
              <a:spcAft>
                <a:spcPts val="0"/>
              </a:spcAft>
            </a:pPr>
            <a:r>
              <a:rPr sz="1100" b="0" i="0">
                <a:solidFill>
                  <a:srgbClr val="272525"/>
                </a:solidFill>
                <a:latin typeface="Segoe UI"/>
              </a:rPr>
              <a:t>SDG 9 — Industry, Innovation and Infrastructure   ·   SDG 11 — Sustainable Cities and Communities   ·   SDG 16 — Peace, Justice and Strong Institutions</a:t>
            </a:r>
          </a:p>
        </p:txBody>
      </p:sp>
      <p:sp>
        <p:nvSpPr>
          <p:cNvPr id="9" name="Rounded Rectangle 8"/>
          <p:cNvSpPr/>
          <p:nvPr/>
        </p:nvSpPr>
        <p:spPr>
          <a:xfrm>
            <a:off x="6254496" y="4352544"/>
            <a:ext cx="4937760" cy="1170432"/>
          </a:xfrm>
          <a:prstGeom prst="roundRect">
            <a:avLst>
              <a:gd name="adj" fmla="val 8000"/>
            </a:avLst>
          </a:prstGeom>
          <a:solidFill>
            <a:srgbClr val="EFF8EF"/>
          </a:solidFill>
          <a:ln w="9525">
            <a:solidFill>
              <a:srgbClr val="2C8C2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300" b="1" i="0">
                <a:solidFill>
                  <a:srgbClr val="2C8C2C"/>
                </a:solidFill>
                <a:latin typeface="Georgia"/>
              </a:rPr>
              <a:t>Outcome identified</a:t>
            </a:r>
          </a:p>
          <a:p>
            <a:pPr algn="l">
              <a:lnSpc>
                <a:spcPct val="112000"/>
              </a:lnSpc>
              <a:spcAft>
                <a:spcPts val="0"/>
              </a:spcAft>
            </a:pPr>
            <a:r>
              <a:rPr sz="1100" b="0" i="0">
                <a:solidFill>
                  <a:srgbClr val="272525"/>
                </a:solidFill>
                <a:latin typeface="Segoe UI"/>
              </a:rPr>
              <a:t>PATENT  —  Indian Patent Application filed for the counterfactual-driven adaptive security control method.</a:t>
            </a:r>
          </a:p>
        </p:txBody>
      </p:sp>
      <p:sp>
        <p:nvSpPr>
          <p:cNvPr id="10" name="TextBox 9"/>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1" name="TextBox 10"/>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SYSTEM ARCHITECTURE</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2800" b="1" i="0">
                <a:solidFill>
                  <a:srgbClr val="000000"/>
                </a:solidFill>
                <a:latin typeface="Georgia"/>
              </a:rPr>
              <a:t>Framework / Architecture / Block Diagram</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patent_architecture_hi.png"/>
          <p:cNvPicPr>
            <a:picLocks noChangeAspect="1"/>
          </p:cNvPicPr>
          <p:nvPr/>
        </p:nvPicPr>
        <p:blipFill>
          <a:blip r:embed="rId3"/>
          <a:stretch>
            <a:fillRect/>
          </a:stretch>
        </p:blipFill>
        <p:spPr>
          <a:xfrm>
            <a:off x="1042416" y="1682496"/>
            <a:ext cx="6226232" cy="4206240"/>
          </a:xfrm>
          <a:prstGeom prst="rect">
            <a:avLst/>
          </a:prstGeom>
        </p:spPr>
      </p:pic>
      <p:sp>
        <p:nvSpPr>
          <p:cNvPr id="8" name="TextBox 7"/>
          <p:cNvSpPr txBox="1"/>
          <p:nvPr/>
        </p:nvSpPr>
        <p:spPr>
          <a:xfrm>
            <a:off x="9528048" y="1700784"/>
            <a:ext cx="1645920" cy="4023360"/>
          </a:xfrm>
          <a:prstGeom prst="rect">
            <a:avLst/>
          </a:prstGeom>
          <a:noFill/>
        </p:spPr>
        <p:txBody>
          <a:bodyPr wrap="square" lIns="0" rIns="0" tIns="0" bIns="0">
            <a:spAutoFit/>
          </a:bodyPr>
          <a:lstStyle/>
          <a:p>
            <a:pPr algn="l">
              <a:lnSpc>
                <a:spcPct val="112000"/>
              </a:lnSpc>
              <a:spcBef>
                <a:spcPts val="0"/>
              </a:spcBef>
              <a:spcAft>
                <a:spcPts val="800"/>
              </a:spcAft>
            </a:pPr>
            <a:r>
              <a:rPr sz="950" b="1" i="0">
                <a:solidFill>
                  <a:srgbClr val="007EBD"/>
                </a:solidFill>
                <a:latin typeface="Segoe UI"/>
              </a:rPr>
              <a:t>102  </a:t>
            </a:r>
            <a:r>
              <a:rPr sz="950" b="0" i="0">
                <a:solidFill>
                  <a:srgbClr val="272525"/>
                </a:solidFill>
                <a:latin typeface="Segoe UI"/>
              </a:rPr>
              <a:t>Consumer IoT devices — camera, thermostat, lighting, lock, wearable.</a:t>
            </a:r>
          </a:p>
          <a:p>
            <a:pPr algn="l">
              <a:lnSpc>
                <a:spcPct val="112000"/>
              </a:lnSpc>
              <a:spcBef>
                <a:spcPts val="0"/>
              </a:spcBef>
              <a:spcAft>
                <a:spcPts val="800"/>
              </a:spcAft>
            </a:pPr>
            <a:r>
              <a:rPr sz="950" b="1" i="0">
                <a:solidFill>
                  <a:srgbClr val="007EBD"/>
                </a:solidFill>
                <a:latin typeface="Segoe UI"/>
              </a:rPr>
              <a:t>106  </a:t>
            </a:r>
            <a:r>
              <a:rPr sz="950" b="0" i="0">
                <a:solidFill>
                  <a:srgbClr val="272525"/>
                </a:solidFill>
                <a:latin typeface="Segoe UI"/>
              </a:rPr>
              <a:t>Edge node: the gateway where every decision is taken.</a:t>
            </a:r>
          </a:p>
          <a:p>
            <a:pPr algn="l">
              <a:lnSpc>
                <a:spcPct val="112000"/>
              </a:lnSpc>
              <a:spcBef>
                <a:spcPts val="0"/>
              </a:spcBef>
              <a:spcAft>
                <a:spcPts val="800"/>
              </a:spcAft>
            </a:pPr>
            <a:r>
              <a:rPr sz="950" b="1" i="0">
                <a:solidFill>
                  <a:srgbClr val="007EBD"/>
                </a:solidFill>
                <a:latin typeface="Segoe UI"/>
              </a:rPr>
              <a:t>108  </a:t>
            </a:r>
            <a:r>
              <a:rPr sz="950" b="0" i="0">
                <a:solidFill>
                  <a:srgbClr val="272525"/>
                </a:solidFill>
                <a:latin typeface="Segoe UI"/>
              </a:rPr>
              <a:t>Digital-twin state store — current, historical, profiles, baselines.</a:t>
            </a:r>
          </a:p>
          <a:p>
            <a:pPr algn="l">
              <a:lnSpc>
                <a:spcPct val="112000"/>
              </a:lnSpc>
              <a:spcBef>
                <a:spcPts val="0"/>
              </a:spcBef>
              <a:spcAft>
                <a:spcPts val="800"/>
              </a:spcAft>
            </a:pPr>
            <a:r>
              <a:rPr sz="950" b="1" i="0">
                <a:solidFill>
                  <a:srgbClr val="007EBD"/>
                </a:solidFill>
                <a:latin typeface="Segoe UI"/>
              </a:rPr>
              <a:t>112  </a:t>
            </a:r>
            <a:r>
              <a:rPr sz="950" b="0" i="0">
                <a:solidFill>
                  <a:srgbClr val="272525"/>
                </a:solidFill>
                <a:latin typeface="Segoe UI"/>
              </a:rPr>
              <a:t>Counterfactual scenario generator: the committed futures.</a:t>
            </a:r>
          </a:p>
          <a:p>
            <a:pPr algn="l">
              <a:lnSpc>
                <a:spcPct val="112000"/>
              </a:lnSpc>
              <a:spcBef>
                <a:spcPts val="0"/>
              </a:spcBef>
              <a:spcAft>
                <a:spcPts val="800"/>
              </a:spcAft>
            </a:pPr>
            <a:r>
              <a:rPr sz="950" b="1" i="0">
                <a:solidFill>
                  <a:srgbClr val="007EBD"/>
                </a:solidFill>
                <a:latin typeface="Segoe UI"/>
              </a:rPr>
              <a:t>116  </a:t>
            </a:r>
            <a:r>
              <a:rPr sz="950" b="0" i="0">
                <a:solidFill>
                  <a:srgbClr val="272525"/>
                </a:solidFill>
                <a:latin typeface="Segoe UI"/>
              </a:rPr>
              <a:t>Scenario assessment — risk, likelihood, prioritisation.</a:t>
            </a:r>
          </a:p>
          <a:p>
            <a:pPr algn="l">
              <a:lnSpc>
                <a:spcPct val="112000"/>
              </a:lnSpc>
              <a:spcBef>
                <a:spcPts val="0"/>
              </a:spcBef>
              <a:spcAft>
                <a:spcPts val="800"/>
              </a:spcAft>
            </a:pPr>
            <a:r>
              <a:rPr sz="950" b="1" i="0">
                <a:solidFill>
                  <a:srgbClr val="007EBD"/>
                </a:solidFill>
                <a:latin typeface="Segoe UI"/>
              </a:rPr>
              <a:t>118  </a:t>
            </a:r>
            <a:r>
              <a:rPr sz="950" b="0" i="0">
                <a:solidFill>
                  <a:srgbClr val="272525"/>
                </a:solidFill>
                <a:latin typeface="Segoe UI"/>
              </a:rPr>
              <a:t>Security-control decision support and policy update.</a:t>
            </a:r>
          </a:p>
        </p:txBody>
      </p:sp>
      <p:sp>
        <p:nvSpPr>
          <p:cNvPr id="9" name="TextBox 8"/>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0" name="TextBox 9"/>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FR-01 TO FR-10</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Functional Requirements</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645920"/>
            <a:ext cx="4937760" cy="3840480"/>
          </a:xfrm>
          <a:prstGeom prst="rect">
            <a:avLst/>
          </a:prstGeom>
          <a:noFill/>
        </p:spPr>
        <p:txBody>
          <a:bodyPr wrap="square" lIns="0" rIns="0" tIns="0" bIns="0">
            <a:spAutoFit/>
          </a:bodyPr>
          <a:lstStyle/>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FR-01  Device simulation.  </a:t>
            </a:r>
            <a:r>
              <a:rPr sz="1200" b="0" i="0">
                <a:solidFill>
                  <a:srgbClr val="272525"/>
                </a:solidFill>
                <a:latin typeface="Segoe UI"/>
              </a:rPr>
              <a:t>Continuous sixteen-feature telemetry for six device types, deformable by a named attack class on demand.</a:t>
            </a:r>
          </a:p>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FR-02  On-demand ingestion.  </a:t>
            </a:r>
            <a:r>
              <a:rPr sz="1200" b="0" i="0">
                <a:solidFill>
                  <a:srgbClr val="272525"/>
                </a:solidFill>
                <a:latin typeface="Segoe UI"/>
              </a:rPr>
              <a:t>The gateway collects, timestamps and buffers telemetry only when an operator requests a tick.</a:t>
            </a:r>
          </a:p>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FR-03  Twin synchronisation.  </a:t>
            </a:r>
            <a:r>
              <a:rPr sz="1200" b="0" i="0">
                <a:solidFill>
                  <a:srgbClr val="272525"/>
                </a:solidFill>
                <a:latin typeface="Segoe UI"/>
              </a:rPr>
              <a:t>Each twin updates its five-plane state from trusted telemetry and refuses any observation judged hostile.</a:t>
            </a:r>
          </a:p>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FR-04  Future commitment.  </a:t>
            </a:r>
            <a:r>
              <a:rPr sz="1200" b="0" i="0">
                <a:solidFill>
                  <a:srgbClr val="272525"/>
                </a:solidFill>
                <a:latin typeface="Segoe UI"/>
              </a:rPr>
              <a:t>Every ready twin commits twenty trajectories over a five-tick horizon before the judging observation exists.</a:t>
            </a:r>
          </a:p>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FR-05  Threat detection.  </a:t>
            </a:r>
            <a:r>
              <a:rPr sz="1200" b="0" i="0">
                <a:solidFill>
                  <a:srgbClr val="272525"/>
                </a:solidFill>
                <a:latin typeface="Segoe UI"/>
              </a:rPr>
              <a:t>Classify normal traffic and six attack classes, returning class, confidence and an operator-facing risk level.</a:t>
            </a:r>
          </a:p>
        </p:txBody>
      </p:sp>
      <p:sp>
        <p:nvSpPr>
          <p:cNvPr id="8" name="TextBox 7"/>
          <p:cNvSpPr txBox="1"/>
          <p:nvPr/>
        </p:nvSpPr>
        <p:spPr>
          <a:xfrm>
            <a:off x="6254496" y="1645920"/>
            <a:ext cx="4937760" cy="3840480"/>
          </a:xfrm>
          <a:prstGeom prst="rect">
            <a:avLst/>
          </a:prstGeom>
          <a:noFill/>
        </p:spPr>
        <p:txBody>
          <a:bodyPr wrap="square" lIns="0" rIns="0" tIns="0" bIns="0">
            <a:spAutoFit/>
          </a:bodyPr>
          <a:lstStyle/>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FR-06  Counterfactual validation.  </a:t>
            </a:r>
            <a:r>
              <a:rPr sz="1200" b="0" i="0">
                <a:solidFill>
                  <a:srgbClr val="272525"/>
                </a:solidFill>
                <a:latin typeface="Segoe UI"/>
              </a:rPr>
              <a:t>Score every update on six weighted components against the audit bank, versus a fleet-calibrated threshold.</a:t>
            </a:r>
          </a:p>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FR-07  Operator control.  </a:t>
            </a:r>
            <a:r>
              <a:rPr sz="1200" b="0" i="0">
                <a:solidFill>
                  <a:srgbClr val="272525"/>
                </a:solidFill>
                <a:latin typeface="Segoe UI"/>
              </a:rPr>
              <a:t>Apply accept or quarantine only on explicit instruction; allow override in either direction and record it.</a:t>
            </a:r>
          </a:p>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FR-08  Quarantine ledger.  </a:t>
            </a:r>
            <a:r>
              <a:rPr sz="1200" b="0" i="0">
                <a:solidFill>
                  <a:srgbClr val="272525"/>
                </a:solidFill>
                <a:latin typeface="Segoe UI"/>
              </a:rPr>
              <a:t>Retain quarantined updates intact with id, source, strategy, score and timestamp, and allow rescoring.</a:t>
            </a:r>
          </a:p>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FR-09  Predictive immunization.  </a:t>
            </a:r>
            <a:r>
              <a:rPr sz="1200" b="0" i="0">
                <a:solidFill>
                  <a:srgbClr val="272525"/>
                </a:solidFill>
                <a:latin typeface="Segoe UI"/>
              </a:rPr>
              <a:t>Synthesise vaccine rows from committed futures and measure poison resistance across five strategies.</a:t>
            </a:r>
          </a:p>
          <a:p>
            <a:pPr marL="274320" indent="-274320">
              <a:lnSpc>
                <a:spcPct val="116000"/>
              </a:lnSpc>
              <a:spcBef>
                <a:spcPts val="0"/>
              </a:spcBef>
              <a:spcAft>
                <a:spcPts val="1100"/>
              </a:spcAft>
            </a:pPr>
            <a:r>
              <a:rPr sz="744" b="1" i="0">
                <a:solidFill>
                  <a:srgbClr val="007EBD"/>
                </a:solidFill>
                <a:latin typeface="Segoe UI"/>
              </a:rPr>
              <a:t>●  </a:t>
            </a:r>
            <a:r>
              <a:rPr sz="1200" b="1" i="0">
                <a:solidFill>
                  <a:srgbClr val="000000"/>
                </a:solidFill>
                <a:latin typeface="Segoe UI"/>
              </a:rPr>
              <a:t>FR-10  Guarded promotion.  </a:t>
            </a:r>
            <a:r>
              <a:rPr sz="1200" b="0" i="0">
                <a:solidFill>
                  <a:srgbClr val="272525"/>
                </a:solidFill>
                <a:latin typeface="Segoe UI"/>
              </a:rPr>
              <a:t>Promote a candidate only if accuracy, resistance, false-positive rate and pool size all pass; else roll back.</a:t>
            </a:r>
          </a:p>
        </p:txBody>
      </p:sp>
      <p:sp>
        <p:nvSpPr>
          <p:cNvPr id="9" name="TextBox 8"/>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0" name="TextBox 9"/>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ELEVEN PACKAGES, ONE STAGE EACH</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Modules</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1042416" y="1645920"/>
          <a:ext cx="10149840" cy="3369564"/>
        </p:xfrm>
        <a:graphic>
          <a:graphicData uri="http://schemas.openxmlformats.org/drawingml/2006/table">
            <a:tbl>
              <a:tblPr firstRow="0" bandRow="0">
                <a:tableStyleId>{5C22544A-7EE6-4342-B048-85BDC9FD1C3A}</a:tableStyleId>
              </a:tblPr>
              <a:tblGrid>
                <a:gridCol w="1417320"/>
                <a:gridCol w="5669280"/>
                <a:gridCol w="3063240"/>
              </a:tblGrid>
              <a:tr h="301752">
                <a:tc>
                  <a:txBody>
                    <a:bodyPr wrap="square"/>
                    <a:lstStyle/>
                    <a:p>
                      <a:pPr algn="l">
                        <a:lnSpc>
                          <a:spcPct val="106000"/>
                        </a:lnSpc>
                        <a:spcBef>
                          <a:spcPts val="0"/>
                        </a:spcBef>
                        <a:spcAft>
                          <a:spcPts val="0"/>
                        </a:spcAft>
                      </a:pPr>
                      <a:r>
                        <a:rPr sz="1050" b="1" i="0">
                          <a:solidFill>
                            <a:srgbClr val="000000"/>
                          </a:solidFill>
                          <a:latin typeface="Segoe UI"/>
                        </a:rPr>
                        <a:t>Module</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nSpc>
                          <a:spcPct val="106000"/>
                        </a:lnSpc>
                        <a:spcBef>
                          <a:spcPts val="0"/>
                        </a:spcBef>
                        <a:spcAft>
                          <a:spcPts val="0"/>
                        </a:spcAft>
                      </a:pPr>
                      <a:r>
                        <a:rPr sz="1050" b="1" i="0">
                          <a:solidFill>
                            <a:srgbClr val="000000"/>
                          </a:solidFill>
                          <a:latin typeface="Segoe UI"/>
                        </a:rPr>
                        <a:t>Responsibility</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nSpc>
                          <a:spcPct val="106000"/>
                        </a:lnSpc>
                        <a:spcBef>
                          <a:spcPts val="0"/>
                        </a:spcBef>
                        <a:spcAft>
                          <a:spcPts val="0"/>
                        </a:spcAft>
                      </a:pPr>
                      <a:r>
                        <a:rPr sz="1050" b="1" i="0">
                          <a:solidFill>
                            <a:srgbClr val="000000"/>
                          </a:solidFill>
                          <a:latin typeface="Segoe UI"/>
                        </a:rPr>
                        <a:t>Key artefact</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simulator</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Six device profiles, per-attack deformations and the labelled corpus generator.</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SimulatedDevice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live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Real USB peripherals via Windows PnP; host telemetry via psutil.</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UsbMonitor, HostSampler</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twin</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Five planes, a ridge vector-autoregressive forward model and committed futures.</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HolographicTwin</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detection</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Feature engineering and the edge threat classifier.</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ThreatDetector</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counterfactual</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The audit bank and the Counterfactual Consistency Score.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CounterfactualValidator</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poisoning</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Five poisoning strategies used to test the defence.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PoisonForge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immunization</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Predictive vaccines and poison-resistance measurement.</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ImmunizationEngine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quarantine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Holding, dissecting, releasing and rescoring updates.</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QuarantineZone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retraining</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Validated safe pool, promotion gates and versioned registry.</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SecureRetrainer</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selfheal</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Model/twin agreement monitoring, rollback and purge.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SelfHealingMonitor</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78892">
                <a:tc>
                  <a:txBody>
                    <a:bodyPr wrap="square"/>
                    <a:lstStyle/>
                    <a:p>
                      <a:pPr algn="l">
                        <a:lnSpc>
                          <a:spcPct val="106000"/>
                        </a:lnSpc>
                        <a:spcBef>
                          <a:spcPts val="0"/>
                        </a:spcBef>
                        <a:spcAft>
                          <a:spcPts val="0"/>
                        </a:spcAft>
                      </a:pPr>
                      <a:r>
                        <a:rPr sz="930" b="1" i="0">
                          <a:solidFill>
                            <a:srgbClr val="007EBD"/>
                          </a:solidFill>
                          <a:latin typeface="Consolas"/>
                        </a:rPr>
                        <a:t>server</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80" b="0" i="0">
                          <a:solidFill>
                            <a:srgbClr val="272525"/>
                          </a:solidFill>
                          <a:latin typeface="Segoe UI"/>
                        </a:rPr>
                        <a:t>Operator console, JSON API, accounts, sessions and the audit database.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nSpc>
                          <a:spcPct val="106000"/>
                        </a:lnSpc>
                        <a:spcBef>
                          <a:spcPts val="0"/>
                        </a:spcBef>
                        <a:spcAft>
                          <a:spcPts val="0"/>
                        </a:spcAft>
                      </a:pPr>
                      <a:r>
                        <a:rPr sz="930" b="0" i="0">
                          <a:solidFill>
                            <a:srgbClr val="66666B"/>
                          </a:solidFill>
                          <a:latin typeface="Consolas"/>
                        </a:rPr>
                        <a:t>pages.py, auth.py, db.py</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bl>
          </a:graphicData>
        </a:graphic>
      </p:graphicFrame>
      <p:sp>
        <p:nvSpPr>
          <p:cNvPr id="8" name="TextBox 7"/>
          <p:cNvSpPr txBox="1"/>
          <p:nvPr/>
        </p:nvSpPr>
        <p:spPr>
          <a:xfrm>
            <a:off x="1042416" y="5193792"/>
            <a:ext cx="10104120" cy="548640"/>
          </a:xfrm>
          <a:prstGeom prst="rect">
            <a:avLst/>
          </a:prstGeom>
          <a:noFill/>
        </p:spPr>
        <p:txBody>
          <a:bodyPr wrap="square" lIns="0" rIns="0" tIns="0" bIns="0">
            <a:spAutoFit/>
          </a:bodyPr>
          <a:lstStyle/>
          <a:p>
            <a:pPr algn="l">
              <a:lnSpc>
                <a:spcPct val="118000"/>
              </a:lnSpc>
              <a:spcBef>
                <a:spcPts val="0"/>
              </a:spcBef>
              <a:spcAft>
                <a:spcPts val="0"/>
              </a:spcAft>
            </a:pPr>
            <a:r>
              <a:rPr sz="1200" b="1" i="0">
                <a:solidFill>
                  <a:srgbClr val="007EBD"/>
                </a:solidFill>
                <a:latin typeface="Segoe UI"/>
              </a:rPr>
              <a:t>Why the boundaries matter:  </a:t>
            </a:r>
            <a:r>
              <a:rPr sz="1200" b="0" i="0">
                <a:solidFill>
                  <a:srgbClr val="272525"/>
                </a:solidFill>
                <a:latin typeface="Segoe UI"/>
              </a:rPr>
              <a:t>no module reaches across more than one boundary, which is what lets the simulated fleet and the live USB sampler be swapped for one another without any stage above Step 1 being aware of the change.</a:t>
            </a:r>
          </a:p>
        </p:txBody>
      </p:sp>
      <p:sp>
        <p:nvSpPr>
          <p:cNvPr id="9" name="TextBox 8"/>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0" name="TextBox 9"/>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EIGHT-DEVICE FLEET, SEED 1337</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Experiments and Results</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645920"/>
            <a:ext cx="1920240" cy="713232"/>
          </a:xfrm>
          <a:prstGeom prst="rect">
            <a:avLst/>
          </a:prstGeom>
          <a:noFill/>
        </p:spPr>
        <p:txBody>
          <a:bodyPr wrap="square" lIns="0" rIns="0" tIns="0" bIns="0">
            <a:spAutoFit/>
          </a:bodyPr>
          <a:lstStyle/>
          <a:p>
            <a:pPr algn="ctr">
              <a:lnSpc>
                <a:spcPct val="100000"/>
              </a:lnSpc>
              <a:spcBef>
                <a:spcPts val="0"/>
              </a:spcBef>
              <a:spcAft>
                <a:spcPts val="100"/>
              </a:spcAft>
            </a:pPr>
            <a:r>
              <a:rPr sz="2300" b="1" i="0">
                <a:solidFill>
                  <a:srgbClr val="007EBD"/>
                </a:solidFill>
                <a:latin typeface="Georgia"/>
              </a:rPr>
              <a:t>0.9565</a:t>
            </a:r>
          </a:p>
          <a:p>
            <a:pPr algn="ctr">
              <a:lnSpc>
                <a:spcPct val="105000"/>
              </a:lnSpc>
              <a:spcBef>
                <a:spcPts val="0"/>
              </a:spcBef>
              <a:spcAft>
                <a:spcPts val="0"/>
              </a:spcAft>
            </a:pPr>
            <a:r>
              <a:rPr sz="950" b="0" i="0">
                <a:solidFill>
                  <a:srgbClr val="66666B"/>
                </a:solidFill>
                <a:latin typeface="Segoe UI"/>
              </a:rPr>
              <a:t>Detection accuracy</a:t>
            </a:r>
          </a:p>
        </p:txBody>
      </p:sp>
      <p:sp>
        <p:nvSpPr>
          <p:cNvPr id="8" name="TextBox 7"/>
          <p:cNvSpPr txBox="1"/>
          <p:nvPr/>
        </p:nvSpPr>
        <p:spPr>
          <a:xfrm>
            <a:off x="3108959" y="1645920"/>
            <a:ext cx="1920240" cy="713232"/>
          </a:xfrm>
          <a:prstGeom prst="rect">
            <a:avLst/>
          </a:prstGeom>
          <a:noFill/>
        </p:spPr>
        <p:txBody>
          <a:bodyPr wrap="square" lIns="0" rIns="0" tIns="0" bIns="0">
            <a:spAutoFit/>
          </a:bodyPr>
          <a:lstStyle/>
          <a:p>
            <a:pPr algn="ctr">
              <a:lnSpc>
                <a:spcPct val="100000"/>
              </a:lnSpc>
              <a:spcBef>
                <a:spcPts val="0"/>
              </a:spcBef>
              <a:spcAft>
                <a:spcPts val="100"/>
              </a:spcAft>
            </a:pPr>
            <a:r>
              <a:rPr sz="2300" b="1" i="0">
                <a:solidFill>
                  <a:srgbClr val="007EBD"/>
                </a:solidFill>
                <a:latin typeface="Georgia"/>
              </a:rPr>
              <a:t>0.0307</a:t>
            </a:r>
          </a:p>
          <a:p>
            <a:pPr algn="ctr">
              <a:lnSpc>
                <a:spcPct val="105000"/>
              </a:lnSpc>
              <a:spcBef>
                <a:spcPts val="0"/>
              </a:spcBef>
              <a:spcAft>
                <a:spcPts val="0"/>
              </a:spcAft>
            </a:pPr>
            <a:r>
              <a:rPr sz="950" b="0" i="0">
                <a:solidFill>
                  <a:srgbClr val="66666B"/>
                </a:solidFill>
                <a:latin typeface="Segoe UI"/>
              </a:rPr>
              <a:t>False-negative rate</a:t>
            </a:r>
          </a:p>
        </p:txBody>
      </p:sp>
      <p:sp>
        <p:nvSpPr>
          <p:cNvPr id="9" name="TextBox 8"/>
          <p:cNvSpPr txBox="1"/>
          <p:nvPr/>
        </p:nvSpPr>
        <p:spPr>
          <a:xfrm>
            <a:off x="5175502" y="1645920"/>
            <a:ext cx="1920240" cy="713232"/>
          </a:xfrm>
          <a:prstGeom prst="rect">
            <a:avLst/>
          </a:prstGeom>
          <a:noFill/>
        </p:spPr>
        <p:txBody>
          <a:bodyPr wrap="square" lIns="0" rIns="0" tIns="0" bIns="0">
            <a:spAutoFit/>
          </a:bodyPr>
          <a:lstStyle/>
          <a:p>
            <a:pPr algn="ctr">
              <a:lnSpc>
                <a:spcPct val="100000"/>
              </a:lnSpc>
              <a:spcBef>
                <a:spcPts val="0"/>
              </a:spcBef>
              <a:spcAft>
                <a:spcPts val="100"/>
              </a:spcAft>
            </a:pPr>
            <a:r>
              <a:rPr sz="2300" b="1" i="0">
                <a:solidFill>
                  <a:srgbClr val="007EBD"/>
                </a:solidFill>
                <a:latin typeface="Georgia"/>
              </a:rPr>
              <a:t>0.8568</a:t>
            </a:r>
          </a:p>
          <a:p>
            <a:pPr algn="ctr">
              <a:lnSpc>
                <a:spcPct val="105000"/>
              </a:lnSpc>
              <a:spcBef>
                <a:spcPts val="0"/>
              </a:spcBef>
              <a:spcAft>
                <a:spcPts val="0"/>
              </a:spcAft>
            </a:pPr>
            <a:r>
              <a:rPr sz="950" b="0" i="0">
                <a:solidFill>
                  <a:srgbClr val="66666B"/>
                </a:solidFill>
                <a:latin typeface="Segoe UI"/>
              </a:rPr>
              <a:t>Calibrated accept gate</a:t>
            </a:r>
          </a:p>
        </p:txBody>
      </p:sp>
      <p:sp>
        <p:nvSpPr>
          <p:cNvPr id="10" name="TextBox 9"/>
          <p:cNvSpPr txBox="1"/>
          <p:nvPr/>
        </p:nvSpPr>
        <p:spPr>
          <a:xfrm>
            <a:off x="7242045" y="1645920"/>
            <a:ext cx="1920240" cy="713232"/>
          </a:xfrm>
          <a:prstGeom prst="rect">
            <a:avLst/>
          </a:prstGeom>
          <a:noFill/>
        </p:spPr>
        <p:txBody>
          <a:bodyPr wrap="square" lIns="0" rIns="0" tIns="0" bIns="0">
            <a:spAutoFit/>
          </a:bodyPr>
          <a:lstStyle/>
          <a:p>
            <a:pPr algn="ctr">
              <a:lnSpc>
                <a:spcPct val="100000"/>
              </a:lnSpc>
              <a:spcBef>
                <a:spcPts val="0"/>
              </a:spcBef>
              <a:spcAft>
                <a:spcPts val="100"/>
              </a:spcAft>
            </a:pPr>
            <a:r>
              <a:rPr sz="2300" b="1" i="0">
                <a:solidFill>
                  <a:srgbClr val="2C8C2C"/>
                </a:solidFill>
                <a:latin typeface="Georgia"/>
              </a:rPr>
              <a:t>13 / 13</a:t>
            </a:r>
          </a:p>
          <a:p>
            <a:pPr algn="ctr">
              <a:lnSpc>
                <a:spcPct val="105000"/>
              </a:lnSpc>
              <a:spcBef>
                <a:spcPts val="0"/>
              </a:spcBef>
              <a:spcAft>
                <a:spcPts val="0"/>
              </a:spcAft>
            </a:pPr>
            <a:r>
              <a:rPr sz="950" b="0" i="0">
                <a:solidFill>
                  <a:srgbClr val="66666B"/>
                </a:solidFill>
                <a:latin typeface="Segoe UI"/>
              </a:rPr>
              <a:t>Correct decisions</a:t>
            </a:r>
          </a:p>
        </p:txBody>
      </p:sp>
      <p:sp>
        <p:nvSpPr>
          <p:cNvPr id="11" name="TextBox 10"/>
          <p:cNvSpPr txBox="1"/>
          <p:nvPr/>
        </p:nvSpPr>
        <p:spPr>
          <a:xfrm>
            <a:off x="9308588" y="1645920"/>
            <a:ext cx="1920240" cy="713232"/>
          </a:xfrm>
          <a:prstGeom prst="rect">
            <a:avLst/>
          </a:prstGeom>
          <a:noFill/>
        </p:spPr>
        <p:txBody>
          <a:bodyPr wrap="square" lIns="0" rIns="0" tIns="0" bIns="0">
            <a:spAutoFit/>
          </a:bodyPr>
          <a:lstStyle/>
          <a:p>
            <a:pPr algn="ctr">
              <a:lnSpc>
                <a:spcPct val="100000"/>
              </a:lnSpc>
              <a:spcBef>
                <a:spcPts val="0"/>
              </a:spcBef>
              <a:spcAft>
                <a:spcPts val="100"/>
              </a:spcAft>
            </a:pPr>
            <a:r>
              <a:rPr sz="2300" b="1" i="0">
                <a:solidFill>
                  <a:srgbClr val="2C8C2C"/>
                </a:solidFill>
                <a:latin typeface="Georgia"/>
              </a:rPr>
              <a:t>0.9736</a:t>
            </a:r>
          </a:p>
          <a:p>
            <a:pPr algn="ctr">
              <a:lnSpc>
                <a:spcPct val="105000"/>
              </a:lnSpc>
              <a:spcBef>
                <a:spcPts val="0"/>
              </a:spcBef>
              <a:spcAft>
                <a:spcPts val="0"/>
              </a:spcAft>
            </a:pPr>
            <a:r>
              <a:rPr sz="950" b="0" i="0">
                <a:solidFill>
                  <a:srgbClr val="66666B"/>
                </a:solidFill>
                <a:latin typeface="Segoe UI"/>
              </a:rPr>
              <a:t>Poison resistance</a:t>
            </a:r>
          </a:p>
        </p:txBody>
      </p:sp>
      <p:sp>
        <p:nvSpPr>
          <p:cNvPr id="12" name="TextBox 11"/>
          <p:cNvSpPr txBox="1"/>
          <p:nvPr/>
        </p:nvSpPr>
        <p:spPr>
          <a:xfrm>
            <a:off x="1042416" y="2304288"/>
            <a:ext cx="6035040" cy="274320"/>
          </a:xfrm>
          <a:prstGeom prst="rect">
            <a:avLst/>
          </a:prstGeom>
          <a:noFill/>
        </p:spPr>
        <p:txBody>
          <a:bodyPr wrap="square" lIns="0" rIns="0" tIns="0" bIns="0">
            <a:spAutoFit/>
          </a:bodyPr>
          <a:lstStyle/>
          <a:p>
            <a:pPr algn="l">
              <a:lnSpc>
                <a:spcPct val="118000"/>
              </a:lnSpc>
              <a:spcBef>
                <a:spcPts val="0"/>
              </a:spcBef>
              <a:spcAft>
                <a:spcPts val="0"/>
              </a:spcAft>
            </a:pPr>
            <a:r>
              <a:rPr sz="950" b="1" i="0">
                <a:solidFill>
                  <a:srgbClr val="66666B"/>
                </a:solidFill>
                <a:latin typeface="Segoe UI"/>
              </a:rPr>
              <a:t>VALIDATION DECISIONS — 13 SUBMITTED, 1 HONEST</a:t>
            </a:r>
          </a:p>
        </p:txBody>
      </p:sp>
      <p:graphicFrame>
        <p:nvGraphicFramePr>
          <p:cNvPr id="13" name="Table 12"/>
          <p:cNvGraphicFramePr>
            <a:graphicFrameLocks noGrp="1"/>
          </p:cNvGraphicFramePr>
          <p:nvPr/>
        </p:nvGraphicFramePr>
        <p:xfrm>
          <a:off x="1042416" y="2542032"/>
          <a:ext cx="6035040" cy="2084832"/>
        </p:xfrm>
        <a:graphic>
          <a:graphicData uri="http://schemas.openxmlformats.org/drawingml/2006/table">
            <a:tbl>
              <a:tblPr firstRow="0" bandRow="0">
                <a:tableStyleId>{5C22544A-7EE6-4342-B048-85BDC9FD1C3A}</a:tableStyleId>
              </a:tblPr>
              <a:tblGrid>
                <a:gridCol w="2331720"/>
                <a:gridCol w="1188720"/>
                <a:gridCol w="960120"/>
                <a:gridCol w="1554480"/>
              </a:tblGrid>
              <a:tr h="301752">
                <a:tc>
                  <a:txBody>
                    <a:bodyPr wrap="square"/>
                    <a:lstStyle/>
                    <a:p>
                      <a:pPr algn="l">
                        <a:lnSpc>
                          <a:spcPct val="106000"/>
                        </a:lnSpc>
                        <a:spcBef>
                          <a:spcPts val="0"/>
                        </a:spcBef>
                        <a:spcAft>
                          <a:spcPts val="0"/>
                        </a:spcAft>
                      </a:pPr>
                      <a:r>
                        <a:rPr sz="1050" b="1" i="0">
                          <a:solidFill>
                            <a:srgbClr val="000000"/>
                          </a:solidFill>
                          <a:latin typeface="Segoe UI"/>
                        </a:rPr>
                        <a:t>Crafted as</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gn="ctr">
                        <a:lnSpc>
                          <a:spcPct val="106000"/>
                        </a:lnSpc>
                        <a:spcBef>
                          <a:spcPts val="0"/>
                        </a:spcBef>
                        <a:spcAft>
                          <a:spcPts val="0"/>
                        </a:spcAft>
                      </a:pPr>
                      <a:r>
                        <a:rPr sz="1050" b="1" i="0">
                          <a:solidFill>
                            <a:srgbClr val="000000"/>
                          </a:solidFill>
                          <a:latin typeface="Segoe UI"/>
                        </a:rPr>
                        <a:t>CCS</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gn="ctr">
                        <a:lnSpc>
                          <a:spcPct val="106000"/>
                        </a:lnSpc>
                        <a:spcBef>
                          <a:spcPts val="0"/>
                        </a:spcBef>
                        <a:spcAft>
                          <a:spcPts val="0"/>
                        </a:spcAft>
                      </a:pPr>
                      <a:r>
                        <a:rPr sz="1050" b="1" i="0">
                          <a:solidFill>
                            <a:srgbClr val="000000"/>
                          </a:solidFill>
                          <a:latin typeface="Segoe UI"/>
                        </a:rPr>
                        <a:t>Gate</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gn="ctr">
                        <a:lnSpc>
                          <a:spcPct val="106000"/>
                        </a:lnSpc>
                        <a:spcBef>
                          <a:spcPts val="0"/>
                        </a:spcBef>
                        <a:spcAft>
                          <a:spcPts val="0"/>
                        </a:spcAft>
                      </a:pPr>
                      <a:r>
                        <a:rPr sz="1050" b="1" i="0">
                          <a:solidFill>
                            <a:srgbClr val="000000"/>
                          </a:solidFill>
                          <a:latin typeface="Segoe UI"/>
                        </a:rPr>
                        <a:t>Decision</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Honest contribution</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0.910</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0.857</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50" b="1" i="0">
                          <a:solidFill>
                            <a:srgbClr val="2C8C2C"/>
                          </a:solidFill>
                          <a:latin typeface="Segoe UI"/>
                        </a:rPr>
                        <a:t>ACCEPTED</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Label flipping</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0.629</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0.857</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50" b="1" i="0">
                          <a:solidFill>
                            <a:srgbClr val="B47300"/>
                          </a:solidFill>
                          <a:latin typeface="Segoe UI"/>
                        </a:rPr>
                        <a:t>QUARANTINED</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Gradual poisoning</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0.801</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0.857</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50" b="1" i="0">
                          <a:solidFill>
                            <a:srgbClr val="B47300"/>
                          </a:solidFill>
                          <a:latin typeface="Segoe UI"/>
                        </a:rPr>
                        <a:t>QUARANTINED</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Backdoor trigger</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0.659</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0.857</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50" b="1" i="0">
                          <a:solidFill>
                            <a:srgbClr val="B47300"/>
                          </a:solidFill>
                          <a:latin typeface="Segoe UI"/>
                        </a:rPr>
                        <a:t>QUARANTINED</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Sybil flood (8 shards)</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0.677–0.730</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0.907</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50" b="1" i="0">
                          <a:solidFill>
                            <a:srgbClr val="B47300"/>
                          </a:solidFill>
                          <a:latin typeface="Segoe UI"/>
                        </a:rPr>
                        <a:t>QUARANTINED</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Clean-label poisoning</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0.735</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0.907</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950" b="1" i="0">
                          <a:solidFill>
                            <a:srgbClr val="B47300"/>
                          </a:solidFill>
                          <a:latin typeface="Segoe UI"/>
                        </a:rPr>
                        <a:t>QUARANTINED</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bl>
          </a:graphicData>
        </a:graphic>
      </p:graphicFrame>
      <p:sp>
        <p:nvSpPr>
          <p:cNvPr id="14" name="TextBox 13"/>
          <p:cNvSpPr txBox="1"/>
          <p:nvPr/>
        </p:nvSpPr>
        <p:spPr>
          <a:xfrm>
            <a:off x="7534656" y="2304288"/>
            <a:ext cx="3657600" cy="274320"/>
          </a:xfrm>
          <a:prstGeom prst="rect">
            <a:avLst/>
          </a:prstGeom>
          <a:noFill/>
        </p:spPr>
        <p:txBody>
          <a:bodyPr wrap="square" lIns="0" rIns="0" tIns="0" bIns="0">
            <a:spAutoFit/>
          </a:bodyPr>
          <a:lstStyle/>
          <a:p>
            <a:pPr algn="l">
              <a:lnSpc>
                <a:spcPct val="118000"/>
              </a:lnSpc>
              <a:spcBef>
                <a:spcPts val="0"/>
              </a:spcBef>
              <a:spcAft>
                <a:spcPts val="0"/>
              </a:spcAft>
            </a:pPr>
            <a:r>
              <a:rPr sz="950" b="1" i="0">
                <a:solidFill>
                  <a:srgbClr val="66666B"/>
                </a:solidFill>
                <a:latin typeface="Segoe UI"/>
              </a:rPr>
              <a:t>LIVE USB HARDWARE vs. SIMULATED FLEET</a:t>
            </a:r>
          </a:p>
        </p:txBody>
      </p:sp>
      <p:graphicFrame>
        <p:nvGraphicFramePr>
          <p:cNvPr id="15" name="Table 14"/>
          <p:cNvGraphicFramePr>
            <a:graphicFrameLocks noGrp="1"/>
          </p:cNvGraphicFramePr>
          <p:nvPr/>
        </p:nvGraphicFramePr>
        <p:xfrm>
          <a:off x="7534656" y="2542032"/>
          <a:ext cx="3840479" cy="1787652"/>
        </p:xfrm>
        <a:graphic>
          <a:graphicData uri="http://schemas.openxmlformats.org/drawingml/2006/table">
            <a:tbl>
              <a:tblPr firstRow="0" bandRow="0">
                <a:tableStyleId>{5C22544A-7EE6-4342-B048-85BDC9FD1C3A}</a:tableStyleId>
              </a:tblPr>
              <a:tblGrid>
                <a:gridCol w="1874519"/>
                <a:gridCol w="960120"/>
                <a:gridCol w="1005840"/>
              </a:tblGrid>
              <a:tr h="301752">
                <a:tc>
                  <a:txBody>
                    <a:bodyPr wrap="square"/>
                    <a:lstStyle/>
                    <a:p>
                      <a:pPr algn="l">
                        <a:lnSpc>
                          <a:spcPct val="106000"/>
                        </a:lnSpc>
                        <a:spcBef>
                          <a:spcPts val="0"/>
                        </a:spcBef>
                        <a:spcAft>
                          <a:spcPts val="0"/>
                        </a:spcAft>
                      </a:pPr>
                      <a:r>
                        <a:rPr sz="1050" b="1" i="0">
                          <a:solidFill>
                            <a:srgbClr val="000000"/>
                          </a:solidFill>
                          <a:latin typeface="Segoe UI"/>
                        </a:rPr>
                        <a:t>Metric</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gn="ctr">
                        <a:lnSpc>
                          <a:spcPct val="106000"/>
                        </a:lnSpc>
                        <a:spcBef>
                          <a:spcPts val="0"/>
                        </a:spcBef>
                        <a:spcAft>
                          <a:spcPts val="0"/>
                        </a:spcAft>
                      </a:pPr>
                      <a:r>
                        <a:rPr sz="1050" b="1" i="0">
                          <a:solidFill>
                            <a:srgbClr val="000000"/>
                          </a:solidFill>
                          <a:latin typeface="Segoe UI"/>
                        </a:rPr>
                        <a:t>Live USB</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c>
                  <a:txBody>
                    <a:bodyPr wrap="square"/>
                    <a:lstStyle/>
                    <a:p>
                      <a:pPr algn="ctr">
                        <a:lnSpc>
                          <a:spcPct val="106000"/>
                        </a:lnSpc>
                        <a:spcBef>
                          <a:spcPts val="0"/>
                        </a:spcBef>
                        <a:spcAft>
                          <a:spcPts val="0"/>
                        </a:spcAft>
                      </a:pPr>
                      <a:r>
                        <a:rPr sz="1050" b="1" i="0">
                          <a:solidFill>
                            <a:srgbClr val="000000"/>
                          </a:solidFill>
                          <a:latin typeface="Segoe UI"/>
                        </a:rPr>
                        <a:t>Simulated</a:t>
                      </a:r>
                    </a:p>
                  </a:txBody>
                  <a:tcPr marL="73152" marR="73152" marT="18288" marB="18288" anchor="ctr">
                    <a:solidFill>
                      <a:srgbClr val="E8F3F9"/>
                    </a:solidFill>
                    <a:lnT w="9525" cap="flat" cmpd="sng" algn="ctr">
                      <a:solidFill>
                        <a:srgbClr val="007EBD"/>
                      </a:solidFill>
                    </a:lnT>
                    <a:lnB w="9525" cap="flat" cmpd="sng" algn="ctr">
                      <a:solidFill>
                        <a:srgbClr val="007EBD"/>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Accuracy</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0.9962</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0.9565</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Macro F1</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0.9961</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0.9564</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False-positive rate</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0.0000</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0.0488</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False-negative rate</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0.0029</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0.0307</a:t>
                      </a:r>
                    </a:p>
                  </a:txBody>
                  <a:tcPr marL="73152" marR="73152" marT="18288" marB="18288" anchor="ctr">
                    <a:solidFill>
                      <a:srgbClr val="F7FAFC"/>
                    </a:solidFill>
                    <a:lnT w="9525" cap="flat" cmpd="sng" algn="ctr">
                      <a:solidFill>
                        <a:srgbClr val="E6E6E6"/>
                      </a:solidFill>
                    </a:lnT>
                    <a:lnB w="9525" cap="flat" cmpd="sng" algn="ctr">
                      <a:solidFill>
                        <a:srgbClr val="E6E6E6"/>
                      </a:solidFill>
                    </a:lnB>
                  </a:tcPr>
                </a:tc>
              </a:tr>
              <a:tr h="297180">
                <a:tc>
                  <a:txBody>
                    <a:bodyPr wrap="square"/>
                    <a:lstStyle/>
                    <a:p>
                      <a:pPr algn="l">
                        <a:lnSpc>
                          <a:spcPct val="106000"/>
                        </a:lnSpc>
                        <a:spcBef>
                          <a:spcPts val="0"/>
                        </a:spcBef>
                        <a:spcAft>
                          <a:spcPts val="0"/>
                        </a:spcAft>
                      </a:pPr>
                      <a:r>
                        <a:rPr sz="1000" b="0" i="0">
                          <a:solidFill>
                            <a:srgbClr val="272525"/>
                          </a:solidFill>
                          <a:latin typeface="Segoe UI"/>
                        </a:rPr>
                        <a:t>Validation decisions</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13 of 13</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c>
                  <a:txBody>
                    <a:bodyPr wrap="square"/>
                    <a:lstStyle/>
                    <a:p>
                      <a:pPr algn="ctr">
                        <a:lnSpc>
                          <a:spcPct val="106000"/>
                        </a:lnSpc>
                        <a:spcBef>
                          <a:spcPts val="0"/>
                        </a:spcBef>
                        <a:spcAft>
                          <a:spcPts val="0"/>
                        </a:spcAft>
                      </a:pPr>
                      <a:r>
                        <a:rPr sz="1000" b="0" i="0">
                          <a:solidFill>
                            <a:srgbClr val="272525"/>
                          </a:solidFill>
                          <a:latin typeface="Segoe UI"/>
                        </a:rPr>
                        <a:t>13 of 13</a:t>
                      </a:r>
                    </a:p>
                  </a:txBody>
                  <a:tcPr marL="73152" marR="73152" marT="18288" marB="18288" anchor="ctr">
                    <a:solidFill>
                      <a:srgbClr val="FFFFFF"/>
                    </a:solidFill>
                    <a:lnT w="9525" cap="flat" cmpd="sng" algn="ctr">
                      <a:solidFill>
                        <a:srgbClr val="E6E6E6"/>
                      </a:solidFill>
                    </a:lnT>
                    <a:lnB w="9525" cap="flat" cmpd="sng" algn="ctr">
                      <a:solidFill>
                        <a:srgbClr val="E6E6E6"/>
                      </a:solidFill>
                    </a:lnB>
                  </a:tcPr>
                </a:tc>
              </a:tr>
            </a:tbl>
          </a:graphicData>
        </a:graphic>
      </p:graphicFrame>
      <p:sp>
        <p:nvSpPr>
          <p:cNvPr id="16" name="TextBox 15"/>
          <p:cNvSpPr txBox="1"/>
          <p:nvPr/>
        </p:nvSpPr>
        <p:spPr>
          <a:xfrm>
            <a:off x="1042416" y="4663440"/>
            <a:ext cx="10104120" cy="868680"/>
          </a:xfrm>
          <a:prstGeom prst="rect">
            <a:avLst/>
          </a:prstGeom>
          <a:noFill/>
        </p:spPr>
        <p:txBody>
          <a:bodyPr wrap="square" lIns="0" rIns="0" tIns="0" bIns="0">
            <a:spAutoFit/>
          </a:bodyPr>
          <a:lstStyle/>
          <a:p>
            <a:pPr algn="just">
              <a:lnSpc>
                <a:spcPct val="116000"/>
              </a:lnSpc>
              <a:spcBef>
                <a:spcPts val="0"/>
              </a:spcBef>
              <a:spcAft>
                <a:spcPts val="500"/>
              </a:spcAft>
            </a:pPr>
            <a:r>
              <a:rPr sz="1150" b="1" i="0">
                <a:solidFill>
                  <a:srgbClr val="007EBD"/>
                </a:solidFill>
                <a:latin typeface="Segoe UI"/>
              </a:rPr>
              <a:t>Clean-label is the decisive row.  </a:t>
            </a:r>
            <a:r>
              <a:rPr sz="1150" b="0" i="0">
                <a:solidFill>
                  <a:srgbClr val="272525"/>
                </a:solidFill>
                <a:latin typeface="Segoe UI"/>
              </a:rPr>
              <a:t>Its label mix barely moves, so every distributional check admits it; it is caught only by cross-checking its labels against the trusted model's own reading of its rows. Sybil shards face a 0.907 gate rather than 0.857 because the burst of unseen contributor identities triggers the novelty penalty.</a:t>
            </a:r>
          </a:p>
          <a:p>
            <a:pPr algn="just">
              <a:lnSpc>
                <a:spcPct val="116000"/>
              </a:lnSpc>
              <a:spcBef>
                <a:spcPts val="0"/>
              </a:spcBef>
              <a:spcAft>
                <a:spcPts val="0"/>
              </a:spcAft>
            </a:pPr>
            <a:r>
              <a:rPr sz="1150" b="1" i="0">
                <a:solidFill>
                  <a:srgbClr val="B47300"/>
                </a:solidFill>
                <a:latin typeface="Segoe UI"/>
              </a:rPr>
              <a:t>Read the live column carefully:  </a:t>
            </a:r>
            <a:r>
              <a:rPr sz="1150" b="0" i="0">
                <a:solidFill>
                  <a:srgbClr val="272525"/>
                </a:solidFill>
                <a:latin typeface="Segoe UI"/>
              </a:rPr>
              <a:t>it reflects an easier problem, not a better model — USB peripherals all sample one host, so their baselines nearly coincide and the class overlap of the mixed fleet disappears.</a:t>
            </a:r>
          </a:p>
        </p:txBody>
      </p:sp>
      <p:sp>
        <p:nvSpPr>
          <p:cNvPr id="17" name="TextBox 16"/>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8" name="TextBox 17"/>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WHERE IT LANDS</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Conclusion and Future Work</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645920"/>
            <a:ext cx="5989320" cy="1371600"/>
          </a:xfrm>
          <a:prstGeom prst="rect">
            <a:avLst/>
          </a:prstGeom>
          <a:noFill/>
        </p:spPr>
        <p:txBody>
          <a:bodyPr wrap="square" lIns="0" rIns="0" tIns="0" bIns="0">
            <a:spAutoFit/>
          </a:bodyPr>
          <a:lstStyle/>
          <a:p>
            <a:pPr algn="just">
              <a:lnSpc>
                <a:spcPct val="116000"/>
              </a:lnSpc>
              <a:spcBef>
                <a:spcPts val="0"/>
              </a:spcBef>
              <a:spcAft>
                <a:spcPts val="1000"/>
              </a:spcAft>
            </a:pPr>
            <a:r>
              <a:rPr sz="1200" b="0" i="0">
                <a:solidFill>
                  <a:srgbClr val="272525"/>
                </a:solidFill>
                <a:latin typeface="Segoe UI"/>
              </a:rPr>
              <a:t>Existing defences judge an incoming contribution by how closely it resembles the others — a question about the present and the past, which an attacker answers by staying close to the crowd. This framework asks instead what accepting the update would cost the system's ability to detect tomorrow's attack.</a:t>
            </a:r>
          </a:p>
        </p:txBody>
      </p:sp>
      <p:sp>
        <p:nvSpPr>
          <p:cNvPr id="8" name="TextBox 7"/>
          <p:cNvSpPr txBox="1"/>
          <p:nvPr/>
        </p:nvSpPr>
        <p:spPr>
          <a:xfrm>
            <a:off x="1042416" y="2798064"/>
            <a:ext cx="5989320" cy="2377440"/>
          </a:xfrm>
          <a:prstGeom prst="rect">
            <a:avLst/>
          </a:prstGeom>
          <a:noFill/>
        </p:spPr>
        <p:txBody>
          <a:bodyPr wrap="square" lIns="0" rIns="0" tIns="0" bIns="0">
            <a:spAutoFit/>
          </a:bodyPr>
          <a:lstStyle/>
          <a:p>
            <a:pPr algn="l">
              <a:lnSpc>
                <a:spcPct val="118000"/>
              </a:lnSpc>
              <a:spcBef>
                <a:spcPts val="0"/>
              </a:spcBef>
              <a:spcAft>
                <a:spcPts val="700"/>
              </a:spcAft>
            </a:pPr>
            <a:r>
              <a:rPr sz="950" b="1" i="0">
                <a:solidFill>
                  <a:srgbClr val="66666B"/>
                </a:solidFill>
                <a:latin typeface="Segoe UI"/>
              </a:rPr>
              <a:t>CONTRIBUTIONS</a:t>
            </a:r>
          </a:p>
          <a:p>
            <a:pPr marL="274320" indent="-274320">
              <a:lnSpc>
                <a:spcPct val="116000"/>
              </a:lnSpc>
              <a:spcBef>
                <a:spcPts val="0"/>
              </a:spcBef>
              <a:spcAft>
                <a:spcPts val="600"/>
              </a:spcAft>
            </a:pPr>
            <a:r>
              <a:rPr sz="682" b="1" i="0">
                <a:solidFill>
                  <a:srgbClr val="007EBD"/>
                </a:solidFill>
                <a:latin typeface="Segoe UI"/>
              </a:rPr>
              <a:t>●  </a:t>
            </a:r>
            <a:r>
              <a:rPr sz="1100" b="0" i="0">
                <a:solidFill>
                  <a:srgbClr val="272525"/>
                </a:solidFill>
                <a:latin typeface="Segoe UI"/>
              </a:rPr>
              <a:t>A validation mechanism that judges an update by its effect on futures committed before the update existed.</a:t>
            </a:r>
          </a:p>
          <a:p>
            <a:pPr marL="274320" indent="-274320">
              <a:lnSpc>
                <a:spcPct val="116000"/>
              </a:lnSpc>
              <a:spcBef>
                <a:spcPts val="0"/>
              </a:spcBef>
              <a:spcAft>
                <a:spcPts val="600"/>
              </a:spcAft>
            </a:pPr>
            <a:r>
              <a:rPr sz="682" b="1" i="0">
                <a:solidFill>
                  <a:srgbClr val="007EBD"/>
                </a:solidFill>
                <a:latin typeface="Segoe UI"/>
              </a:rPr>
              <a:t>●  </a:t>
            </a:r>
            <a:r>
              <a:rPr sz="1100" b="0" i="0">
                <a:solidFill>
                  <a:srgbClr val="272525"/>
                </a:solidFill>
                <a:latin typeface="Segoe UI"/>
              </a:rPr>
              <a:t>A six-component Consistency Score in which each term closes a hole the others leave open.</a:t>
            </a:r>
          </a:p>
          <a:p>
            <a:pPr marL="274320" indent="-274320">
              <a:lnSpc>
                <a:spcPct val="116000"/>
              </a:lnSpc>
              <a:spcBef>
                <a:spcPts val="0"/>
              </a:spcBef>
              <a:spcAft>
                <a:spcPts val="600"/>
              </a:spcAft>
            </a:pPr>
            <a:r>
              <a:rPr sz="682" b="1" i="0">
                <a:solidFill>
                  <a:srgbClr val="007EBD"/>
                </a:solidFill>
                <a:latin typeface="Segoe UI"/>
              </a:rPr>
              <a:t>●  </a:t>
            </a:r>
            <a:r>
              <a:rPr sz="1100" b="0" i="0">
                <a:solidFill>
                  <a:srgbClr val="272525"/>
                </a:solidFill>
                <a:latin typeface="Segoe UI"/>
              </a:rPr>
              <a:t>Run-time threshold calibration that adapts the gate to the deployed fleet rather than to a fixed constant.</a:t>
            </a:r>
          </a:p>
          <a:p>
            <a:pPr marL="274320" indent="-274320">
              <a:lnSpc>
                <a:spcPct val="116000"/>
              </a:lnSpc>
              <a:spcBef>
                <a:spcPts val="0"/>
              </a:spcBef>
              <a:spcAft>
                <a:spcPts val="600"/>
              </a:spcAft>
            </a:pPr>
            <a:r>
              <a:rPr sz="682" b="1" i="0">
                <a:solidFill>
                  <a:srgbClr val="007EBD"/>
                </a:solidFill>
                <a:latin typeface="Segoe UI"/>
              </a:rPr>
              <a:t>●  </a:t>
            </a:r>
            <a:r>
              <a:rPr sz="1100" b="0" i="0">
                <a:solidFill>
                  <a:srgbClr val="272525"/>
                </a:solidFill>
                <a:latin typeface="Segoe UI"/>
              </a:rPr>
              <a:t>A predictive immunization engine that inoculates the edge model against poisoning it has not yet met.</a:t>
            </a:r>
          </a:p>
          <a:p>
            <a:pPr marL="274320" indent="-274320">
              <a:lnSpc>
                <a:spcPct val="116000"/>
              </a:lnSpc>
              <a:spcBef>
                <a:spcPts val="0"/>
              </a:spcBef>
              <a:spcAft>
                <a:spcPts val="600"/>
              </a:spcAft>
            </a:pPr>
            <a:r>
              <a:rPr sz="682" b="1" i="0">
                <a:solidFill>
                  <a:srgbClr val="007EBD"/>
                </a:solidFill>
                <a:latin typeface="Segoe UI"/>
              </a:rPr>
              <a:t>●  </a:t>
            </a:r>
            <a:r>
              <a:rPr sz="1100" b="0" i="0">
                <a:solidFill>
                  <a:srgbClr val="272525"/>
                </a:solidFill>
                <a:latin typeface="Segoe UI"/>
              </a:rPr>
              <a:t>An operator console in which every stage is a deliberate, inspectable action with declared prerequisites.</a:t>
            </a:r>
          </a:p>
        </p:txBody>
      </p:sp>
      <p:sp>
        <p:nvSpPr>
          <p:cNvPr id="9" name="TextBox 8"/>
          <p:cNvSpPr txBox="1"/>
          <p:nvPr/>
        </p:nvSpPr>
        <p:spPr>
          <a:xfrm>
            <a:off x="7397496" y="1645920"/>
            <a:ext cx="3794760" cy="274320"/>
          </a:xfrm>
          <a:prstGeom prst="rect">
            <a:avLst/>
          </a:prstGeom>
          <a:noFill/>
        </p:spPr>
        <p:txBody>
          <a:bodyPr wrap="square" lIns="0" rIns="0" tIns="0" bIns="0">
            <a:spAutoFit/>
          </a:bodyPr>
          <a:lstStyle/>
          <a:p>
            <a:pPr algn="l">
              <a:lnSpc>
                <a:spcPct val="118000"/>
              </a:lnSpc>
              <a:spcBef>
                <a:spcPts val="0"/>
              </a:spcBef>
              <a:spcAft>
                <a:spcPts val="0"/>
              </a:spcAft>
            </a:pPr>
            <a:r>
              <a:rPr sz="950" b="1" i="0">
                <a:solidFill>
                  <a:srgbClr val="66666B"/>
                </a:solidFill>
                <a:latin typeface="Segoe UI"/>
              </a:rPr>
              <a:t>FUTURE WORK</a:t>
            </a:r>
          </a:p>
        </p:txBody>
      </p:sp>
      <p:sp>
        <p:nvSpPr>
          <p:cNvPr id="10" name="TextBox 9"/>
          <p:cNvSpPr txBox="1"/>
          <p:nvPr/>
        </p:nvSpPr>
        <p:spPr>
          <a:xfrm>
            <a:off x="7397496" y="1920240"/>
            <a:ext cx="3794760" cy="2194560"/>
          </a:xfrm>
          <a:prstGeom prst="rect">
            <a:avLst/>
          </a:prstGeom>
          <a:noFill/>
        </p:spPr>
        <p:txBody>
          <a:bodyPr wrap="square" lIns="0" rIns="0" tIns="0" bIns="0">
            <a:spAutoFit/>
          </a:bodyPr>
          <a:lstStyle/>
          <a:p>
            <a:pPr marL="274320" indent="-274320">
              <a:lnSpc>
                <a:spcPct val="116000"/>
              </a:lnSpc>
              <a:spcBef>
                <a:spcPts val="0"/>
              </a:spcBef>
              <a:spcAft>
                <a:spcPts val="800"/>
              </a:spcAft>
            </a:pPr>
            <a:r>
              <a:rPr sz="713" b="1" i="0">
                <a:solidFill>
                  <a:srgbClr val="007EBD"/>
                </a:solidFill>
                <a:latin typeface="Segoe UI"/>
              </a:rPr>
              <a:t>●  </a:t>
            </a:r>
            <a:r>
              <a:rPr sz="1150" b="0" i="0">
                <a:solidFill>
                  <a:srgbClr val="272525"/>
                </a:solidFill>
                <a:latin typeface="Segoe UI"/>
              </a:rPr>
              <a:t>Deployment against genuine networked IoT hardware with its own address, removing the host-attribution assumption.</a:t>
            </a:r>
          </a:p>
          <a:p>
            <a:pPr marL="274320" indent="-274320">
              <a:lnSpc>
                <a:spcPct val="116000"/>
              </a:lnSpc>
              <a:spcBef>
                <a:spcPts val="0"/>
              </a:spcBef>
              <a:spcAft>
                <a:spcPts val="800"/>
              </a:spcAft>
            </a:pPr>
            <a:r>
              <a:rPr sz="713" b="1" i="0">
                <a:solidFill>
                  <a:srgbClr val="007EBD"/>
                </a:solidFill>
                <a:latin typeface="Segoe UI"/>
              </a:rPr>
              <a:t>●  </a:t>
            </a:r>
            <a:r>
              <a:rPr sz="1150" b="0" i="0">
                <a:solidFill>
                  <a:srgbClr val="272525"/>
                </a:solidFill>
                <a:latin typeface="Segoe UI"/>
              </a:rPr>
              <a:t>Extension of the poisoning taxonomy, and an adaptive adversary that knows the Consistency Score itself.</a:t>
            </a:r>
          </a:p>
          <a:p>
            <a:pPr marL="274320" indent="-274320">
              <a:lnSpc>
                <a:spcPct val="116000"/>
              </a:lnSpc>
              <a:spcBef>
                <a:spcPts val="0"/>
              </a:spcBef>
              <a:spcAft>
                <a:spcPts val="800"/>
              </a:spcAft>
            </a:pPr>
            <a:r>
              <a:rPr sz="713" b="1" i="0">
                <a:solidFill>
                  <a:srgbClr val="007EBD"/>
                </a:solidFill>
                <a:latin typeface="Segoe UI"/>
              </a:rPr>
              <a:t>●  </a:t>
            </a:r>
            <a:r>
              <a:rPr sz="1150" b="0" i="0">
                <a:solidFill>
                  <a:srgbClr val="272525"/>
                </a:solidFill>
                <a:latin typeface="Segoe UI"/>
              </a:rPr>
              <a:t>A learned strategy attributor in place of the rule-based one.</a:t>
            </a:r>
          </a:p>
          <a:p>
            <a:pPr marL="274320" indent="-274320">
              <a:lnSpc>
                <a:spcPct val="116000"/>
              </a:lnSpc>
              <a:spcBef>
                <a:spcPts val="0"/>
              </a:spcBef>
              <a:spcAft>
                <a:spcPts val="800"/>
              </a:spcAft>
            </a:pPr>
            <a:r>
              <a:rPr sz="713" b="1" i="0">
                <a:solidFill>
                  <a:srgbClr val="007EBD"/>
                </a:solidFill>
                <a:latin typeface="Segoe UI"/>
              </a:rPr>
              <a:t>●  </a:t>
            </a:r>
            <a:r>
              <a:rPr sz="1150" b="0" i="0">
                <a:solidFill>
                  <a:srgbClr val="272525"/>
                </a:solidFill>
                <a:latin typeface="Segoe UI"/>
              </a:rPr>
              <a:t>Evaluation across cooperating gateways, sharing the counterfactual bank without sharing telemetry.</a:t>
            </a:r>
          </a:p>
        </p:txBody>
      </p:sp>
      <p:sp>
        <p:nvSpPr>
          <p:cNvPr id="11" name="Rounded Rectangle 10"/>
          <p:cNvSpPr/>
          <p:nvPr/>
        </p:nvSpPr>
        <p:spPr>
          <a:xfrm>
            <a:off x="7397496" y="4315968"/>
            <a:ext cx="3794760" cy="1188720"/>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200" b="1" i="0">
                <a:solidFill>
                  <a:srgbClr val="007EBD"/>
                </a:solidFill>
                <a:latin typeface="Georgia"/>
              </a:rPr>
              <a:t>Independent of its data source</a:t>
            </a:r>
          </a:p>
          <a:p>
            <a:pPr algn="l">
              <a:lnSpc>
                <a:spcPct val="112000"/>
              </a:lnSpc>
              <a:spcAft>
                <a:spcPts val="0"/>
              </a:spcAft>
            </a:pPr>
            <a:r>
              <a:rPr sz="1050" b="0" i="0">
                <a:solidFill>
                  <a:srgbClr val="272525"/>
                </a:solidFill>
                <a:latin typeface="Segoe UI"/>
              </a:rPr>
              <a:t>Real USB peripherals were enrolled through the identical twelve stages, with the provenance of all sixteen features declared and the two unobtainable ones reported missing rather than fabricated.</a:t>
            </a:r>
          </a:p>
        </p:txBody>
      </p:sp>
      <p:sp>
        <p:nvSpPr>
          <p:cNvPr id="12" name="TextBox 11"/>
          <p:cNvSpPr txBox="1"/>
          <p:nvPr/>
        </p:nvSpPr>
        <p:spPr>
          <a:xfrm>
            <a:off x="1042416" y="5358383"/>
            <a:ext cx="5989320" cy="640080"/>
          </a:xfrm>
          <a:prstGeom prst="rect">
            <a:avLst/>
          </a:prstGeom>
          <a:noFill/>
        </p:spPr>
        <p:txBody>
          <a:bodyPr wrap="square" lIns="0" rIns="0" tIns="0" bIns="0">
            <a:spAutoFit/>
          </a:bodyPr>
          <a:lstStyle/>
          <a:p>
            <a:pPr algn="just">
              <a:lnSpc>
                <a:spcPct val="116000"/>
              </a:lnSpc>
              <a:spcBef>
                <a:spcPts val="0"/>
              </a:spcBef>
              <a:spcAft>
                <a:spcPts val="0"/>
              </a:spcAft>
            </a:pPr>
            <a:r>
              <a:rPr sz="1150" b="0" i="1">
                <a:solidFill>
                  <a:srgbClr val="000000"/>
                </a:solidFill>
                <a:latin typeface="Segoe UI"/>
              </a:rPr>
              <a:t>The framework establishes that counterfactual consequence is a usable and discriminating basis for deciding whether to accept a model update at the edge — and that the decision can be taken on hardware a household already owns.</a:t>
            </a:r>
          </a:p>
        </p:txBody>
      </p:sp>
      <p:sp>
        <p:nvSpPr>
          <p:cNvPr id="13" name="TextBox 12"/>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4" name="TextBox 13"/>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REVIEW-3 DELIVERABLE</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Outcome Achieved</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42416" y="1645920"/>
            <a:ext cx="10104120" cy="1060704"/>
          </a:xfrm>
          <a:prstGeom prst="roundRect">
            <a:avLst>
              <a:gd name="adj" fmla="val 8000"/>
            </a:avLst>
          </a:prstGeom>
          <a:solidFill>
            <a:srgbClr val="EFF8EF"/>
          </a:solidFill>
          <a:ln w="9525">
            <a:solidFill>
              <a:srgbClr val="2C8C2C"/>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lnSpc>
                <a:spcPct val="105000"/>
              </a:lnSpc>
              <a:spcAft>
                <a:spcPts val="200"/>
              </a:spcAft>
            </a:pPr>
            <a:r>
              <a:rPr sz="2200" b="1" i="0">
                <a:solidFill>
                  <a:srgbClr val="2C8C2C"/>
                </a:solidFill>
                <a:latin typeface="Georgia"/>
              </a:rPr>
              <a:t>PATENT</a:t>
            </a:r>
          </a:p>
          <a:p>
            <a:pPr algn="ctr">
              <a:lnSpc>
                <a:spcPct val="112000"/>
              </a:lnSpc>
              <a:spcAft>
                <a:spcPts val="0"/>
              </a:spcAft>
            </a:pPr>
            <a:r>
              <a:rPr sz="1250" b="0" i="0">
                <a:solidFill>
                  <a:srgbClr val="272525"/>
                </a:solidFill>
                <a:latin typeface="Segoe UI"/>
              </a:rPr>
              <a:t>Indian Patent Application — “System and Method for Counterfactual-Driven Adaptive Security Control and Verified Model Updating in Edge-Deployed Digital Twins for Consumer Internet of Things Networks”</a:t>
            </a:r>
          </a:p>
        </p:txBody>
      </p:sp>
      <p:sp>
        <p:nvSpPr>
          <p:cNvPr id="8" name="Rounded Rectangle 7"/>
          <p:cNvSpPr/>
          <p:nvPr/>
        </p:nvSpPr>
        <p:spPr>
          <a:xfrm>
            <a:off x="1042416" y="2926080"/>
            <a:ext cx="2382012" cy="1152144"/>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lnSpc>
                <a:spcPct val="105000"/>
              </a:lnSpc>
              <a:spcAft>
                <a:spcPts val="200"/>
              </a:spcAft>
            </a:pPr>
            <a:r>
              <a:rPr sz="1300" b="1" i="0">
                <a:solidFill>
                  <a:srgbClr val="007EBD"/>
                </a:solidFill>
                <a:latin typeface="Georgia"/>
              </a:rPr>
              <a:t>Application</a:t>
            </a:r>
          </a:p>
          <a:p>
            <a:pPr algn="ctr">
              <a:lnSpc>
                <a:spcPct val="112000"/>
              </a:lnSpc>
              <a:spcAft>
                <a:spcPts val="0"/>
              </a:spcAft>
            </a:pPr>
            <a:r>
              <a:rPr sz="1100" b="0" i="0">
                <a:solidFill>
                  <a:srgbClr val="272525"/>
                </a:solidFill>
                <a:latin typeface="Segoe UI"/>
              </a:rPr>
              <a:t>Indian Patent Application
filed at the Indian Patent Office</a:t>
            </a:r>
          </a:p>
        </p:txBody>
      </p:sp>
      <p:sp>
        <p:nvSpPr>
          <p:cNvPr id="9" name="Rounded Rectangle 8"/>
          <p:cNvSpPr/>
          <p:nvPr/>
        </p:nvSpPr>
        <p:spPr>
          <a:xfrm>
            <a:off x="3616452" y="2926080"/>
            <a:ext cx="2382012" cy="1152144"/>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lnSpc>
                <a:spcPct val="105000"/>
              </a:lnSpc>
              <a:spcAft>
                <a:spcPts val="200"/>
              </a:spcAft>
            </a:pPr>
            <a:r>
              <a:rPr sz="1300" b="1" i="0">
                <a:solidFill>
                  <a:srgbClr val="007EBD"/>
                </a:solidFill>
                <a:latin typeface="Georgia"/>
              </a:rPr>
              <a:t>Status</a:t>
            </a:r>
          </a:p>
          <a:p>
            <a:pPr algn="ctr">
              <a:lnSpc>
                <a:spcPct val="112000"/>
              </a:lnSpc>
              <a:spcAft>
                <a:spcPts val="0"/>
              </a:spcAft>
            </a:pPr>
            <a:r>
              <a:rPr sz="1100" b="0" i="0">
                <a:solidFill>
                  <a:srgbClr val="272525"/>
                </a:solidFill>
                <a:latin typeface="Segoe UI"/>
              </a:rPr>
              <a:t>FILED
awaiting publication</a:t>
            </a:r>
          </a:p>
        </p:txBody>
      </p:sp>
      <p:sp>
        <p:nvSpPr>
          <p:cNvPr id="10" name="Rounded Rectangle 9"/>
          <p:cNvSpPr/>
          <p:nvPr/>
        </p:nvSpPr>
        <p:spPr>
          <a:xfrm>
            <a:off x="6190488" y="2926080"/>
            <a:ext cx="2382012" cy="1152144"/>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lnSpc>
                <a:spcPct val="105000"/>
              </a:lnSpc>
              <a:spcAft>
                <a:spcPts val="200"/>
              </a:spcAft>
            </a:pPr>
            <a:r>
              <a:rPr sz="1300" b="1" i="0">
                <a:solidFill>
                  <a:srgbClr val="007EBD"/>
                </a:solidFill>
                <a:latin typeface="Georgia"/>
              </a:rPr>
              <a:t>Inventors</a:t>
            </a:r>
          </a:p>
          <a:p>
            <a:pPr algn="ctr">
              <a:lnSpc>
                <a:spcPct val="112000"/>
              </a:lnSpc>
              <a:spcAft>
                <a:spcPts val="0"/>
              </a:spcAft>
            </a:pPr>
            <a:r>
              <a:rPr sz="1100" b="0" i="0">
                <a:solidFill>
                  <a:srgbClr val="272525"/>
                </a:solidFill>
                <a:latin typeface="Segoe UI"/>
              </a:rPr>
              <a:t>Three student inventors
with the project guide</a:t>
            </a:r>
          </a:p>
        </p:txBody>
      </p:sp>
      <p:sp>
        <p:nvSpPr>
          <p:cNvPr id="11" name="Rounded Rectangle 10"/>
          <p:cNvSpPr/>
          <p:nvPr/>
        </p:nvSpPr>
        <p:spPr>
          <a:xfrm>
            <a:off x="8764524" y="2926080"/>
            <a:ext cx="2382012" cy="1152144"/>
          </a:xfrm>
          <a:prstGeom prst="roundRect">
            <a:avLst>
              <a:gd name="adj" fmla="val 8000"/>
            </a:avLst>
          </a:prstGeom>
          <a:solidFill>
            <a:srgbClr val="E8F3F9"/>
          </a:solidFill>
          <a:ln w="952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lnSpc>
                <a:spcPct val="105000"/>
              </a:lnSpc>
              <a:spcAft>
                <a:spcPts val="200"/>
              </a:spcAft>
            </a:pPr>
            <a:r>
              <a:rPr sz="1300" b="1" i="0">
                <a:solidFill>
                  <a:srgbClr val="007EBD"/>
                </a:solidFill>
                <a:latin typeface="Georgia"/>
              </a:rPr>
              <a:t>Artefact</a:t>
            </a:r>
          </a:p>
          <a:p>
            <a:pPr algn="ctr">
              <a:lnSpc>
                <a:spcPct val="112000"/>
              </a:lnSpc>
              <a:spcAft>
                <a:spcPts val="0"/>
              </a:spcAft>
            </a:pPr>
            <a:r>
              <a:rPr sz="1100" b="0" i="0">
                <a:solidFill>
                  <a:srgbClr val="272525"/>
                </a:solidFill>
                <a:latin typeface="Segoe UI"/>
              </a:rPr>
              <a:t>Complete specification,
claims and Fig. 1</a:t>
            </a:r>
          </a:p>
        </p:txBody>
      </p:sp>
      <p:sp>
        <p:nvSpPr>
          <p:cNvPr id="12" name="TextBox 11"/>
          <p:cNvSpPr txBox="1"/>
          <p:nvPr/>
        </p:nvSpPr>
        <p:spPr>
          <a:xfrm>
            <a:off x="1042416" y="4334256"/>
            <a:ext cx="6309360" cy="1371600"/>
          </a:xfrm>
          <a:prstGeom prst="rect">
            <a:avLst/>
          </a:prstGeom>
          <a:noFill/>
        </p:spPr>
        <p:txBody>
          <a:bodyPr wrap="square" lIns="0" rIns="0" tIns="0" bIns="0">
            <a:spAutoFit/>
          </a:bodyPr>
          <a:lstStyle/>
          <a:p>
            <a:pPr algn="l">
              <a:lnSpc>
                <a:spcPct val="118000"/>
              </a:lnSpc>
              <a:spcBef>
                <a:spcPts val="0"/>
              </a:spcBef>
              <a:spcAft>
                <a:spcPts val="700"/>
              </a:spcAft>
            </a:pPr>
            <a:r>
              <a:rPr sz="950" b="1" i="0">
                <a:solidFill>
                  <a:srgbClr val="66666B"/>
                </a:solidFill>
                <a:latin typeface="Segoe UI"/>
              </a:rPr>
              <a:t>WHY THE PATENT ROUTE</a:t>
            </a:r>
          </a:p>
          <a:p>
            <a:pPr marL="274320" indent="-274320">
              <a:lnSpc>
                <a:spcPct val="116000"/>
              </a:lnSpc>
              <a:spcBef>
                <a:spcPts val="0"/>
              </a:spcBef>
              <a:spcAft>
                <a:spcPts val="700"/>
              </a:spcAft>
            </a:pPr>
            <a:r>
              <a:rPr sz="713" b="1" i="0">
                <a:solidFill>
                  <a:srgbClr val="007EBD"/>
                </a:solidFill>
                <a:latin typeface="Segoe UI"/>
              </a:rPr>
              <a:t>●  </a:t>
            </a:r>
            <a:r>
              <a:rPr sz="1150" b="0" i="0">
                <a:solidFill>
                  <a:srgbClr val="272525"/>
                </a:solidFill>
                <a:latin typeface="Segoe UI"/>
              </a:rPr>
              <a:t>The contribution is a method, not a measurement — a decision mechanism that can be claimed.</a:t>
            </a:r>
          </a:p>
          <a:p>
            <a:pPr marL="274320" indent="-274320">
              <a:lnSpc>
                <a:spcPct val="116000"/>
              </a:lnSpc>
              <a:spcBef>
                <a:spcPts val="0"/>
              </a:spcBef>
              <a:spcAft>
                <a:spcPts val="700"/>
              </a:spcAft>
            </a:pPr>
            <a:r>
              <a:rPr sz="713" b="1" i="0">
                <a:solidFill>
                  <a:srgbClr val="007EBD"/>
                </a:solidFill>
                <a:latin typeface="Segoe UI"/>
              </a:rPr>
              <a:t>●  </a:t>
            </a:r>
            <a:r>
              <a:rPr sz="1150" b="0" i="0">
                <a:solidFill>
                  <a:srgbClr val="272525"/>
                </a:solidFill>
                <a:latin typeface="Segoe UI"/>
              </a:rPr>
              <a:t>The committed-futures invariant is implementable on any edge gateway, independent of the model family.</a:t>
            </a:r>
          </a:p>
          <a:p>
            <a:pPr marL="274320" indent="-274320">
              <a:lnSpc>
                <a:spcPct val="116000"/>
              </a:lnSpc>
              <a:spcBef>
                <a:spcPts val="0"/>
              </a:spcBef>
              <a:spcAft>
                <a:spcPts val="700"/>
              </a:spcAft>
            </a:pPr>
            <a:r>
              <a:rPr sz="713" b="1" i="0">
                <a:solidFill>
                  <a:srgbClr val="007EBD"/>
                </a:solidFill>
                <a:latin typeface="Segoe UI"/>
              </a:rPr>
              <a:t>●  </a:t>
            </a:r>
            <a:r>
              <a:rPr sz="1150" b="0" i="0">
                <a:solidFill>
                  <a:srgbClr val="272525"/>
                </a:solidFill>
                <a:latin typeface="Segoe UI"/>
              </a:rPr>
              <a:t>A filed application secures priority on the mechanism while Phase II benchmarking continues.</a:t>
            </a:r>
          </a:p>
        </p:txBody>
      </p:sp>
      <p:sp>
        <p:nvSpPr>
          <p:cNvPr id="13" name="Rounded Rectangle 12"/>
          <p:cNvSpPr/>
          <p:nvPr/>
        </p:nvSpPr>
        <p:spPr>
          <a:xfrm>
            <a:off x="7671816" y="4334256"/>
            <a:ext cx="3493008" cy="1298448"/>
          </a:xfrm>
          <a:prstGeom prst="roundRect">
            <a:avLst>
              <a:gd name="adj" fmla="val 8000"/>
            </a:avLst>
          </a:prstGeom>
          <a:solidFill>
            <a:srgbClr val="FBF7E8"/>
          </a:solidFill>
          <a:ln w="9525">
            <a:solidFill>
              <a:srgbClr val="B47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l">
              <a:lnSpc>
                <a:spcPct val="105000"/>
              </a:lnSpc>
              <a:spcAft>
                <a:spcPts val="200"/>
              </a:spcAft>
            </a:pPr>
            <a:r>
              <a:rPr sz="1200" b="1" i="0">
                <a:solidFill>
                  <a:srgbClr val="B47300"/>
                </a:solidFill>
                <a:latin typeface="Georgia"/>
              </a:rPr>
              <a:t>Proof of outcome — to upload</a:t>
            </a:r>
          </a:p>
          <a:p>
            <a:pPr algn="l">
              <a:lnSpc>
                <a:spcPct val="112000"/>
              </a:lnSpc>
              <a:spcAft>
                <a:spcPts val="0"/>
              </a:spcAft>
            </a:pPr>
            <a:r>
              <a:rPr sz="1050" b="0" i="0">
                <a:solidFill>
                  <a:srgbClr val="272525"/>
                </a:solidFill>
                <a:latin typeface="Segoe UI"/>
              </a:rPr>
              <a:t>Patent filing receipt / acknowledgement screenshot to be uploaded on or before 27 Oct 2026 at the link circulated with the Review-3 template.</a:t>
            </a:r>
          </a:p>
        </p:txBody>
      </p:sp>
      <p:sp>
        <p:nvSpPr>
          <p:cNvPr id="14" name="TextBox 13"/>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5" name="TextBox 14"/>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75488" y="384048"/>
            <a:ext cx="11237976" cy="5760720"/>
          </a:xfrm>
          <a:prstGeom prst="roundRect">
            <a:avLst>
              <a:gd name="adj" fmla="val 2200"/>
            </a:avLst>
          </a:prstGeom>
          <a:solidFill>
            <a:srgbClr val="FFFFFF">
              <a:alpha val="86000"/>
            </a:srgbClr>
          </a:solidFill>
          <a:ln w="1270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42416" y="53035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1050" b="1" i="0">
                <a:solidFill>
                  <a:srgbClr val="007EBD"/>
                </a:solidFill>
                <a:latin typeface="Segoe UI"/>
              </a:rPr>
              <a:t>IEEE FORMAT</a:t>
            </a:r>
          </a:p>
        </p:txBody>
      </p:sp>
      <p:sp>
        <p:nvSpPr>
          <p:cNvPr id="5" name="TextBox 4"/>
          <p:cNvSpPr txBox="1"/>
          <p:nvPr/>
        </p:nvSpPr>
        <p:spPr>
          <a:xfrm>
            <a:off x="1042416" y="804672"/>
            <a:ext cx="10104120" cy="566928"/>
          </a:xfrm>
          <a:prstGeom prst="rect">
            <a:avLst/>
          </a:prstGeom>
          <a:noFill/>
        </p:spPr>
        <p:txBody>
          <a:bodyPr wrap="square" lIns="0" rIns="0" tIns="0" bIns="0">
            <a:spAutoFit/>
          </a:bodyPr>
          <a:lstStyle/>
          <a:p>
            <a:pPr algn="l">
              <a:lnSpc>
                <a:spcPct val="100000"/>
              </a:lnSpc>
              <a:spcBef>
                <a:spcPts val="0"/>
              </a:spcBef>
              <a:spcAft>
                <a:spcPts val="0"/>
              </a:spcAft>
            </a:pPr>
            <a:r>
              <a:rPr sz="3100" b="1" i="0">
                <a:solidFill>
                  <a:srgbClr val="000000"/>
                </a:solidFill>
                <a:latin typeface="Georgia"/>
              </a:rPr>
              <a:t>References</a:t>
            </a:r>
          </a:p>
        </p:txBody>
      </p:sp>
      <p:sp>
        <p:nvSpPr>
          <p:cNvPr id="6" name="Rectangle 5"/>
          <p:cNvSpPr/>
          <p:nvPr/>
        </p:nvSpPr>
        <p:spPr>
          <a:xfrm>
            <a:off x="1042416" y="1353312"/>
            <a:ext cx="1051560" cy="33020"/>
          </a:xfrm>
          <a:prstGeom prst="rect">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1645920"/>
            <a:ext cx="4937760" cy="3840480"/>
          </a:xfrm>
          <a:prstGeom prst="rect">
            <a:avLst/>
          </a:prstGeom>
          <a:noFill/>
        </p:spPr>
        <p:txBody>
          <a:bodyPr wrap="square" lIns="0" rIns="0" tIns="0" bIns="0">
            <a:spAutoFit/>
          </a:bodyPr>
          <a:lstStyle/>
          <a:p>
            <a:pPr algn="just" marL="310896" indent="-310896">
              <a:lnSpc>
                <a:spcPct val="115000"/>
              </a:lnSpc>
              <a:spcBef>
                <a:spcPts val="0"/>
              </a:spcBef>
              <a:spcAft>
                <a:spcPts val="1100"/>
              </a:spcAft>
            </a:pPr>
            <a:r>
              <a:rPr sz="1150" b="1" i="0">
                <a:solidFill>
                  <a:srgbClr val="007EBD"/>
                </a:solidFill>
                <a:latin typeface="Segoe UI"/>
              </a:rPr>
              <a:t>[1]  </a:t>
            </a:r>
            <a:r>
              <a:rPr sz="1150" b="0" i="0">
                <a:solidFill>
                  <a:srgbClr val="272525"/>
                </a:solidFill>
                <a:latin typeface="Segoe UI"/>
              </a:rPr>
              <a:t>C. Alcaraz and J. Lopez, “Digital twin: A comprehensive survey of security threats,” IEEE Commun. Surveys Tuts., vol. 24, no. 3, pp. 1475–1503, 2022.</a:t>
            </a:r>
          </a:p>
          <a:p>
            <a:pPr algn="just" marL="310896" indent="-310896">
              <a:lnSpc>
                <a:spcPct val="115000"/>
              </a:lnSpc>
              <a:spcBef>
                <a:spcPts val="0"/>
              </a:spcBef>
              <a:spcAft>
                <a:spcPts val="1100"/>
              </a:spcAft>
            </a:pPr>
            <a:r>
              <a:rPr sz="1150" b="1" i="0">
                <a:solidFill>
                  <a:srgbClr val="007EBD"/>
                </a:solidFill>
                <a:latin typeface="Segoe UI"/>
              </a:rPr>
              <a:t>[2]  </a:t>
            </a:r>
            <a:r>
              <a:rPr sz="1150" b="0" i="0">
                <a:solidFill>
                  <a:srgbClr val="272525"/>
                </a:solidFill>
                <a:latin typeface="Segoe UI"/>
              </a:rPr>
              <a:t>Z. Tian, L. Cui, J. Liang, and S. Yu, “A comprehensive survey on poisoning attacks and countermeasures in machine learning,” ACM Comput. Surv., vol. 55, no. 8, pp. 1–35, 2022.</a:t>
            </a:r>
          </a:p>
          <a:p>
            <a:pPr algn="just" marL="310896" indent="-310896">
              <a:lnSpc>
                <a:spcPct val="115000"/>
              </a:lnSpc>
              <a:spcBef>
                <a:spcPts val="0"/>
              </a:spcBef>
              <a:spcAft>
                <a:spcPts val="1100"/>
              </a:spcAft>
            </a:pPr>
            <a:r>
              <a:rPr sz="1150" b="1" i="0">
                <a:solidFill>
                  <a:srgbClr val="007EBD"/>
                </a:solidFill>
                <a:latin typeface="Segoe UI"/>
              </a:rPr>
              <a:t>[3]  </a:t>
            </a:r>
            <a:r>
              <a:rPr sz="1150" b="0" i="0">
                <a:solidFill>
                  <a:srgbClr val="272525"/>
                </a:solidFill>
                <a:latin typeface="Segoe UI"/>
              </a:rPr>
              <a:t>R. Yang, H. He, Y. Wang, Y. Qu, and W. Zhang, “Dependable federated learning for IoT intrusion detection against poisoning attacks,” Computers &amp; Security, vol. 132, art. 103381, 2023.</a:t>
            </a:r>
          </a:p>
          <a:p>
            <a:pPr algn="just" marL="310896" indent="-310896">
              <a:lnSpc>
                <a:spcPct val="115000"/>
              </a:lnSpc>
              <a:spcBef>
                <a:spcPts val="0"/>
              </a:spcBef>
              <a:spcAft>
                <a:spcPts val="1100"/>
              </a:spcAft>
            </a:pPr>
            <a:r>
              <a:rPr sz="1150" b="1" i="0">
                <a:solidFill>
                  <a:srgbClr val="007EBD"/>
                </a:solidFill>
                <a:latin typeface="Segoe UI"/>
              </a:rPr>
              <a:t>[4]  </a:t>
            </a:r>
            <a:r>
              <a:rPr sz="1150" b="0" i="0">
                <a:solidFill>
                  <a:srgbClr val="272525"/>
                </a:solidFill>
                <a:latin typeface="Segoe UI"/>
              </a:rPr>
              <a:t>T. D. Nguyen et al., “DÏoT: A federated self-learning anomaly detection system for IoT,” in Proc. IEEE ICDCS, Dallas, TX, USA, 2019, pp. 756–767.</a:t>
            </a:r>
          </a:p>
          <a:p>
            <a:pPr algn="just" marL="310896" indent="-310896">
              <a:lnSpc>
                <a:spcPct val="115000"/>
              </a:lnSpc>
              <a:spcBef>
                <a:spcPts val="0"/>
              </a:spcBef>
              <a:spcAft>
                <a:spcPts val="1100"/>
              </a:spcAft>
            </a:pPr>
            <a:r>
              <a:rPr sz="1150" b="1" i="0">
                <a:solidFill>
                  <a:srgbClr val="007EBD"/>
                </a:solidFill>
                <a:latin typeface="Segoe UI"/>
              </a:rPr>
              <a:t>[5]  </a:t>
            </a:r>
            <a:r>
              <a:rPr sz="1150" b="0" i="0">
                <a:solidFill>
                  <a:srgbClr val="272525"/>
                </a:solidFill>
                <a:latin typeface="Segoe UI"/>
              </a:rPr>
              <a:t>D. Sulem et al., “Diverse counterfactual explanations for anomaly detection in time series,” arXiv:2203.11103, 2022.</a:t>
            </a:r>
          </a:p>
        </p:txBody>
      </p:sp>
      <p:sp>
        <p:nvSpPr>
          <p:cNvPr id="8" name="TextBox 7"/>
          <p:cNvSpPr txBox="1"/>
          <p:nvPr/>
        </p:nvSpPr>
        <p:spPr>
          <a:xfrm>
            <a:off x="6254496" y="1645920"/>
            <a:ext cx="4937760" cy="3840480"/>
          </a:xfrm>
          <a:prstGeom prst="rect">
            <a:avLst/>
          </a:prstGeom>
          <a:noFill/>
        </p:spPr>
        <p:txBody>
          <a:bodyPr wrap="square" lIns="0" rIns="0" tIns="0" bIns="0">
            <a:spAutoFit/>
          </a:bodyPr>
          <a:lstStyle/>
          <a:p>
            <a:pPr algn="just" marL="310896" indent="-310896">
              <a:lnSpc>
                <a:spcPct val="115000"/>
              </a:lnSpc>
              <a:spcBef>
                <a:spcPts val="0"/>
              </a:spcBef>
              <a:spcAft>
                <a:spcPts val="1100"/>
              </a:spcAft>
            </a:pPr>
            <a:r>
              <a:rPr sz="1150" b="1" i="0">
                <a:solidFill>
                  <a:srgbClr val="007EBD"/>
                </a:solidFill>
                <a:latin typeface="Segoe UI"/>
              </a:rPr>
              <a:t>[6]  </a:t>
            </a:r>
            <a:r>
              <a:rPr sz="1150" b="0" i="0">
                <a:solidFill>
                  <a:srgbClr val="272525"/>
                </a:solidFill>
                <a:latin typeface="Segoe UI"/>
              </a:rPr>
              <a:t>A. Shafahi et al., “Poison frogs! Targeted clean-label poisoning attacks on neural networks,” in Adv. Neural Inf. Process. Syst. (NeurIPS), 2018.</a:t>
            </a:r>
          </a:p>
          <a:p>
            <a:pPr algn="just" marL="310896" indent="-310896">
              <a:lnSpc>
                <a:spcPct val="115000"/>
              </a:lnSpc>
              <a:spcBef>
                <a:spcPts val="0"/>
              </a:spcBef>
              <a:spcAft>
                <a:spcPts val="1100"/>
              </a:spcAft>
            </a:pPr>
            <a:r>
              <a:rPr sz="1150" b="1" i="0">
                <a:solidFill>
                  <a:srgbClr val="007EBD"/>
                </a:solidFill>
                <a:latin typeface="Segoe UI"/>
              </a:rPr>
              <a:t>[7]  </a:t>
            </a:r>
            <a:r>
              <a:rPr sz="1150" b="0" i="0">
                <a:solidFill>
                  <a:srgbClr val="272525"/>
                </a:solidFill>
                <a:latin typeface="Segoe UI"/>
              </a:rPr>
              <a:t>E. Bagdasaryan, A. Veit, Y. Hua, D. Estrin, and V. Shmatikov, “How to backdoor federated learning,” in Proc. AISTATS, 2020, pp. 2938–2948.</a:t>
            </a:r>
          </a:p>
          <a:p>
            <a:pPr algn="just" marL="310896" indent="-310896">
              <a:lnSpc>
                <a:spcPct val="115000"/>
              </a:lnSpc>
              <a:spcBef>
                <a:spcPts val="0"/>
              </a:spcBef>
              <a:spcAft>
                <a:spcPts val="1100"/>
              </a:spcAft>
            </a:pPr>
            <a:r>
              <a:rPr sz="1150" b="1" i="0">
                <a:solidFill>
                  <a:srgbClr val="007EBD"/>
                </a:solidFill>
                <a:latin typeface="Segoe UI"/>
              </a:rPr>
              <a:t>[8]  </a:t>
            </a:r>
            <a:r>
              <a:rPr sz="1150" b="0" i="0">
                <a:solidFill>
                  <a:srgbClr val="272525"/>
                </a:solidFill>
                <a:latin typeface="Segoe UI"/>
              </a:rPr>
              <a:t>V. Tolpegin, S. Truex, M. E. Gursoy, and L. Liu, “Data poisoning attacks against federated learning systems,” in Proc. ESORICS, 2020, pp. 480–501.</a:t>
            </a:r>
          </a:p>
          <a:p>
            <a:pPr algn="just" marL="310896" indent="-310896">
              <a:lnSpc>
                <a:spcPct val="115000"/>
              </a:lnSpc>
              <a:spcBef>
                <a:spcPts val="0"/>
              </a:spcBef>
              <a:spcAft>
                <a:spcPts val="1100"/>
              </a:spcAft>
            </a:pPr>
            <a:r>
              <a:rPr sz="1150" b="1" i="0">
                <a:solidFill>
                  <a:srgbClr val="007EBD"/>
                </a:solidFill>
                <a:latin typeface="Segoe UI"/>
              </a:rPr>
              <a:t>[9]  </a:t>
            </a:r>
            <a:r>
              <a:rPr sz="1150" b="0" i="0">
                <a:solidFill>
                  <a:srgbClr val="272525"/>
                </a:solidFill>
                <a:latin typeface="Segoe UI"/>
              </a:rPr>
              <a:t>C. Fung, C. J. M. Yoon, and I. Beschastnikh, “The limitations of federated learning in Sybil settings,” in Proc. RAID, 2020, pp. 301–316.</a:t>
            </a:r>
          </a:p>
          <a:p>
            <a:pPr algn="just" marL="310896" indent="-310896">
              <a:lnSpc>
                <a:spcPct val="115000"/>
              </a:lnSpc>
              <a:spcBef>
                <a:spcPts val="0"/>
              </a:spcBef>
              <a:spcAft>
                <a:spcPts val="1100"/>
              </a:spcAft>
            </a:pPr>
            <a:r>
              <a:rPr sz="1150" b="1" i="0">
                <a:solidFill>
                  <a:srgbClr val="007EBD"/>
                </a:solidFill>
                <a:latin typeface="Segoe UI"/>
              </a:rPr>
              <a:t>[10]  </a:t>
            </a:r>
            <a:r>
              <a:rPr sz="1150" b="0" i="0">
                <a:solidFill>
                  <a:srgbClr val="272525"/>
                </a:solidFill>
                <a:latin typeface="Segoe UI"/>
              </a:rPr>
              <a:t>M. Antonakakis et al., “Understanding the Mirai botnet,” in Proc. 26th USENIX Security Symp., 2017, pp. 1093–1110.</a:t>
            </a:r>
          </a:p>
        </p:txBody>
      </p:sp>
      <p:sp>
        <p:nvSpPr>
          <p:cNvPr id="9" name="TextBox 8"/>
          <p:cNvSpPr txBox="1"/>
          <p:nvPr/>
        </p:nvSpPr>
        <p:spPr>
          <a:xfrm>
            <a:off x="1042416" y="6382512"/>
            <a:ext cx="10104120" cy="237744"/>
          </a:xfrm>
          <a:prstGeom prst="rect">
            <a:avLst/>
          </a:prstGeom>
          <a:noFill/>
        </p:spPr>
        <p:txBody>
          <a:bodyPr wrap="square" lIns="0" rIns="0" tIns="0" bIns="0">
            <a:spAutoFit/>
          </a:bodyPr>
          <a:lstStyle/>
          <a:p>
            <a:pPr algn="l">
              <a:lnSpc>
                <a:spcPct val="118000"/>
              </a:lnSpc>
              <a:spcBef>
                <a:spcPts val="0"/>
              </a:spcBef>
              <a:spcAft>
                <a:spcPts val="0"/>
              </a:spcAft>
            </a:pPr>
            <a:r>
              <a:rPr sz="950" b="0" i="0">
                <a:solidFill>
                  <a:srgbClr val="66666B"/>
                </a:solidFill>
                <a:latin typeface="Segoe UI"/>
              </a:rPr>
              <a:t>28/10/26          SCOPE</a:t>
            </a:r>
          </a:p>
        </p:txBody>
      </p:sp>
      <p:sp>
        <p:nvSpPr>
          <p:cNvPr id="10" name="TextBox 9"/>
          <p:cNvSpPr txBox="1"/>
          <p:nvPr/>
        </p:nvSpPr>
        <p:spPr>
          <a:xfrm>
            <a:off x="475488" y="6382512"/>
            <a:ext cx="10671048" cy="237744"/>
          </a:xfrm>
          <a:prstGeom prst="rect">
            <a:avLst/>
          </a:prstGeom>
          <a:noFill/>
        </p:spPr>
        <p:txBody>
          <a:bodyPr wrap="square" lIns="0" rIns="0" tIns="0" bIns="0">
            <a:spAutoFit/>
          </a:bodyPr>
          <a:lstStyle/>
          <a:p>
            <a:pPr algn="r">
              <a:lnSpc>
                <a:spcPct val="118000"/>
              </a:lnSpc>
              <a:spcBef>
                <a:spcPts val="0"/>
              </a:spcBef>
              <a:spcAft>
                <a:spcPts val="0"/>
              </a:spcAft>
            </a:pPr>
            <a:r>
              <a:rPr sz="950" b="1" i="0">
                <a:solidFill>
                  <a:srgbClr val="66666B"/>
                </a:solidFill>
                <a:latin typeface="Segoe U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and Method for Counterfactual-Driven Adaptive Security Control and Verified Model Updating in Edge-Deployed Digital Twins for Consumer Internet of Things Networks</dc:title>
  <dc:subject>BCSE497J Project-I — Review-3</dc:subject>
  <dc:creator>T V Sai Susanth</dc:creator>
  <cp:keywords/>
  <dc:description/>
  <cp:lastModifiedBy>T V Sai Susanth</cp:lastModifiedBy>
  <cp:revision>1</cp:revision>
  <dcterms:created xsi:type="dcterms:W3CDTF">2013-01-27T09:14:16Z</dcterms:created>
  <dcterms:modified xsi:type="dcterms:W3CDTF">2013-01-27T09:15:58Z</dcterms:modified>
  <cp:category/>
</cp:coreProperties>
</file>